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tags/tag8.xml" ContentType="application/vnd.openxmlformats-officedocument.presentationml.tag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14.xml" ContentType="application/vnd.openxmlformats-officedocument.presentationml.tags+xml"/>
  <Override PartName="/ppt/tags/tag25.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tags/tag7.xml" ContentType="application/vnd.openxmlformats-officedocument.presentationml.tags+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tags/tag19.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slideLayouts/slideLayout10.xml" ContentType="application/vnd.openxmlformats-officedocument.presentationml.slideLayout+xml"/>
  <Override PartName="/ppt/tags/tag15.xml" ContentType="application/vnd.openxmlformats-officedocument.presentationml.tags+xml"/>
  <Override PartName="/ppt/tags/tag24.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slides/slide8.xml" ContentType="application/vnd.openxmlformats-officedocument.presentationml.slide+xml"/>
  <Override PartName="/ppt/slides/slide49.xml" ContentType="application/vnd.openxmlformats-officedocument.presentationml.slide+xml"/>
  <Override PartName="/ppt/tags/tag11.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52"/>
  </p:notesMasterIdLst>
  <p:sldIdLst>
    <p:sldId id="12914" r:id="rId2"/>
    <p:sldId id="257" r:id="rId3"/>
    <p:sldId id="12875" r:id="rId4"/>
    <p:sldId id="258" r:id="rId5"/>
    <p:sldId id="12882" r:id="rId6"/>
    <p:sldId id="368" r:id="rId7"/>
    <p:sldId id="1834" r:id="rId8"/>
    <p:sldId id="12883" r:id="rId9"/>
    <p:sldId id="12884" r:id="rId10"/>
    <p:sldId id="12885" r:id="rId11"/>
    <p:sldId id="12886" r:id="rId12"/>
    <p:sldId id="12887" r:id="rId13"/>
    <p:sldId id="12881" r:id="rId14"/>
    <p:sldId id="12922" r:id="rId15"/>
    <p:sldId id="12923" r:id="rId16"/>
    <p:sldId id="12924" r:id="rId17"/>
    <p:sldId id="12925" r:id="rId18"/>
    <p:sldId id="12888" r:id="rId19"/>
    <p:sldId id="12889" r:id="rId20"/>
    <p:sldId id="12890" r:id="rId21"/>
    <p:sldId id="12891" r:id="rId22"/>
    <p:sldId id="12892" r:id="rId23"/>
    <p:sldId id="12915" r:id="rId24"/>
    <p:sldId id="12916" r:id="rId25"/>
    <p:sldId id="12917" r:id="rId26"/>
    <p:sldId id="12893" r:id="rId27"/>
    <p:sldId id="12906" r:id="rId28"/>
    <p:sldId id="12907" r:id="rId29"/>
    <p:sldId id="12894" r:id="rId30"/>
    <p:sldId id="12895" r:id="rId31"/>
    <p:sldId id="12896" r:id="rId32"/>
    <p:sldId id="12919" r:id="rId33"/>
    <p:sldId id="12920" r:id="rId34"/>
    <p:sldId id="12921" r:id="rId35"/>
    <p:sldId id="12897" r:id="rId36"/>
    <p:sldId id="12898" r:id="rId37"/>
    <p:sldId id="12900" r:id="rId38"/>
    <p:sldId id="12902" r:id="rId39"/>
    <p:sldId id="12903" r:id="rId40"/>
    <p:sldId id="12904" r:id="rId41"/>
    <p:sldId id="12905" r:id="rId42"/>
    <p:sldId id="12918" r:id="rId43"/>
    <p:sldId id="12908" r:id="rId44"/>
    <p:sldId id="1852" r:id="rId45"/>
    <p:sldId id="12874" r:id="rId46"/>
    <p:sldId id="12909" r:id="rId47"/>
    <p:sldId id="12910" r:id="rId48"/>
    <p:sldId id="12911" r:id="rId49"/>
    <p:sldId id="12912" r:id="rId50"/>
    <p:sldId id="12913" r:id="rId51"/>
  </p:sldIdLst>
  <p:sldSz cx="12192000" cy="6858000"/>
  <p:notesSz cx="6858000" cy="9144000"/>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CF37"/>
    <a:srgbClr val="EAB200"/>
    <a:srgbClr val="FFD347"/>
    <a:srgbClr val="FFD44B"/>
    <a:srgbClr val="970021"/>
    <a:srgbClr val="F2B800"/>
    <a:srgbClr val="FF819C"/>
    <a:srgbClr val="FFABCB"/>
    <a:srgbClr val="FFC099"/>
    <a:srgbClr val="FF7E9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p:scale>
          <a:sx n="80" d="100"/>
          <a:sy n="80" d="100"/>
        </p:scale>
        <p:origin x="-782" y="-230"/>
      </p:cViewPr>
      <p:guideLst>
        <p:guide orient="horz" pos="2160"/>
        <p:guide pos="384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C1E318-9547-4FDA-B72C-38C0674068CA}" type="datetimeFigureOut">
              <a:rPr lang="zh-CN" altLang="en-US" smtClean="0"/>
              <a:pPr/>
              <a:t>2025/4/12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70B866-2B85-44F6-9734-B497E9EBE8D5}" type="slidenum">
              <a:rPr lang="zh-CN" altLang="en-US" smtClean="0"/>
              <a:pPr/>
              <a:t>‹#›</a:t>
            </a:fld>
            <a:endParaRPr lang="zh-CN" altLang="en-US"/>
          </a:p>
        </p:txBody>
      </p:sp>
    </p:spTree>
    <p:extLst>
      <p:ext uri="{BB962C8B-B14F-4D97-AF65-F5344CB8AC3E}">
        <p14:creationId xmlns:p14="http://schemas.microsoft.com/office/powerpoint/2010/main" xmlns="" val="2334330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e49f880e-a299-42d3-bd42-27455dd6a881.source.default.zh-Hans</a:t>
            </a:r>
            <a:endParaRPr lang="zh-CN" altLang="en-US"/>
          </a:p>
        </p:txBody>
      </p:sp>
      <p:sp>
        <p:nvSpPr>
          <p:cNvPr id="4" name="灯片编号占位符 3"/>
          <p:cNvSpPr>
            <a:spLocks noGrp="1"/>
          </p:cNvSpPr>
          <p:nvPr>
            <p:ph type="sldNum" sz="quarter" idx="10"/>
          </p:nvPr>
        </p:nvSpPr>
        <p:spPr/>
        <p:txBody>
          <a:bodyPr/>
          <a:lstStyle/>
          <a:p>
            <a:fld id="{FD1E3519-AA41-4C8F-81B1-98F81BDCD14B}" type="slidenum">
              <a:rPr lang="zh-CN" altLang="en-US" smtClean="0"/>
              <a:pPr/>
              <a:t>45</a:t>
            </a:fld>
            <a:endParaRPr lang="zh-CN" altLang="en-US"/>
          </a:p>
        </p:txBody>
      </p:sp>
    </p:spTree>
    <p:extLst>
      <p:ext uri="{BB962C8B-B14F-4D97-AF65-F5344CB8AC3E}">
        <p14:creationId xmlns:p14="http://schemas.microsoft.com/office/powerpoint/2010/main" xmlns="" val="3917261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BBF6F23-A2C3-40CA-BC0C-C44179446C10}" type="datetimeFigureOut">
              <a:rPr lang="en-US" altLang="en-US" sz="1100" smtClean="0"/>
              <a:pPr/>
              <a:t>4/12/2025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7E1D739-274F-4C58-AE77-B046379D196D}" type="slidenum">
              <a:rPr lang="en-US"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BF6F23-A2C3-40CA-BC0C-C44179446C10}" type="datetimeFigureOut">
              <a:rPr lang="en-US" altLang="en-US" sz="1100" smtClean="0"/>
              <a:pPr/>
              <a:t>4/12/2025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7E1D739-274F-4C58-AE77-B046379D196D}" type="slidenum">
              <a:rPr lang="en-US"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BBF6F23-A2C3-40CA-BC0C-C44179446C10}" type="datetimeFigureOut">
              <a:rPr lang="en-US" altLang="en-US" sz="1100" smtClean="0"/>
              <a:pPr/>
              <a:t>4/12/2025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7E1D739-274F-4C58-AE77-B046379D196D}" type="slidenum">
              <a:rPr lang="en-US"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12800" y="1600205"/>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8229600" y="1600205"/>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BBF6F23-A2C3-40CA-BC0C-C44179446C10}" type="datetimeFigureOut">
              <a:rPr lang="en-US" altLang="en-US" sz="1100" smtClean="0"/>
              <a:pPr/>
              <a:t>4/12/2025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7E1D739-274F-4C58-AE77-B046379D196D}" type="slidenum">
              <a:rPr lang="en-US"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BBF6F23-A2C3-40CA-BC0C-C44179446C10}" type="datetimeFigureOut">
              <a:rPr lang="en-US" altLang="en-US" sz="1100" smtClean="0"/>
              <a:pPr/>
              <a:t>4/12/2025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7E1D739-274F-4C58-AE77-B046379D196D}" type="slidenum">
              <a:rPr lang="en-US"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BBF6F23-A2C3-40CA-BC0C-C44179446C10}" type="datetimeFigureOut">
              <a:rPr lang="en-US" altLang="en-US" sz="1100" smtClean="0"/>
              <a:pPr/>
              <a:t>4/12/2025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7E1D739-274F-4C58-AE77-B046379D196D}" type="slidenum">
              <a:rPr lang="en-US"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BF6F23-A2C3-40CA-BC0C-C44179446C10}" type="datetimeFigureOut">
              <a:rPr lang="en-US" altLang="en-US" sz="1100" smtClean="0"/>
              <a:pPr/>
              <a:t>4/12/2025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7E1D739-274F-4C58-AE77-B046379D196D}" type="slidenum">
              <a:rPr lang="en-US"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BF6F23-A2C3-40CA-BC0C-C44179446C10}" type="datetimeFigureOut">
              <a:rPr lang="en-US" altLang="en-US" sz="1100" smtClean="0"/>
              <a:pPr/>
              <a:t>4/12/2025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7E1D739-274F-4C58-AE77-B046379D196D}" type="slidenum">
              <a:rPr lang="en-US"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BF6F23-A2C3-40CA-BC0C-C44179446C10}" type="datetimeFigureOut">
              <a:rPr lang="en-US" altLang="en-US" sz="1100" smtClean="0"/>
              <a:pPr/>
              <a:t>4/12/2025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7E1D739-274F-4C58-AE77-B046379D196D}" type="slidenum">
              <a:rPr lang="en-US"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BF6F23-A2C3-40CA-BC0C-C44179446C10}" type="datetimeFigureOut">
              <a:rPr lang="en-US" altLang="en-US" sz="1100" smtClean="0"/>
              <a:pPr/>
              <a:t>4/12/2025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7E1D739-274F-4C58-AE77-B046379D196D}" type="slidenum">
              <a:rPr lang="en-US"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3"/>
            <a:ext cx="36576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12800" y="274643"/>
            <a:ext cx="107696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BF6F23-A2C3-40CA-BC0C-C44179446C10}" type="datetimeFigureOut">
              <a:rPr lang="en-US" altLang="en-US" sz="1100" smtClean="0"/>
              <a:pPr/>
              <a:t>4/12/2025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7E1D739-274F-4C58-AE77-B046379D196D}" type="slidenum">
              <a:rPr lang="en-US"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3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814806644"/>
      </p:ext>
    </p:extLst>
  </p:cSld>
  <p:clrMapOvr>
    <a:masterClrMapping/>
  </p:clrMapOvr>
  <mc:AlternateContent xmlns:mc="http://schemas.openxmlformats.org/markup-compatibility/2006">
    <mc:Choice xmlns:p14="http://schemas.microsoft.com/office/powerpoint/2010/main" xmlns="" Requires="p14">
      <p:transition p14:dur="250" advClick="0" advTm="3000">
        <p:fade/>
      </p:transition>
    </mc:Choice>
    <mc:Fallback>
      <p:transition advClick="0"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BF6F23-A2C3-40CA-BC0C-C44179446C10}" type="datetimeFigureOut">
              <a:rPr lang="en-US" altLang="en-US" sz="1100" smtClean="0"/>
              <a:pPr/>
              <a:t>4/12/2025</a:t>
            </a:fld>
            <a:endParaRPr lang="zh-CN" altLang="en-US"/>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E1D739-274F-4C58-AE77-B046379D196D}" type="slidenum">
              <a:rPr lang="en-US"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5.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6.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7.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6.xml"/><Relationship Id="rId1" Type="http://schemas.openxmlformats.org/officeDocument/2006/relationships/tags" Target="../tags/tag18.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6.xml"/><Relationship Id="rId1" Type="http://schemas.openxmlformats.org/officeDocument/2006/relationships/tags" Target="../tags/tag19.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0.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21.xml"/></Relationships>
</file>

<file path=ppt/slides/_rels/slide4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slideLayout" Target="../slideLayouts/slideLayout6.xml"/><Relationship Id="rId1" Type="http://schemas.openxmlformats.org/officeDocument/2006/relationships/tags" Target="../tags/tag2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3.xml"/></Relationships>
</file>

<file path=ppt/slides/_rels/slide4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slideLayout" Target="../slideLayouts/slideLayout6.xml"/><Relationship Id="rId1" Type="http://schemas.openxmlformats.org/officeDocument/2006/relationships/tags" Target="../tags/tag24.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247650" y="525780"/>
            <a:ext cx="4005582" cy="2946400"/>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800" b="1" spc="200" dirty="0" smtClean="0">
                <a:ln w="29210">
                  <a:solidFill>
                    <a:schemeClr val="accent3">
                      <a:tint val="10000"/>
                    </a:schemeClr>
                  </a:solidFill>
                </a:ln>
                <a:solidFill>
                  <a:schemeClr val="accent3">
                    <a:satMod val="200000"/>
                    <a:alpha val="50000"/>
                  </a:schemeClr>
                </a:solidFill>
                <a:effectLst>
                  <a:innerShdw blurRad="50800" dist="50800" dir="8100000">
                    <a:srgbClr val="7D7D7D">
                      <a:alpha val="73000"/>
                    </a:srgbClr>
                  </a:innerShdw>
                </a:effectLst>
                <a:latin typeface="Source Han Sans SC"/>
                <a:ea typeface="Source Han Sans SC"/>
                <a:cs typeface="+mn-ea"/>
                <a:sym typeface="+mn-lt"/>
              </a:rPr>
              <a:t>ONLINE </a:t>
            </a:r>
          </a:p>
          <a:p>
            <a:pPr algn="dist"/>
            <a:r>
              <a:rPr lang="en-US" altLang="en-US" sz="4800" b="1" spc="200" dirty="0" smtClean="0">
                <a:ln w="29210">
                  <a:solidFill>
                    <a:schemeClr val="accent3">
                      <a:tint val="10000"/>
                    </a:schemeClr>
                  </a:solidFill>
                </a:ln>
                <a:solidFill>
                  <a:schemeClr val="accent3">
                    <a:satMod val="200000"/>
                    <a:alpha val="50000"/>
                  </a:schemeClr>
                </a:solidFill>
                <a:effectLst>
                  <a:innerShdw blurRad="50800" dist="50800" dir="8100000">
                    <a:srgbClr val="7D7D7D">
                      <a:alpha val="73000"/>
                    </a:srgbClr>
                  </a:innerShdw>
                </a:effectLst>
                <a:latin typeface="Source Han Sans SC"/>
                <a:ea typeface="Source Han Sans SC"/>
                <a:cs typeface="+mn-ea"/>
                <a:sym typeface="+mn-lt"/>
              </a:rPr>
              <a:t>FURNITURE </a:t>
            </a:r>
          </a:p>
          <a:p>
            <a:pPr algn="dist"/>
            <a:r>
              <a:rPr lang="en-US" altLang="en-US" sz="4800" b="1" spc="200" dirty="0" smtClean="0">
                <a:ln w="29210">
                  <a:solidFill>
                    <a:schemeClr val="accent3">
                      <a:tint val="10000"/>
                    </a:schemeClr>
                  </a:solidFill>
                </a:ln>
                <a:solidFill>
                  <a:schemeClr val="accent3">
                    <a:satMod val="200000"/>
                    <a:alpha val="50000"/>
                  </a:schemeClr>
                </a:solidFill>
                <a:effectLst>
                  <a:innerShdw blurRad="50800" dist="50800" dir="8100000">
                    <a:srgbClr val="7D7D7D">
                      <a:alpha val="73000"/>
                    </a:srgbClr>
                  </a:innerShdw>
                </a:effectLst>
                <a:latin typeface="Source Han Sans SC"/>
                <a:ea typeface="Source Han Sans SC"/>
                <a:cs typeface="+mn-ea"/>
                <a:sym typeface="+mn-lt"/>
              </a:rPr>
              <a:t>ORDERING </a:t>
            </a:r>
          </a:p>
          <a:p>
            <a:pPr algn="dist"/>
            <a:r>
              <a:rPr lang="en-US" altLang="en-US" sz="4800" b="1" spc="200" dirty="0" smtClean="0">
                <a:ln w="29210">
                  <a:solidFill>
                    <a:schemeClr val="accent3">
                      <a:tint val="10000"/>
                    </a:schemeClr>
                  </a:solidFill>
                </a:ln>
                <a:solidFill>
                  <a:schemeClr val="accent3">
                    <a:satMod val="200000"/>
                    <a:alpha val="50000"/>
                  </a:schemeClr>
                </a:solidFill>
                <a:effectLst>
                  <a:innerShdw blurRad="50800" dist="50800" dir="8100000">
                    <a:srgbClr val="7D7D7D">
                      <a:alpha val="73000"/>
                    </a:srgbClr>
                  </a:innerShdw>
                </a:effectLst>
                <a:latin typeface="Source Han Sans SC"/>
                <a:ea typeface="Source Han Sans SC"/>
                <a:cs typeface="+mn-ea"/>
                <a:sym typeface="+mn-lt"/>
              </a:rPr>
              <a:t>SYSTEM</a:t>
            </a:r>
          </a:p>
        </p:txBody>
      </p:sp>
      <p:pic>
        <p:nvPicPr>
          <p:cNvPr id="79" name="Picture 78" descr="FURNI.jpg"/>
          <p:cNvPicPr>
            <a:picLocks noChangeAspect="1"/>
          </p:cNvPicPr>
          <p:nvPr/>
        </p:nvPicPr>
        <p:blipFill>
          <a:blip r:embed="rId2" cstate="print"/>
          <a:srcRect l="3214"/>
          <a:stretch>
            <a:fillRect/>
          </a:stretch>
        </p:blipFill>
        <p:spPr>
          <a:xfrm>
            <a:off x="4972050" y="800101"/>
            <a:ext cx="6819900" cy="469992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5" name="文本框 22">
            <a:extLst>
              <a:ext uri="{FF2B5EF4-FFF2-40B4-BE49-F238E27FC236}">
                <a16:creationId xmlns:a16="http://schemas.microsoft.com/office/drawing/2014/main" xmlns="" id="{E86F0383-C7F0-F798-E26B-599162D6A3C0}"/>
              </a:ext>
            </a:extLst>
          </p:cNvPr>
          <p:cNvSpPr txBox="1"/>
          <p:nvPr/>
        </p:nvSpPr>
        <p:spPr>
          <a:xfrm>
            <a:off x="2076450" y="5911850"/>
            <a:ext cx="8515350" cy="717550"/>
          </a:xfrm>
          <a:prstGeom prst="rect">
            <a:avLst/>
          </a:prstGeom>
        </p:spPr>
        <p:style>
          <a:lnRef idx="0">
            <a:schemeClr val="accent2"/>
          </a:lnRef>
          <a:fillRef idx="3">
            <a:schemeClr val="accent2"/>
          </a:fillRef>
          <a:effectRef idx="3">
            <a:schemeClr val="accent2"/>
          </a:effectRef>
          <a:fontRef idx="minor">
            <a:schemeClr val="lt1"/>
          </a:fontRef>
        </p:style>
        <p:txBody>
          <a:bodyPr wrap="none" rtlCol="0">
            <a:noAutofit/>
          </a:bodyPr>
          <a:lstStyle/>
          <a:p>
            <a:pPr algn="ctr"/>
            <a:r>
              <a:rPr lang="en-US" altLang="zh-CN" sz="2800" b="1" u="sng" dirty="0" smtClean="0">
                <a:solidFill>
                  <a:schemeClr val="bg1">
                    <a:lumMod val="95000"/>
                  </a:schemeClr>
                </a:solidFill>
                <a:latin typeface="Source Han Sans SC"/>
                <a:ea typeface="SimSun" pitchFamily="2" charset="-122"/>
                <a:cs typeface="+mn-ea"/>
                <a:sym typeface="+mn-lt"/>
              </a:rPr>
              <a:t>Developed By : JANI CHIRAG AND DEV PARMAR</a:t>
            </a:r>
            <a:endParaRPr lang="en-US" altLang="en-US" sz="2800" b="1" u="sng" dirty="0" smtClean="0">
              <a:solidFill>
                <a:schemeClr val="bg1">
                  <a:lumMod val="95000"/>
                </a:schemeClr>
              </a:solidFill>
              <a:effectLst>
                <a:reflection blurRad="6350" stA="50000" endA="300" endPos="50000" dist="60007" dir="5400000" sy="-100000" algn="bl" rotWithShape="0"/>
              </a:effectLst>
              <a:latin typeface="Source Han Sans SC"/>
              <a:ea typeface="SimSun" pitchFamily="2" charset="-122"/>
              <a:cs typeface="+mn-ea"/>
              <a:sym typeface="+mn-lt"/>
            </a:endParaRPr>
          </a:p>
        </p:txBody>
      </p:sp>
    </p:spTree>
    <p:extLst>
      <p:ext uri="{BB962C8B-B14F-4D97-AF65-F5344CB8AC3E}">
        <p14:creationId xmlns:p14="http://schemas.microsoft.com/office/powerpoint/2010/main" xmlns="" val="141298903"/>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xmlns="" id="{164E76B4-1B7D-D607-61FF-259ED67FC7CF}"/>
              </a:ext>
            </a:extLst>
          </p:cNvPr>
          <p:cNvSpPr txBox="1"/>
          <p:nvPr/>
        </p:nvSpPr>
        <p:spPr>
          <a:xfrm>
            <a:off x="2008505" y="676275"/>
            <a:ext cx="7945120" cy="1026387"/>
          </a:xfrm>
          <a:prstGeom prst="rect">
            <a:avLst/>
          </a:prstGeom>
          <a:noFill/>
        </p:spPr>
        <p:txBody>
          <a:bodyPr wrap="none" rtlCol="0">
            <a:normAutofit/>
          </a:bodyPr>
          <a:lstStyle/>
          <a:p>
            <a:pPr algn="ctr"/>
            <a:r>
              <a:rPr lang="en-US" altLang="zh-CN" sz="5400" b="1" u="sng" spc="200" dirty="0" smtClean="0">
                <a:ln w="29210">
                  <a:solidFill>
                    <a:schemeClr val="accent3">
                      <a:tint val="10000"/>
                    </a:schemeClr>
                  </a:solidFill>
                </a:ln>
                <a:solidFill>
                  <a:schemeClr val="accent3">
                    <a:satMod val="200000"/>
                    <a:alpha val="50000"/>
                  </a:schemeClr>
                </a:solidFill>
                <a:effectLst>
                  <a:innerShdw blurRad="50800" dist="50800" dir="8100000">
                    <a:srgbClr val="7D7D7D">
                      <a:alpha val="73000"/>
                    </a:srgbClr>
                  </a:innerShdw>
                </a:effectLst>
                <a:latin typeface="Source Han Sans SC"/>
                <a:ea typeface="字魂143号-正酷超级黑" pitchFamily="2" charset="-122"/>
              </a:rPr>
              <a:t>TABLE </a:t>
            </a:r>
            <a:r>
              <a:rPr lang="en-US" altLang="zh-CN" sz="5400" b="1" u="sng" spc="200" dirty="0">
                <a:ln w="29210">
                  <a:solidFill>
                    <a:schemeClr val="accent3">
                      <a:tint val="10000"/>
                    </a:schemeClr>
                  </a:solidFill>
                </a:ln>
                <a:solidFill>
                  <a:schemeClr val="accent3">
                    <a:satMod val="200000"/>
                    <a:alpha val="50000"/>
                  </a:schemeClr>
                </a:solidFill>
                <a:effectLst>
                  <a:innerShdw blurRad="50800" dist="50800" dir="8100000">
                    <a:srgbClr val="7D7D7D">
                      <a:alpha val="73000"/>
                    </a:srgbClr>
                  </a:innerShdw>
                </a:effectLst>
                <a:latin typeface="Source Han Sans SC"/>
                <a:ea typeface="字魂143号-正酷超级黑" pitchFamily="2" charset="-122"/>
              </a:rPr>
              <a:t>OF CONTENT</a:t>
            </a:r>
            <a:endParaRPr lang="zh-CN" altLang="en-US" sz="5400" b="1" u="sng" spc="200" dirty="0">
              <a:ln w="29210">
                <a:solidFill>
                  <a:schemeClr val="accent3">
                    <a:tint val="10000"/>
                  </a:schemeClr>
                </a:solidFill>
              </a:ln>
              <a:solidFill>
                <a:schemeClr val="accent3">
                  <a:satMod val="200000"/>
                  <a:alpha val="50000"/>
                </a:schemeClr>
              </a:solidFill>
              <a:effectLst>
                <a:innerShdw blurRad="50800" dist="50800" dir="8100000">
                  <a:srgbClr val="7D7D7D">
                    <a:alpha val="73000"/>
                  </a:srgbClr>
                </a:innerShdw>
              </a:effectLst>
              <a:latin typeface="字魂143号-正酷超级黑" pitchFamily="2" charset="-122"/>
              <a:ea typeface="字魂143号-正酷超级黑" pitchFamily="2" charset="-122"/>
            </a:endParaRPr>
          </a:p>
        </p:txBody>
      </p:sp>
      <p:sp>
        <p:nvSpPr>
          <p:cNvPr id="139" name="ïsḷïḑê">
            <a:extLst>
              <a:ext uri="{FF2B5EF4-FFF2-40B4-BE49-F238E27FC236}">
                <a16:creationId xmlns:a16="http://schemas.microsoft.com/office/drawing/2014/main" xmlns="" id="{69F6E148-0618-1A47-E24B-507F0219AE74}"/>
              </a:ext>
            </a:extLst>
          </p:cNvPr>
          <p:cNvSpPr/>
          <p:nvPr/>
        </p:nvSpPr>
        <p:spPr>
          <a:xfrm>
            <a:off x="1781570" y="2468860"/>
            <a:ext cx="612530" cy="612528"/>
          </a:xfrm>
          <a:prstGeom prst="ellipse">
            <a:avLst/>
          </a:prstGeom>
          <a:solidFill>
            <a:schemeClr val="accent4">
              <a:lumMod val="75000"/>
            </a:schemeClr>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a:buSzPct val="25000"/>
            </a:pPr>
            <a:r>
              <a:rPr lang="en-US" altLang="zh-CN" b="1" dirty="0">
                <a:solidFill>
                  <a:schemeClr val="tx1"/>
                </a:solidFill>
                <a:cs typeface="+mn-ea"/>
                <a:sym typeface="+mn-lt"/>
              </a:rPr>
              <a:t>1</a:t>
            </a:r>
          </a:p>
        </p:txBody>
      </p:sp>
      <p:sp>
        <p:nvSpPr>
          <p:cNvPr id="140" name="îSļïdê">
            <a:extLst>
              <a:ext uri="{FF2B5EF4-FFF2-40B4-BE49-F238E27FC236}">
                <a16:creationId xmlns:a16="http://schemas.microsoft.com/office/drawing/2014/main" xmlns="" id="{B533B858-82B3-304F-F734-C3295BCF86D4}"/>
              </a:ext>
            </a:extLst>
          </p:cNvPr>
          <p:cNvSpPr/>
          <p:nvPr/>
        </p:nvSpPr>
        <p:spPr>
          <a:xfrm>
            <a:off x="1781570" y="3328494"/>
            <a:ext cx="612530" cy="612528"/>
          </a:xfrm>
          <a:prstGeom prst="ellipse">
            <a:avLst/>
          </a:prstGeom>
          <a:solidFill>
            <a:schemeClr val="accent4">
              <a:lumMod val="75000"/>
            </a:schemeClr>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a:buSzPct val="25000"/>
            </a:pPr>
            <a:r>
              <a:rPr lang="en-US" altLang="zh-CN" b="1" dirty="0">
                <a:solidFill>
                  <a:schemeClr val="tx1"/>
                </a:solidFill>
                <a:cs typeface="+mn-ea"/>
                <a:sym typeface="+mn-lt"/>
              </a:rPr>
              <a:t>2</a:t>
            </a:r>
          </a:p>
        </p:txBody>
      </p:sp>
      <p:sp>
        <p:nvSpPr>
          <p:cNvPr id="141" name="îṧliḑê">
            <a:extLst>
              <a:ext uri="{FF2B5EF4-FFF2-40B4-BE49-F238E27FC236}">
                <a16:creationId xmlns:a16="http://schemas.microsoft.com/office/drawing/2014/main" xmlns="" id="{2F19F8AB-646C-FAA9-0948-DA99865CAFC9}"/>
              </a:ext>
            </a:extLst>
          </p:cNvPr>
          <p:cNvSpPr/>
          <p:nvPr/>
        </p:nvSpPr>
        <p:spPr>
          <a:xfrm>
            <a:off x="1781570" y="5047762"/>
            <a:ext cx="612530" cy="612528"/>
          </a:xfrm>
          <a:prstGeom prst="ellipse">
            <a:avLst/>
          </a:prstGeom>
          <a:solidFill>
            <a:schemeClr val="accent4">
              <a:lumMod val="75000"/>
            </a:schemeClr>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a:buSzPct val="25000"/>
            </a:pPr>
            <a:r>
              <a:rPr lang="en-US" altLang="zh-CN" b="1" dirty="0">
                <a:solidFill>
                  <a:schemeClr val="tx1"/>
                </a:solidFill>
                <a:cs typeface="+mn-ea"/>
                <a:sym typeface="+mn-lt"/>
              </a:rPr>
              <a:t>4</a:t>
            </a:r>
          </a:p>
        </p:txBody>
      </p:sp>
      <p:sp>
        <p:nvSpPr>
          <p:cNvPr id="145" name="îṧliḑê">
            <a:extLst>
              <a:ext uri="{FF2B5EF4-FFF2-40B4-BE49-F238E27FC236}">
                <a16:creationId xmlns:a16="http://schemas.microsoft.com/office/drawing/2014/main" xmlns="" id="{A7833834-9808-DF27-76D1-784AE769D23E}"/>
              </a:ext>
            </a:extLst>
          </p:cNvPr>
          <p:cNvSpPr/>
          <p:nvPr/>
        </p:nvSpPr>
        <p:spPr>
          <a:xfrm>
            <a:off x="1781570" y="4188128"/>
            <a:ext cx="612530" cy="612528"/>
          </a:xfrm>
          <a:prstGeom prst="ellipse">
            <a:avLst/>
          </a:prstGeom>
          <a:solidFill>
            <a:schemeClr val="accent4">
              <a:lumMod val="75000"/>
            </a:schemeClr>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a:buSzPct val="25000"/>
            </a:pPr>
            <a:r>
              <a:rPr lang="en-US" altLang="zh-CN" b="1" dirty="0">
                <a:solidFill>
                  <a:schemeClr val="tx1"/>
                </a:solidFill>
                <a:cs typeface="+mn-ea"/>
                <a:sym typeface="+mn-lt"/>
              </a:rPr>
              <a:t>3</a:t>
            </a:r>
          </a:p>
        </p:txBody>
      </p:sp>
      <p:sp>
        <p:nvSpPr>
          <p:cNvPr id="147" name="ïsḷïḑê">
            <a:extLst>
              <a:ext uri="{FF2B5EF4-FFF2-40B4-BE49-F238E27FC236}">
                <a16:creationId xmlns:a16="http://schemas.microsoft.com/office/drawing/2014/main" xmlns="" id="{A5994FC0-9859-4AF2-D0F8-33871458F0AE}"/>
              </a:ext>
            </a:extLst>
          </p:cNvPr>
          <p:cNvSpPr/>
          <p:nvPr/>
        </p:nvSpPr>
        <p:spPr>
          <a:xfrm>
            <a:off x="6620270" y="2407687"/>
            <a:ext cx="612530" cy="612528"/>
          </a:xfrm>
          <a:prstGeom prst="ellipse">
            <a:avLst/>
          </a:prstGeom>
          <a:solidFill>
            <a:schemeClr val="accent4">
              <a:lumMod val="75000"/>
            </a:schemeClr>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a:buSzPct val="25000"/>
            </a:pPr>
            <a:r>
              <a:rPr lang="en-US" altLang="zh-CN" b="1" dirty="0">
                <a:solidFill>
                  <a:schemeClr val="tx1"/>
                </a:solidFill>
                <a:cs typeface="+mn-ea"/>
                <a:sym typeface="+mn-lt"/>
              </a:rPr>
              <a:t>5</a:t>
            </a:r>
          </a:p>
        </p:txBody>
      </p:sp>
      <p:sp>
        <p:nvSpPr>
          <p:cNvPr id="148" name="îSļïdê">
            <a:extLst>
              <a:ext uri="{FF2B5EF4-FFF2-40B4-BE49-F238E27FC236}">
                <a16:creationId xmlns:a16="http://schemas.microsoft.com/office/drawing/2014/main" xmlns="" id="{02E1E7CE-77CD-750B-BD28-2FD4D0DE0C54}"/>
              </a:ext>
            </a:extLst>
          </p:cNvPr>
          <p:cNvSpPr/>
          <p:nvPr/>
        </p:nvSpPr>
        <p:spPr>
          <a:xfrm>
            <a:off x="6620270" y="3267321"/>
            <a:ext cx="612530" cy="612528"/>
          </a:xfrm>
          <a:prstGeom prst="ellipse">
            <a:avLst/>
          </a:prstGeom>
          <a:solidFill>
            <a:schemeClr val="accent4">
              <a:lumMod val="75000"/>
            </a:schemeClr>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a:buSzPct val="25000"/>
            </a:pPr>
            <a:r>
              <a:rPr lang="en-US" altLang="zh-CN" b="1" dirty="0">
                <a:solidFill>
                  <a:schemeClr val="tx1"/>
                </a:solidFill>
                <a:cs typeface="+mn-ea"/>
                <a:sym typeface="+mn-lt"/>
              </a:rPr>
              <a:t>6</a:t>
            </a:r>
          </a:p>
        </p:txBody>
      </p:sp>
      <p:sp>
        <p:nvSpPr>
          <p:cNvPr id="149" name="îṧliḑê">
            <a:extLst>
              <a:ext uri="{FF2B5EF4-FFF2-40B4-BE49-F238E27FC236}">
                <a16:creationId xmlns:a16="http://schemas.microsoft.com/office/drawing/2014/main" xmlns="" id="{D6C49771-D115-66F6-75CF-73AEC245A8B8}"/>
              </a:ext>
            </a:extLst>
          </p:cNvPr>
          <p:cNvSpPr/>
          <p:nvPr/>
        </p:nvSpPr>
        <p:spPr>
          <a:xfrm>
            <a:off x="6631655" y="4986589"/>
            <a:ext cx="612530" cy="612528"/>
          </a:xfrm>
          <a:prstGeom prst="ellipse">
            <a:avLst/>
          </a:prstGeom>
          <a:solidFill>
            <a:schemeClr val="accent4">
              <a:lumMod val="75000"/>
            </a:schemeClr>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a:buSzPct val="25000"/>
            </a:pPr>
            <a:r>
              <a:rPr lang="en-US" altLang="zh-CN" b="1" dirty="0">
                <a:solidFill>
                  <a:schemeClr val="tx1"/>
                </a:solidFill>
                <a:cs typeface="+mn-ea"/>
                <a:sym typeface="+mn-lt"/>
              </a:rPr>
              <a:t>8</a:t>
            </a:r>
          </a:p>
        </p:txBody>
      </p:sp>
      <p:sp>
        <p:nvSpPr>
          <p:cNvPr id="150" name="îṧliḑê">
            <a:extLst>
              <a:ext uri="{FF2B5EF4-FFF2-40B4-BE49-F238E27FC236}">
                <a16:creationId xmlns:a16="http://schemas.microsoft.com/office/drawing/2014/main" xmlns="" id="{484A0A3C-FC0F-DA07-AC44-0D5DB869EBA8}"/>
              </a:ext>
            </a:extLst>
          </p:cNvPr>
          <p:cNvSpPr/>
          <p:nvPr/>
        </p:nvSpPr>
        <p:spPr>
          <a:xfrm>
            <a:off x="6620270" y="4126955"/>
            <a:ext cx="612530" cy="612528"/>
          </a:xfrm>
          <a:prstGeom prst="ellipse">
            <a:avLst/>
          </a:prstGeom>
          <a:solidFill>
            <a:schemeClr val="accent4">
              <a:lumMod val="75000"/>
            </a:schemeClr>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a:buSzPct val="25000"/>
            </a:pPr>
            <a:r>
              <a:rPr lang="en-US" altLang="zh-CN" b="1" dirty="0">
                <a:solidFill>
                  <a:schemeClr val="tx1"/>
                </a:solidFill>
                <a:cs typeface="+mn-ea"/>
                <a:sym typeface="+mn-lt"/>
              </a:rPr>
              <a:t>7</a:t>
            </a:r>
          </a:p>
        </p:txBody>
      </p:sp>
      <p:sp>
        <p:nvSpPr>
          <p:cNvPr id="151" name="文本框 133">
            <a:extLst>
              <a:ext uri="{FF2B5EF4-FFF2-40B4-BE49-F238E27FC236}">
                <a16:creationId xmlns:a16="http://schemas.microsoft.com/office/drawing/2014/main" xmlns="" id="{A6121075-F3DE-D885-90E7-9CC6ECB8D53F}"/>
              </a:ext>
            </a:extLst>
          </p:cNvPr>
          <p:cNvSpPr txBox="1"/>
          <p:nvPr/>
        </p:nvSpPr>
        <p:spPr>
          <a:xfrm>
            <a:off x="2570147" y="2573664"/>
            <a:ext cx="1937037" cy="416342"/>
          </a:xfrm>
          <a:prstGeom prst="rect">
            <a:avLst/>
          </a:prstGeom>
          <a:noFill/>
        </p:spPr>
        <p:txBody>
          <a:bodyPr wrap="none" rtlCol="0">
            <a:noAutofit/>
          </a:bodyPr>
          <a:lstStyle/>
          <a:p>
            <a:r>
              <a:rPr lang="en-US" altLang="zh-CN" sz="2400" dirty="0">
                <a:solidFill>
                  <a:schemeClr val="bg1"/>
                </a:solidFill>
                <a:ea typeface="字魂143号-正酷超级黑" pitchFamily="2" charset="-122"/>
              </a:rPr>
              <a:t>Project Profile</a:t>
            </a:r>
            <a:endParaRPr lang="zh-CN" altLang="en-US" sz="2400" dirty="0">
              <a:solidFill>
                <a:schemeClr val="bg1"/>
              </a:solidFill>
              <a:ea typeface="字魂143号-正酷超级黑" pitchFamily="2" charset="-122"/>
            </a:endParaRPr>
          </a:p>
        </p:txBody>
      </p:sp>
      <p:sp>
        <p:nvSpPr>
          <p:cNvPr id="152" name="文本框 133">
            <a:extLst>
              <a:ext uri="{FF2B5EF4-FFF2-40B4-BE49-F238E27FC236}">
                <a16:creationId xmlns:a16="http://schemas.microsoft.com/office/drawing/2014/main" xmlns="" id="{54619606-DCD9-8A1F-67BA-B4705F999641}"/>
              </a:ext>
            </a:extLst>
          </p:cNvPr>
          <p:cNvSpPr txBox="1"/>
          <p:nvPr/>
        </p:nvSpPr>
        <p:spPr>
          <a:xfrm>
            <a:off x="2559442" y="4286221"/>
            <a:ext cx="3203183" cy="416342"/>
          </a:xfrm>
          <a:prstGeom prst="rect">
            <a:avLst/>
          </a:prstGeom>
          <a:noFill/>
        </p:spPr>
        <p:txBody>
          <a:bodyPr wrap="none" rtlCol="0">
            <a:noAutofit/>
          </a:bodyPr>
          <a:lstStyle/>
          <a:p>
            <a:r>
              <a:rPr lang="en-US" altLang="zh-CN" sz="2400" dirty="0">
                <a:solidFill>
                  <a:schemeClr val="bg1"/>
                </a:solidFill>
                <a:ea typeface="字魂143号-正酷超级黑" pitchFamily="2" charset="-122"/>
              </a:rPr>
              <a:t>Project Configuration </a:t>
            </a:r>
            <a:endParaRPr lang="zh-CN" altLang="en-US" sz="2400" dirty="0">
              <a:solidFill>
                <a:schemeClr val="bg1"/>
              </a:solidFill>
              <a:ea typeface="字魂143号-正酷超级黑" pitchFamily="2" charset="-122"/>
            </a:endParaRPr>
          </a:p>
        </p:txBody>
      </p:sp>
      <p:sp>
        <p:nvSpPr>
          <p:cNvPr id="153" name="文本框 133">
            <a:extLst>
              <a:ext uri="{FF2B5EF4-FFF2-40B4-BE49-F238E27FC236}">
                <a16:creationId xmlns:a16="http://schemas.microsoft.com/office/drawing/2014/main" xmlns="" id="{C308C75E-F027-CB01-ADA8-204EEB866CE0}"/>
              </a:ext>
            </a:extLst>
          </p:cNvPr>
          <p:cNvSpPr txBox="1"/>
          <p:nvPr/>
        </p:nvSpPr>
        <p:spPr>
          <a:xfrm>
            <a:off x="2548056" y="5151777"/>
            <a:ext cx="2336837" cy="416342"/>
          </a:xfrm>
          <a:prstGeom prst="rect">
            <a:avLst/>
          </a:prstGeom>
          <a:noFill/>
        </p:spPr>
        <p:txBody>
          <a:bodyPr wrap="none" rtlCol="0">
            <a:noAutofit/>
          </a:bodyPr>
          <a:lstStyle/>
          <a:p>
            <a:r>
              <a:rPr lang="en-US" altLang="zh-CN" sz="2400" dirty="0">
                <a:solidFill>
                  <a:schemeClr val="bg1"/>
                </a:solidFill>
                <a:ea typeface="字魂143号-正酷超级黑" pitchFamily="2" charset="-122"/>
              </a:rPr>
              <a:t>System Design</a:t>
            </a:r>
            <a:endParaRPr lang="zh-CN" altLang="en-US" sz="2400" dirty="0">
              <a:solidFill>
                <a:schemeClr val="bg1"/>
              </a:solidFill>
              <a:ea typeface="字魂143号-正酷超级黑" pitchFamily="2" charset="-122"/>
            </a:endParaRPr>
          </a:p>
        </p:txBody>
      </p:sp>
      <p:sp>
        <p:nvSpPr>
          <p:cNvPr id="154" name="文本框 133">
            <a:extLst>
              <a:ext uri="{FF2B5EF4-FFF2-40B4-BE49-F238E27FC236}">
                <a16:creationId xmlns:a16="http://schemas.microsoft.com/office/drawing/2014/main" xmlns="" id="{8679E95B-4555-1975-A813-80D8C44AA9FA}"/>
              </a:ext>
            </a:extLst>
          </p:cNvPr>
          <p:cNvSpPr txBox="1"/>
          <p:nvPr/>
        </p:nvSpPr>
        <p:spPr>
          <a:xfrm>
            <a:off x="7398141" y="2493282"/>
            <a:ext cx="3269859" cy="416342"/>
          </a:xfrm>
          <a:prstGeom prst="rect">
            <a:avLst/>
          </a:prstGeom>
          <a:noFill/>
        </p:spPr>
        <p:txBody>
          <a:bodyPr wrap="none" rtlCol="0">
            <a:noAutofit/>
          </a:bodyPr>
          <a:lstStyle/>
          <a:p>
            <a:r>
              <a:rPr lang="en-US" altLang="zh-CN" sz="2400" dirty="0">
                <a:solidFill>
                  <a:schemeClr val="bg1"/>
                </a:solidFill>
                <a:ea typeface="字魂143号-正酷超级黑" pitchFamily="2" charset="-122"/>
              </a:rPr>
              <a:t>Input / Output Design </a:t>
            </a:r>
            <a:endParaRPr lang="zh-CN" altLang="en-US" sz="2400" dirty="0">
              <a:solidFill>
                <a:schemeClr val="bg1"/>
              </a:solidFill>
              <a:ea typeface="字魂143号-正酷超级黑" pitchFamily="2" charset="-122"/>
            </a:endParaRPr>
          </a:p>
        </p:txBody>
      </p:sp>
      <p:sp>
        <p:nvSpPr>
          <p:cNvPr id="155" name="文本框 133">
            <a:extLst>
              <a:ext uri="{FF2B5EF4-FFF2-40B4-BE49-F238E27FC236}">
                <a16:creationId xmlns:a16="http://schemas.microsoft.com/office/drawing/2014/main" xmlns="" id="{2ADECDA7-B45A-758E-1B89-754F8043F644}"/>
              </a:ext>
            </a:extLst>
          </p:cNvPr>
          <p:cNvSpPr txBox="1"/>
          <p:nvPr/>
        </p:nvSpPr>
        <p:spPr>
          <a:xfrm>
            <a:off x="7398141" y="3352916"/>
            <a:ext cx="3908034" cy="416342"/>
          </a:xfrm>
          <a:prstGeom prst="rect">
            <a:avLst/>
          </a:prstGeom>
          <a:noFill/>
        </p:spPr>
        <p:txBody>
          <a:bodyPr wrap="none" rtlCol="0">
            <a:noAutofit/>
          </a:bodyPr>
          <a:lstStyle/>
          <a:p>
            <a:r>
              <a:rPr lang="en-US" altLang="zh-CN" sz="2400" dirty="0">
                <a:solidFill>
                  <a:schemeClr val="bg1"/>
                </a:solidFill>
                <a:ea typeface="字魂143号-正酷超级黑" pitchFamily="2" charset="-122"/>
              </a:rPr>
              <a:t>Testing &amp; Implementation </a:t>
            </a:r>
            <a:endParaRPr lang="zh-CN" altLang="en-US" sz="2400" dirty="0">
              <a:solidFill>
                <a:schemeClr val="bg1"/>
              </a:solidFill>
              <a:ea typeface="字魂143号-正酷超级黑" pitchFamily="2" charset="-122"/>
            </a:endParaRPr>
          </a:p>
        </p:txBody>
      </p:sp>
      <p:sp>
        <p:nvSpPr>
          <p:cNvPr id="156" name="文本框 133">
            <a:extLst>
              <a:ext uri="{FF2B5EF4-FFF2-40B4-BE49-F238E27FC236}">
                <a16:creationId xmlns:a16="http://schemas.microsoft.com/office/drawing/2014/main" xmlns="" id="{04E966E6-0082-2D6D-339C-8E6B63E9F242}"/>
              </a:ext>
            </a:extLst>
          </p:cNvPr>
          <p:cNvSpPr txBox="1"/>
          <p:nvPr/>
        </p:nvSpPr>
        <p:spPr>
          <a:xfrm>
            <a:off x="7398142" y="4225048"/>
            <a:ext cx="2234416" cy="416342"/>
          </a:xfrm>
          <a:prstGeom prst="rect">
            <a:avLst/>
          </a:prstGeom>
          <a:noFill/>
        </p:spPr>
        <p:txBody>
          <a:bodyPr wrap="none" rtlCol="0">
            <a:noAutofit/>
          </a:bodyPr>
          <a:lstStyle/>
          <a:p>
            <a:r>
              <a:rPr lang="en-US" altLang="zh-CN" sz="2400" dirty="0">
                <a:solidFill>
                  <a:schemeClr val="bg1"/>
                </a:solidFill>
                <a:ea typeface="字魂143号-正酷超级黑" pitchFamily="2" charset="-122"/>
              </a:rPr>
              <a:t>Future Scopes </a:t>
            </a:r>
            <a:endParaRPr lang="zh-CN" altLang="en-US" sz="2400" dirty="0">
              <a:solidFill>
                <a:schemeClr val="bg1"/>
              </a:solidFill>
              <a:ea typeface="字魂143号-正酷超级黑" pitchFamily="2" charset="-122"/>
            </a:endParaRPr>
          </a:p>
        </p:txBody>
      </p:sp>
      <p:sp>
        <p:nvSpPr>
          <p:cNvPr id="157" name="文本框 133">
            <a:extLst>
              <a:ext uri="{FF2B5EF4-FFF2-40B4-BE49-F238E27FC236}">
                <a16:creationId xmlns:a16="http://schemas.microsoft.com/office/drawing/2014/main" xmlns="" id="{06FF0DB7-3D64-EB09-A3C0-2D00F980695B}"/>
              </a:ext>
            </a:extLst>
          </p:cNvPr>
          <p:cNvSpPr txBox="1"/>
          <p:nvPr/>
        </p:nvSpPr>
        <p:spPr>
          <a:xfrm>
            <a:off x="7398141" y="5084682"/>
            <a:ext cx="1937037" cy="416342"/>
          </a:xfrm>
          <a:prstGeom prst="rect">
            <a:avLst/>
          </a:prstGeom>
          <a:noFill/>
        </p:spPr>
        <p:txBody>
          <a:bodyPr wrap="none" rtlCol="0">
            <a:noAutofit/>
          </a:bodyPr>
          <a:lstStyle/>
          <a:p>
            <a:r>
              <a:rPr lang="en-US" altLang="zh-CN" sz="2400" dirty="0">
                <a:solidFill>
                  <a:schemeClr val="bg1"/>
                </a:solidFill>
                <a:ea typeface="字魂143号-正酷超级黑" pitchFamily="2" charset="-122"/>
              </a:rPr>
              <a:t>Conclusion </a:t>
            </a:r>
            <a:endParaRPr lang="zh-CN" altLang="en-US" sz="2400" dirty="0">
              <a:solidFill>
                <a:schemeClr val="bg1"/>
              </a:solidFill>
              <a:ea typeface="字魂143号-正酷超级黑" pitchFamily="2" charset="-122"/>
            </a:endParaRPr>
          </a:p>
        </p:txBody>
      </p:sp>
      <p:sp>
        <p:nvSpPr>
          <p:cNvPr id="158" name="文本框 133">
            <a:extLst>
              <a:ext uri="{FF2B5EF4-FFF2-40B4-BE49-F238E27FC236}">
                <a16:creationId xmlns:a16="http://schemas.microsoft.com/office/drawing/2014/main" xmlns="" id="{DD64A9F6-8940-9A40-A093-9D58436EE5BB}"/>
              </a:ext>
            </a:extLst>
          </p:cNvPr>
          <p:cNvSpPr txBox="1"/>
          <p:nvPr/>
        </p:nvSpPr>
        <p:spPr>
          <a:xfrm>
            <a:off x="2570147" y="3420665"/>
            <a:ext cx="1937037" cy="416342"/>
          </a:xfrm>
          <a:prstGeom prst="rect">
            <a:avLst/>
          </a:prstGeom>
          <a:noFill/>
        </p:spPr>
        <p:txBody>
          <a:bodyPr wrap="none" rtlCol="0">
            <a:noAutofit/>
          </a:bodyPr>
          <a:lstStyle/>
          <a:p>
            <a:r>
              <a:rPr lang="en-US" altLang="zh-CN" sz="2400" dirty="0">
                <a:solidFill>
                  <a:schemeClr val="bg1"/>
                </a:solidFill>
                <a:ea typeface="字魂143号-正酷超级黑" pitchFamily="2" charset="-122"/>
              </a:rPr>
              <a:t>Project Introduction</a:t>
            </a:r>
            <a:endParaRPr lang="zh-CN" altLang="en-US" sz="2400" dirty="0">
              <a:solidFill>
                <a:schemeClr val="bg1"/>
              </a:solidFill>
              <a:ea typeface="字魂143号-正酷超级黑" pitchFamily="2" charset="-122"/>
            </a:endParaRPr>
          </a:p>
        </p:txBody>
      </p:sp>
    </p:spTree>
    <p:extLst>
      <p:ext uri="{BB962C8B-B14F-4D97-AF65-F5344CB8AC3E}">
        <p14:creationId xmlns:p14="http://schemas.microsoft.com/office/powerpoint/2010/main" xmlns="" val="3466281303"/>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 calcmode="lin" valueType="num">
                                      <p:cBhvr>
                                        <p:cTn id="7" dur="500" fill="hold"/>
                                        <p:tgtEl>
                                          <p:spTgt spid="151"/>
                                        </p:tgtEl>
                                        <p:attrNameLst>
                                          <p:attrName>ppt_w</p:attrName>
                                        </p:attrNameLst>
                                      </p:cBhvr>
                                      <p:tavLst>
                                        <p:tav tm="0">
                                          <p:val>
                                            <p:fltVal val="0"/>
                                          </p:val>
                                        </p:tav>
                                        <p:tav tm="100000">
                                          <p:val>
                                            <p:strVal val="#ppt_w"/>
                                          </p:val>
                                        </p:tav>
                                      </p:tavLst>
                                    </p:anim>
                                    <p:anim calcmode="lin" valueType="num">
                                      <p:cBhvr>
                                        <p:cTn id="8" dur="500" fill="hold"/>
                                        <p:tgtEl>
                                          <p:spTgt spid="151"/>
                                        </p:tgtEl>
                                        <p:attrNameLst>
                                          <p:attrName>ppt_h</p:attrName>
                                        </p:attrNameLst>
                                      </p:cBhvr>
                                      <p:tavLst>
                                        <p:tav tm="0">
                                          <p:val>
                                            <p:fltVal val="0"/>
                                          </p:val>
                                        </p:tav>
                                        <p:tav tm="100000">
                                          <p:val>
                                            <p:strVal val="#ppt_h"/>
                                          </p:val>
                                        </p:tav>
                                      </p:tavLst>
                                    </p:anim>
                                    <p:animEffect transition="in" filter="fade">
                                      <p:cBhvr>
                                        <p:cTn id="9" dur="500"/>
                                        <p:tgtEl>
                                          <p:spTgt spid="15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52"/>
                                        </p:tgtEl>
                                        <p:attrNameLst>
                                          <p:attrName>style.visibility</p:attrName>
                                        </p:attrNameLst>
                                      </p:cBhvr>
                                      <p:to>
                                        <p:strVal val="visible"/>
                                      </p:to>
                                    </p:set>
                                    <p:anim calcmode="lin" valueType="num">
                                      <p:cBhvr>
                                        <p:cTn id="12" dur="500" fill="hold"/>
                                        <p:tgtEl>
                                          <p:spTgt spid="152"/>
                                        </p:tgtEl>
                                        <p:attrNameLst>
                                          <p:attrName>ppt_w</p:attrName>
                                        </p:attrNameLst>
                                      </p:cBhvr>
                                      <p:tavLst>
                                        <p:tav tm="0">
                                          <p:val>
                                            <p:fltVal val="0"/>
                                          </p:val>
                                        </p:tav>
                                        <p:tav tm="100000">
                                          <p:val>
                                            <p:strVal val="#ppt_w"/>
                                          </p:val>
                                        </p:tav>
                                      </p:tavLst>
                                    </p:anim>
                                    <p:anim calcmode="lin" valueType="num">
                                      <p:cBhvr>
                                        <p:cTn id="13" dur="500" fill="hold"/>
                                        <p:tgtEl>
                                          <p:spTgt spid="152"/>
                                        </p:tgtEl>
                                        <p:attrNameLst>
                                          <p:attrName>ppt_h</p:attrName>
                                        </p:attrNameLst>
                                      </p:cBhvr>
                                      <p:tavLst>
                                        <p:tav tm="0">
                                          <p:val>
                                            <p:fltVal val="0"/>
                                          </p:val>
                                        </p:tav>
                                        <p:tav tm="100000">
                                          <p:val>
                                            <p:strVal val="#ppt_h"/>
                                          </p:val>
                                        </p:tav>
                                      </p:tavLst>
                                    </p:anim>
                                    <p:animEffect transition="in" filter="fade">
                                      <p:cBhvr>
                                        <p:cTn id="14" dur="500"/>
                                        <p:tgtEl>
                                          <p:spTgt spid="15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53"/>
                                        </p:tgtEl>
                                        <p:attrNameLst>
                                          <p:attrName>style.visibility</p:attrName>
                                        </p:attrNameLst>
                                      </p:cBhvr>
                                      <p:to>
                                        <p:strVal val="visible"/>
                                      </p:to>
                                    </p:set>
                                    <p:anim calcmode="lin" valueType="num">
                                      <p:cBhvr>
                                        <p:cTn id="17" dur="500" fill="hold"/>
                                        <p:tgtEl>
                                          <p:spTgt spid="153"/>
                                        </p:tgtEl>
                                        <p:attrNameLst>
                                          <p:attrName>ppt_w</p:attrName>
                                        </p:attrNameLst>
                                      </p:cBhvr>
                                      <p:tavLst>
                                        <p:tav tm="0">
                                          <p:val>
                                            <p:fltVal val="0"/>
                                          </p:val>
                                        </p:tav>
                                        <p:tav tm="100000">
                                          <p:val>
                                            <p:strVal val="#ppt_w"/>
                                          </p:val>
                                        </p:tav>
                                      </p:tavLst>
                                    </p:anim>
                                    <p:anim calcmode="lin" valueType="num">
                                      <p:cBhvr>
                                        <p:cTn id="18" dur="500" fill="hold"/>
                                        <p:tgtEl>
                                          <p:spTgt spid="153"/>
                                        </p:tgtEl>
                                        <p:attrNameLst>
                                          <p:attrName>ppt_h</p:attrName>
                                        </p:attrNameLst>
                                      </p:cBhvr>
                                      <p:tavLst>
                                        <p:tav tm="0">
                                          <p:val>
                                            <p:fltVal val="0"/>
                                          </p:val>
                                        </p:tav>
                                        <p:tav tm="100000">
                                          <p:val>
                                            <p:strVal val="#ppt_h"/>
                                          </p:val>
                                        </p:tav>
                                      </p:tavLst>
                                    </p:anim>
                                    <p:animEffect transition="in" filter="fade">
                                      <p:cBhvr>
                                        <p:cTn id="19" dur="500"/>
                                        <p:tgtEl>
                                          <p:spTgt spid="153"/>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54"/>
                                        </p:tgtEl>
                                        <p:attrNameLst>
                                          <p:attrName>style.visibility</p:attrName>
                                        </p:attrNameLst>
                                      </p:cBhvr>
                                      <p:to>
                                        <p:strVal val="visible"/>
                                      </p:to>
                                    </p:set>
                                    <p:anim calcmode="lin" valueType="num">
                                      <p:cBhvr>
                                        <p:cTn id="22" dur="500" fill="hold"/>
                                        <p:tgtEl>
                                          <p:spTgt spid="154"/>
                                        </p:tgtEl>
                                        <p:attrNameLst>
                                          <p:attrName>ppt_w</p:attrName>
                                        </p:attrNameLst>
                                      </p:cBhvr>
                                      <p:tavLst>
                                        <p:tav tm="0">
                                          <p:val>
                                            <p:fltVal val="0"/>
                                          </p:val>
                                        </p:tav>
                                        <p:tav tm="100000">
                                          <p:val>
                                            <p:strVal val="#ppt_w"/>
                                          </p:val>
                                        </p:tav>
                                      </p:tavLst>
                                    </p:anim>
                                    <p:anim calcmode="lin" valueType="num">
                                      <p:cBhvr>
                                        <p:cTn id="23" dur="500" fill="hold"/>
                                        <p:tgtEl>
                                          <p:spTgt spid="154"/>
                                        </p:tgtEl>
                                        <p:attrNameLst>
                                          <p:attrName>ppt_h</p:attrName>
                                        </p:attrNameLst>
                                      </p:cBhvr>
                                      <p:tavLst>
                                        <p:tav tm="0">
                                          <p:val>
                                            <p:fltVal val="0"/>
                                          </p:val>
                                        </p:tav>
                                        <p:tav tm="100000">
                                          <p:val>
                                            <p:strVal val="#ppt_h"/>
                                          </p:val>
                                        </p:tav>
                                      </p:tavLst>
                                    </p:anim>
                                    <p:animEffect transition="in" filter="fade">
                                      <p:cBhvr>
                                        <p:cTn id="24" dur="500"/>
                                        <p:tgtEl>
                                          <p:spTgt spid="15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55"/>
                                        </p:tgtEl>
                                        <p:attrNameLst>
                                          <p:attrName>style.visibility</p:attrName>
                                        </p:attrNameLst>
                                      </p:cBhvr>
                                      <p:to>
                                        <p:strVal val="visible"/>
                                      </p:to>
                                    </p:set>
                                    <p:anim calcmode="lin" valueType="num">
                                      <p:cBhvr>
                                        <p:cTn id="27" dur="500" fill="hold"/>
                                        <p:tgtEl>
                                          <p:spTgt spid="155"/>
                                        </p:tgtEl>
                                        <p:attrNameLst>
                                          <p:attrName>ppt_w</p:attrName>
                                        </p:attrNameLst>
                                      </p:cBhvr>
                                      <p:tavLst>
                                        <p:tav tm="0">
                                          <p:val>
                                            <p:fltVal val="0"/>
                                          </p:val>
                                        </p:tav>
                                        <p:tav tm="100000">
                                          <p:val>
                                            <p:strVal val="#ppt_w"/>
                                          </p:val>
                                        </p:tav>
                                      </p:tavLst>
                                    </p:anim>
                                    <p:anim calcmode="lin" valueType="num">
                                      <p:cBhvr>
                                        <p:cTn id="28" dur="500" fill="hold"/>
                                        <p:tgtEl>
                                          <p:spTgt spid="155"/>
                                        </p:tgtEl>
                                        <p:attrNameLst>
                                          <p:attrName>ppt_h</p:attrName>
                                        </p:attrNameLst>
                                      </p:cBhvr>
                                      <p:tavLst>
                                        <p:tav tm="0">
                                          <p:val>
                                            <p:fltVal val="0"/>
                                          </p:val>
                                        </p:tav>
                                        <p:tav tm="100000">
                                          <p:val>
                                            <p:strVal val="#ppt_h"/>
                                          </p:val>
                                        </p:tav>
                                      </p:tavLst>
                                    </p:anim>
                                    <p:animEffect transition="in" filter="fade">
                                      <p:cBhvr>
                                        <p:cTn id="29" dur="500"/>
                                        <p:tgtEl>
                                          <p:spTgt spid="15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56"/>
                                        </p:tgtEl>
                                        <p:attrNameLst>
                                          <p:attrName>style.visibility</p:attrName>
                                        </p:attrNameLst>
                                      </p:cBhvr>
                                      <p:to>
                                        <p:strVal val="visible"/>
                                      </p:to>
                                    </p:set>
                                    <p:anim calcmode="lin" valueType="num">
                                      <p:cBhvr>
                                        <p:cTn id="32" dur="500" fill="hold"/>
                                        <p:tgtEl>
                                          <p:spTgt spid="156"/>
                                        </p:tgtEl>
                                        <p:attrNameLst>
                                          <p:attrName>ppt_w</p:attrName>
                                        </p:attrNameLst>
                                      </p:cBhvr>
                                      <p:tavLst>
                                        <p:tav tm="0">
                                          <p:val>
                                            <p:fltVal val="0"/>
                                          </p:val>
                                        </p:tav>
                                        <p:tav tm="100000">
                                          <p:val>
                                            <p:strVal val="#ppt_w"/>
                                          </p:val>
                                        </p:tav>
                                      </p:tavLst>
                                    </p:anim>
                                    <p:anim calcmode="lin" valueType="num">
                                      <p:cBhvr>
                                        <p:cTn id="33" dur="500" fill="hold"/>
                                        <p:tgtEl>
                                          <p:spTgt spid="156"/>
                                        </p:tgtEl>
                                        <p:attrNameLst>
                                          <p:attrName>ppt_h</p:attrName>
                                        </p:attrNameLst>
                                      </p:cBhvr>
                                      <p:tavLst>
                                        <p:tav tm="0">
                                          <p:val>
                                            <p:fltVal val="0"/>
                                          </p:val>
                                        </p:tav>
                                        <p:tav tm="100000">
                                          <p:val>
                                            <p:strVal val="#ppt_h"/>
                                          </p:val>
                                        </p:tav>
                                      </p:tavLst>
                                    </p:anim>
                                    <p:animEffect transition="in" filter="fade">
                                      <p:cBhvr>
                                        <p:cTn id="34" dur="500"/>
                                        <p:tgtEl>
                                          <p:spTgt spid="156"/>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57"/>
                                        </p:tgtEl>
                                        <p:attrNameLst>
                                          <p:attrName>style.visibility</p:attrName>
                                        </p:attrNameLst>
                                      </p:cBhvr>
                                      <p:to>
                                        <p:strVal val="visible"/>
                                      </p:to>
                                    </p:set>
                                    <p:anim calcmode="lin" valueType="num">
                                      <p:cBhvr>
                                        <p:cTn id="37" dur="500" fill="hold"/>
                                        <p:tgtEl>
                                          <p:spTgt spid="157"/>
                                        </p:tgtEl>
                                        <p:attrNameLst>
                                          <p:attrName>ppt_w</p:attrName>
                                        </p:attrNameLst>
                                      </p:cBhvr>
                                      <p:tavLst>
                                        <p:tav tm="0">
                                          <p:val>
                                            <p:fltVal val="0"/>
                                          </p:val>
                                        </p:tav>
                                        <p:tav tm="100000">
                                          <p:val>
                                            <p:strVal val="#ppt_w"/>
                                          </p:val>
                                        </p:tav>
                                      </p:tavLst>
                                    </p:anim>
                                    <p:anim calcmode="lin" valueType="num">
                                      <p:cBhvr>
                                        <p:cTn id="38" dur="500" fill="hold"/>
                                        <p:tgtEl>
                                          <p:spTgt spid="157"/>
                                        </p:tgtEl>
                                        <p:attrNameLst>
                                          <p:attrName>ppt_h</p:attrName>
                                        </p:attrNameLst>
                                      </p:cBhvr>
                                      <p:tavLst>
                                        <p:tav tm="0">
                                          <p:val>
                                            <p:fltVal val="0"/>
                                          </p:val>
                                        </p:tav>
                                        <p:tav tm="100000">
                                          <p:val>
                                            <p:strVal val="#ppt_h"/>
                                          </p:val>
                                        </p:tav>
                                      </p:tavLst>
                                    </p:anim>
                                    <p:animEffect transition="in" filter="fade">
                                      <p:cBhvr>
                                        <p:cTn id="39" dur="500"/>
                                        <p:tgtEl>
                                          <p:spTgt spid="157"/>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58"/>
                                        </p:tgtEl>
                                        <p:attrNameLst>
                                          <p:attrName>style.visibility</p:attrName>
                                        </p:attrNameLst>
                                      </p:cBhvr>
                                      <p:to>
                                        <p:strVal val="visible"/>
                                      </p:to>
                                    </p:set>
                                    <p:anim calcmode="lin" valueType="num">
                                      <p:cBhvr>
                                        <p:cTn id="42" dur="500" fill="hold"/>
                                        <p:tgtEl>
                                          <p:spTgt spid="158"/>
                                        </p:tgtEl>
                                        <p:attrNameLst>
                                          <p:attrName>ppt_w</p:attrName>
                                        </p:attrNameLst>
                                      </p:cBhvr>
                                      <p:tavLst>
                                        <p:tav tm="0">
                                          <p:val>
                                            <p:fltVal val="0"/>
                                          </p:val>
                                        </p:tav>
                                        <p:tav tm="100000">
                                          <p:val>
                                            <p:strVal val="#ppt_w"/>
                                          </p:val>
                                        </p:tav>
                                      </p:tavLst>
                                    </p:anim>
                                    <p:anim calcmode="lin" valueType="num">
                                      <p:cBhvr>
                                        <p:cTn id="43" dur="500" fill="hold"/>
                                        <p:tgtEl>
                                          <p:spTgt spid="158"/>
                                        </p:tgtEl>
                                        <p:attrNameLst>
                                          <p:attrName>ppt_h</p:attrName>
                                        </p:attrNameLst>
                                      </p:cBhvr>
                                      <p:tavLst>
                                        <p:tav tm="0">
                                          <p:val>
                                            <p:fltVal val="0"/>
                                          </p:val>
                                        </p:tav>
                                        <p:tav tm="100000">
                                          <p:val>
                                            <p:strVal val="#ppt_h"/>
                                          </p:val>
                                        </p:tav>
                                      </p:tavLst>
                                    </p:anim>
                                    <p:animEffect transition="in" filter="fade">
                                      <p:cBhvr>
                                        <p:cTn id="44" dur="5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p:bldP spid="152" grpId="0"/>
      <p:bldP spid="153" grpId="0"/>
      <p:bldP spid="154" grpId="0"/>
      <p:bldP spid="155" grpId="0"/>
      <p:bldP spid="156" grpId="0"/>
      <p:bldP spid="157" grpId="0"/>
      <p:bldP spid="15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4" name="iṡḻiḑe">
            <a:extLst>
              <a:ext uri="{FF2B5EF4-FFF2-40B4-BE49-F238E27FC236}">
                <a16:creationId xmlns:a16="http://schemas.microsoft.com/office/drawing/2014/main" xmlns="" id="{37B3AA45-E69B-402D-A189-7C486BD46E31}"/>
              </a:ext>
            </a:extLst>
          </p:cNvPr>
          <p:cNvSpPr/>
          <p:nvPr/>
        </p:nvSpPr>
        <p:spPr>
          <a:xfrm>
            <a:off x="315249" y="2942085"/>
            <a:ext cx="5549901" cy="1278480"/>
          </a:xfrm>
          <a:prstGeom prst="rect">
            <a:avLst/>
          </a:prstGeom>
        </p:spPr>
        <p:txBody>
          <a:bodyPr>
            <a:noAutofit/>
          </a:bodyPr>
          <a:lstStyle/>
          <a:p>
            <a:pPr>
              <a:buSzPct val="25000"/>
            </a:pPr>
            <a:r>
              <a:rPr lang="en-US" altLang="zh-CN" sz="4800" dirty="0"/>
              <a:t> </a:t>
            </a:r>
            <a:r>
              <a:rPr lang="en-US" altLang="zh-CN" sz="4800" b="1" dirty="0"/>
              <a:t>PROJECT</a:t>
            </a:r>
          </a:p>
        </p:txBody>
      </p:sp>
      <p:pic>
        <p:nvPicPr>
          <p:cNvPr id="6" name="图片 5">
            <a:extLst>
              <a:ext uri="{FF2B5EF4-FFF2-40B4-BE49-F238E27FC236}">
                <a16:creationId xmlns:a16="http://schemas.microsoft.com/office/drawing/2014/main" xmlns="" id="{810E5E7B-C08D-A532-89F2-90C7C77B3DAC}"/>
              </a:ext>
            </a:extLst>
          </p:cNvPr>
          <p:cNvPicPr>
            <a:picLocks noChangeAspect="1"/>
          </p:cNvPicPr>
          <p:nvPr/>
        </p:nvPicPr>
        <p:blipFill>
          <a:blip r:embed="rId3" cstate="print"/>
          <a:stretch>
            <a:fillRect/>
          </a:stretch>
        </p:blipFill>
        <p:spPr>
          <a:xfrm>
            <a:off x="3812735" y="874246"/>
            <a:ext cx="7942961" cy="5297954"/>
          </a:xfrm>
          <a:prstGeom prst="rect">
            <a:avLst/>
          </a:prstGeom>
          <a:ln w="228600" cap="sq" cmpd="thickThin">
            <a:solidFill>
              <a:srgbClr val="000000"/>
            </a:solidFill>
            <a:prstDash val="solid"/>
            <a:miter lim="800000"/>
          </a:ln>
          <a:effectLst>
            <a:innerShdw blurRad="76200">
              <a:srgbClr val="000000"/>
            </a:innerShdw>
          </a:effectLst>
        </p:spPr>
      </p:pic>
      <p:sp>
        <p:nvSpPr>
          <p:cNvPr id="28" name="TextBox 55">
            <a:extLst>
              <a:ext uri="{FF2B5EF4-FFF2-40B4-BE49-F238E27FC236}">
                <a16:creationId xmlns:a16="http://schemas.microsoft.com/office/drawing/2014/main" xmlns="" id="{9142FA6F-5078-7260-7DED-58A060F31FA4}"/>
              </a:ext>
            </a:extLst>
          </p:cNvPr>
          <p:cNvSpPr txBox="1"/>
          <p:nvPr/>
        </p:nvSpPr>
        <p:spPr>
          <a:xfrm>
            <a:off x="247650" y="342900"/>
            <a:ext cx="2914650" cy="1047749"/>
          </a:xfrm>
          <a:prstGeom prst="rect">
            <a:avLst/>
          </a:prstGeom>
          <a:noFill/>
        </p:spPr>
        <p:txBody>
          <a:bodyPr wrap="square" lIns="68571" tIns="34285" rIns="68571" bIns="34285"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3200" b="1" spc="200" dirty="0" smtClean="0">
                <a:ln w="29210">
                  <a:solidFill>
                    <a:schemeClr val="accent3">
                      <a:tint val="10000"/>
                    </a:schemeClr>
                  </a:solidFill>
                </a:ln>
                <a:solidFill>
                  <a:schemeClr val="accent3">
                    <a:satMod val="200000"/>
                    <a:alpha val="50000"/>
                  </a:schemeClr>
                </a:solidFill>
                <a:effectLst>
                  <a:innerShdw blurRad="50800" dist="50800" dir="8100000">
                    <a:srgbClr val="7D7D7D">
                      <a:alpha val="73000"/>
                    </a:srgbClr>
                  </a:innerShdw>
                </a:effectLst>
                <a:latin typeface="Source Han Sans SC"/>
                <a:cs typeface="+mn-ea"/>
                <a:sym typeface="+mn-lt"/>
              </a:rPr>
              <a:t>FURNITURE ORDER</a:t>
            </a:r>
            <a:endParaRPr lang="en-US" altLang="en-US" sz="3200" b="1" spc="200" dirty="0">
              <a:ln w="29210">
                <a:solidFill>
                  <a:schemeClr val="accent3">
                    <a:tint val="10000"/>
                  </a:schemeClr>
                </a:solidFill>
              </a:ln>
              <a:solidFill>
                <a:schemeClr val="accent3">
                  <a:satMod val="200000"/>
                  <a:alpha val="50000"/>
                </a:schemeClr>
              </a:solidFill>
              <a:effectLst>
                <a:innerShdw blurRad="50800" dist="50800" dir="8100000">
                  <a:srgbClr val="7D7D7D">
                    <a:alpha val="73000"/>
                  </a:srgbClr>
                </a:innerShdw>
              </a:effectLst>
              <a:latin typeface="Source Han Sans SC"/>
              <a:cs typeface="+mn-ea"/>
              <a:sym typeface="+mn-lt"/>
            </a:endParaRPr>
          </a:p>
        </p:txBody>
      </p:sp>
      <p:sp>
        <p:nvSpPr>
          <p:cNvPr id="2" name="iṡḻiḑe">
            <a:extLst>
              <a:ext uri="{FF2B5EF4-FFF2-40B4-BE49-F238E27FC236}">
                <a16:creationId xmlns:a16="http://schemas.microsoft.com/office/drawing/2014/main" xmlns="" id="{5ECF20CF-A98E-F2B4-E672-08254E9F80ED}"/>
              </a:ext>
            </a:extLst>
          </p:cNvPr>
          <p:cNvSpPr/>
          <p:nvPr/>
        </p:nvSpPr>
        <p:spPr>
          <a:xfrm>
            <a:off x="546098" y="2847469"/>
            <a:ext cx="5549901" cy="1278480"/>
          </a:xfrm>
          <a:prstGeom prst="rect">
            <a:avLst/>
          </a:prstGeom>
        </p:spPr>
        <p:txBody>
          <a:bodyPr>
            <a:noAutofit/>
          </a:bodyPr>
          <a:lstStyle/>
          <a:p>
            <a:pPr>
              <a:buSzPct val="25000"/>
            </a:pPr>
            <a:endParaRPr lang="en-US" altLang="zh-CN" sz="4000" b="1" dirty="0"/>
          </a:p>
        </p:txBody>
      </p:sp>
      <p:sp>
        <p:nvSpPr>
          <p:cNvPr id="3" name="iṡḻiḑe">
            <a:extLst>
              <a:ext uri="{FF2B5EF4-FFF2-40B4-BE49-F238E27FC236}">
                <a16:creationId xmlns:a16="http://schemas.microsoft.com/office/drawing/2014/main" xmlns="" id="{330BC5EB-C99A-D3EF-3031-C6CEDA5F6241}"/>
              </a:ext>
            </a:extLst>
          </p:cNvPr>
          <p:cNvSpPr/>
          <p:nvPr/>
        </p:nvSpPr>
        <p:spPr>
          <a:xfrm>
            <a:off x="570697" y="3547884"/>
            <a:ext cx="2090846" cy="639240"/>
          </a:xfrm>
          <a:prstGeom prst="rect">
            <a:avLst/>
          </a:prstGeom>
        </p:spPr>
        <p:txBody>
          <a:bodyPr>
            <a:noAutofit/>
          </a:bodyPr>
          <a:lstStyle/>
          <a:p>
            <a:pPr>
              <a:buSzPct val="25000"/>
            </a:pPr>
            <a:r>
              <a:rPr lang="en-US" altLang="zh-CN" sz="3600" dirty="0"/>
              <a:t> PROFILE</a:t>
            </a:r>
          </a:p>
        </p:txBody>
      </p:sp>
      <p:sp>
        <p:nvSpPr>
          <p:cNvPr id="38" name="ï$ľiḍè">
            <a:extLst>
              <a:ext uri="{FF2B5EF4-FFF2-40B4-BE49-F238E27FC236}">
                <a16:creationId xmlns:a16="http://schemas.microsoft.com/office/drawing/2014/main" xmlns="" id="{50516A93-90C0-139B-AEF0-A6BB2BDB0B9F}"/>
              </a:ext>
            </a:extLst>
          </p:cNvPr>
          <p:cNvSpPr/>
          <p:nvPr/>
        </p:nvSpPr>
        <p:spPr>
          <a:xfrm>
            <a:off x="1033704" y="1824993"/>
            <a:ext cx="1097280" cy="1097280"/>
          </a:xfrm>
          <a:prstGeom prst="ellipse">
            <a:avLst/>
          </a:prstGeom>
          <a:solidFill>
            <a:srgbClr val="FFCF37"/>
          </a:solidFill>
          <a:ln w="15875"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endParaRPr lang="en-US" altLang="zh-CN" sz="2400" b="1" dirty="0">
              <a:solidFill>
                <a:schemeClr val="tx1"/>
              </a:solidFill>
              <a:cs typeface="+mn-ea"/>
              <a:sym typeface="+mn-lt"/>
            </a:endParaRPr>
          </a:p>
        </p:txBody>
      </p:sp>
      <p:sp>
        <p:nvSpPr>
          <p:cNvPr id="39" name="iṡḻíde">
            <a:extLst>
              <a:ext uri="{FF2B5EF4-FFF2-40B4-BE49-F238E27FC236}">
                <a16:creationId xmlns:a16="http://schemas.microsoft.com/office/drawing/2014/main" xmlns="" id="{101CF844-34BF-D54F-0F44-57C94E085886}"/>
              </a:ext>
            </a:extLst>
          </p:cNvPr>
          <p:cNvSpPr/>
          <p:nvPr/>
        </p:nvSpPr>
        <p:spPr>
          <a:xfrm>
            <a:off x="1170864" y="1963334"/>
            <a:ext cx="822960" cy="822960"/>
          </a:xfrm>
          <a:prstGeom prst="ellipse">
            <a:avLst/>
          </a:prstGeom>
          <a:solidFill>
            <a:schemeClr val="accent4">
              <a:lumMod val="75000"/>
            </a:schemeClr>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r>
              <a:rPr lang="en-US" altLang="zh-CN" sz="2400" dirty="0">
                <a:ln w="18415" cmpd="sng">
                  <a:solidFill>
                    <a:srgbClr val="FFFFFF"/>
                  </a:solidFill>
                  <a:prstDash val="solid"/>
                </a:ln>
                <a:solidFill>
                  <a:srgbClr val="FFFFFF"/>
                </a:solidFill>
                <a:effectLst>
                  <a:outerShdw blurRad="63500" dir="3600000" algn="tl" rotWithShape="0">
                    <a:srgbClr val="000000">
                      <a:alpha val="70000"/>
                    </a:srgbClr>
                  </a:outerShdw>
                </a:effectLst>
                <a:cs typeface="+mn-ea"/>
                <a:sym typeface="+mn-lt"/>
              </a:rPr>
              <a:t>1</a:t>
            </a:r>
          </a:p>
        </p:txBody>
      </p:sp>
    </p:spTree>
    <p:custDataLst>
      <p:tags r:id="rId1"/>
    </p:custDataLst>
    <p:extLst>
      <p:ext uri="{BB962C8B-B14F-4D97-AF65-F5344CB8AC3E}">
        <p14:creationId xmlns:p14="http://schemas.microsoft.com/office/powerpoint/2010/main" xmlns="" val="257370383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xmlns="" id="{D0BBDA7C-53EB-C7F0-4677-1EEB7C891235}"/>
              </a:ext>
            </a:extLst>
          </p:cNvPr>
          <p:cNvPicPr>
            <a:picLocks noChangeAspect="1"/>
          </p:cNvPicPr>
          <p:nvPr/>
        </p:nvPicPr>
        <p:blipFill>
          <a:blip r:embed="rId2" cstate="print"/>
          <a:stretch>
            <a:fillRect/>
          </a:stretch>
        </p:blipFill>
        <p:spPr>
          <a:xfrm>
            <a:off x="783962" y="2064644"/>
            <a:ext cx="3219068" cy="3219068"/>
          </a:xfrm>
          <a:prstGeom prst="rect">
            <a:avLst/>
          </a:prstGeom>
          <a:noFill/>
          <a:ln>
            <a:solidFill>
              <a:schemeClr val="bg1">
                <a:lumMod val="85000"/>
              </a:schemeClr>
            </a:solidFill>
          </a:ln>
        </p:spPr>
      </p:pic>
      <p:sp>
        <p:nvSpPr>
          <p:cNvPr id="9" name="文本框 8">
            <a:extLst>
              <a:ext uri="{FF2B5EF4-FFF2-40B4-BE49-F238E27FC236}">
                <a16:creationId xmlns:a16="http://schemas.microsoft.com/office/drawing/2014/main" xmlns="" id="{2E69413D-BEE0-FC9B-0AE0-A7F2CEBCA4BF}"/>
              </a:ext>
            </a:extLst>
          </p:cNvPr>
          <p:cNvSpPr txBox="1"/>
          <p:nvPr/>
        </p:nvSpPr>
        <p:spPr>
          <a:xfrm>
            <a:off x="4671777" y="2096881"/>
            <a:ext cx="2814870" cy="496246"/>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en-US" altLang="zh-CN" sz="2400" dirty="0">
                <a:solidFill>
                  <a:schemeClr val="tx1">
                    <a:lumMod val="95000"/>
                    <a:lumOff val="5000"/>
                  </a:schemeClr>
                </a:solidFill>
                <a:latin typeface="Times New Roman" panose="02020603050405020304" pitchFamily="18" charset="0"/>
                <a:ea typeface="字魂143号-正酷超级黑" pitchFamily="2" charset="-122"/>
                <a:cs typeface="Times New Roman" panose="02020603050405020304" pitchFamily="18" charset="0"/>
                <a:sym typeface="+mn-lt"/>
              </a:rPr>
              <a:t>Project Title           :</a:t>
            </a:r>
          </a:p>
        </p:txBody>
      </p:sp>
      <p:sp>
        <p:nvSpPr>
          <p:cNvPr id="10" name="矩形 9">
            <a:extLst>
              <a:ext uri="{FF2B5EF4-FFF2-40B4-BE49-F238E27FC236}">
                <a16:creationId xmlns:a16="http://schemas.microsoft.com/office/drawing/2014/main" xmlns="" id="{96BFC877-601B-C573-72BB-679F3B7BFAC6}"/>
              </a:ext>
            </a:extLst>
          </p:cNvPr>
          <p:cNvSpPr/>
          <p:nvPr/>
        </p:nvSpPr>
        <p:spPr>
          <a:xfrm>
            <a:off x="361951" y="419100"/>
            <a:ext cx="4343400" cy="1333500"/>
          </a:xfrm>
          <a:prstGeom prst="rect">
            <a:avLst/>
          </a:prstGeom>
          <a:noFill/>
        </p:spPr>
        <p:style>
          <a:lnRef idx="2">
            <a:schemeClr val="dk1"/>
          </a:lnRef>
          <a:fillRef idx="1">
            <a:schemeClr val="lt1"/>
          </a:fillRef>
          <a:effectRef idx="0">
            <a:schemeClr val="dk1"/>
          </a:effectRef>
          <a:fontRef idx="minor">
            <a:schemeClr val="dk1"/>
          </a:fontRef>
        </p:style>
        <p:txBody>
          <a:bodyPr wrap="square" anchor="t" anchorCtr="0">
            <a:noAutofit/>
          </a:bodyPr>
          <a:lstStyle/>
          <a:p>
            <a:pPr algn="dist">
              <a:lnSpc>
                <a:spcPct val="150000"/>
              </a:lnSpc>
            </a:pPr>
            <a:r>
              <a:rPr lang="en-US" altLang="zh-CN" sz="2400"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ONLINE FURNITURE</a:t>
            </a:r>
          </a:p>
          <a:p>
            <a:pPr algn="dist">
              <a:lnSpc>
                <a:spcPct val="150000"/>
              </a:lnSpc>
            </a:pPr>
            <a:r>
              <a:rPr lang="en-US" altLang="zh-CN" sz="2400"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ORDERING SYSTEM</a:t>
            </a:r>
            <a:endParaRPr lang="en-US" altLang="zh-CN" sz="2400" u="sng"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endParaRPr>
          </a:p>
        </p:txBody>
      </p:sp>
      <p:sp>
        <p:nvSpPr>
          <p:cNvPr id="11" name="文本框 10" descr="e7d195523061f1c0c30ee18c1b05f65d12b38e2533cb2ccdAE0CC34CB5CBEBFAEC353FED4DECE97C3E379FD1D933F5E4DC18EF8EA6B7A1130D5F6DE9DD2BE4B0A8C9126ACE5083D1F5A9E323B29CCFC723947F2A7770FFCFC0136AC2E9358C416F4A10C6952D33DA63038E460805E61AD394230B9BB5ED30CDD32E0864C96BD7869770F58DC06A0E">
            <a:extLst>
              <a:ext uri="{FF2B5EF4-FFF2-40B4-BE49-F238E27FC236}">
                <a16:creationId xmlns:a16="http://schemas.microsoft.com/office/drawing/2014/main" xmlns="" id="{54501C05-94C8-388F-C636-5BA048E6F038}"/>
              </a:ext>
            </a:extLst>
          </p:cNvPr>
          <p:cNvSpPr txBox="1"/>
          <p:nvPr/>
        </p:nvSpPr>
        <p:spPr>
          <a:xfrm>
            <a:off x="5248275" y="801275"/>
            <a:ext cx="4733925" cy="707886"/>
          </a:xfrm>
          <a:prstGeom prst="rect">
            <a:avLst/>
          </a:prstGeom>
          <a:noFill/>
        </p:spPr>
        <p:txBody>
          <a:bodyPr wrap="none" rtlCol="0">
            <a:normAutofit/>
          </a:bodyPr>
          <a:lstStyle/>
          <a:p>
            <a:pPr algn="ctr"/>
            <a:r>
              <a:rPr lang="en-US" sz="4000" u="sng" dirty="0" smtClean="0">
                <a:solidFill>
                  <a:schemeClr val="bg1"/>
                </a:solidFill>
                <a:highlight>
                  <a:srgbClr val="970021"/>
                </a:highlight>
                <a:latin typeface="Source Han Sans SC"/>
                <a:ea typeface="Source Han Sans SC"/>
                <a:cs typeface="+mn-ea"/>
                <a:sym typeface="+mn-lt"/>
              </a:rPr>
              <a:t>PROJECT PROFILE</a:t>
            </a:r>
            <a:endParaRPr lang="en-US" sz="4000" u="sng" dirty="0">
              <a:solidFill>
                <a:schemeClr val="bg1"/>
              </a:solidFill>
              <a:highlight>
                <a:srgbClr val="970021"/>
              </a:highlight>
              <a:latin typeface="Source Han Sans SC"/>
              <a:ea typeface="Source Han Sans SC"/>
              <a:cs typeface="+mn-ea"/>
              <a:sym typeface="+mn-lt"/>
            </a:endParaRPr>
          </a:p>
        </p:txBody>
      </p:sp>
      <p:sp>
        <p:nvSpPr>
          <p:cNvPr id="2" name="TextBox 1">
            <a:extLst>
              <a:ext uri="{FF2B5EF4-FFF2-40B4-BE49-F238E27FC236}">
                <a16:creationId xmlns:a16="http://schemas.microsoft.com/office/drawing/2014/main" xmlns="" id="{06C79F97-2712-8A8B-1BF4-F89F0670AD3D}"/>
              </a:ext>
            </a:extLst>
          </p:cNvPr>
          <p:cNvSpPr txBox="1"/>
          <p:nvPr/>
        </p:nvSpPr>
        <p:spPr>
          <a:xfrm>
            <a:off x="1066800" y="5528309"/>
            <a:ext cx="3977640" cy="230832"/>
          </a:xfrm>
          <a:prstGeom prst="rect">
            <a:avLst/>
          </a:prstGeom>
          <a:noFill/>
        </p:spPr>
        <p:txBody>
          <a:bodyPr wrap="square" rtlCol="0">
            <a:spAutoFit/>
          </a:bodyPr>
          <a:lstStyle/>
          <a:p>
            <a:endParaRPr lang="en-IN" sz="900" dirty="0"/>
          </a:p>
        </p:txBody>
      </p:sp>
      <p:sp>
        <p:nvSpPr>
          <p:cNvPr id="73" name="文本框 8">
            <a:extLst>
              <a:ext uri="{FF2B5EF4-FFF2-40B4-BE49-F238E27FC236}">
                <a16:creationId xmlns:a16="http://schemas.microsoft.com/office/drawing/2014/main" xmlns="" id="{4C5E81F6-DA4E-49A3-C996-04DA07C39FF8}"/>
              </a:ext>
            </a:extLst>
          </p:cNvPr>
          <p:cNvSpPr txBox="1"/>
          <p:nvPr/>
        </p:nvSpPr>
        <p:spPr>
          <a:xfrm>
            <a:off x="4652726" y="2636160"/>
            <a:ext cx="2814871" cy="496246"/>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en-US" altLang="zh-CN" sz="2400" dirty="0">
                <a:solidFill>
                  <a:schemeClr val="tx1">
                    <a:lumMod val="95000"/>
                    <a:lumOff val="5000"/>
                  </a:schemeClr>
                </a:solidFill>
                <a:latin typeface="Times New Roman" panose="02020603050405020304" pitchFamily="18" charset="0"/>
                <a:ea typeface="字魂143号-正酷超级黑" pitchFamily="2" charset="-122"/>
                <a:cs typeface="Times New Roman" panose="02020603050405020304" pitchFamily="18" charset="0"/>
                <a:sym typeface="+mn-lt"/>
              </a:rPr>
              <a:t>Developed For       :</a:t>
            </a:r>
          </a:p>
        </p:txBody>
      </p:sp>
      <p:sp>
        <p:nvSpPr>
          <p:cNvPr id="74" name="文本框 8">
            <a:extLst>
              <a:ext uri="{FF2B5EF4-FFF2-40B4-BE49-F238E27FC236}">
                <a16:creationId xmlns:a16="http://schemas.microsoft.com/office/drawing/2014/main" xmlns="" id="{4C587195-3EC4-1889-4B7D-3DFCF9A2CFB7}"/>
              </a:ext>
            </a:extLst>
          </p:cNvPr>
          <p:cNvSpPr txBox="1"/>
          <p:nvPr/>
        </p:nvSpPr>
        <p:spPr>
          <a:xfrm>
            <a:off x="4633677" y="3205236"/>
            <a:ext cx="2814870" cy="496246"/>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en-US" altLang="zh-CN" sz="2400" dirty="0">
                <a:solidFill>
                  <a:schemeClr val="tx1"/>
                </a:solidFill>
                <a:latin typeface="Times New Roman" panose="02020603050405020304" pitchFamily="18" charset="0"/>
                <a:ea typeface="字魂143号-正酷超级黑" pitchFamily="2" charset="-122"/>
                <a:cs typeface="Times New Roman" panose="02020603050405020304" pitchFamily="18" charset="0"/>
                <a:sym typeface="+mn-lt"/>
              </a:rPr>
              <a:t>Front-end Tool       :</a:t>
            </a:r>
          </a:p>
        </p:txBody>
      </p:sp>
      <p:sp>
        <p:nvSpPr>
          <p:cNvPr id="75" name="文本框 8">
            <a:extLst>
              <a:ext uri="{FF2B5EF4-FFF2-40B4-BE49-F238E27FC236}">
                <a16:creationId xmlns:a16="http://schemas.microsoft.com/office/drawing/2014/main" xmlns="" id="{F5546651-FB0F-F975-4218-66E93C9C27D7}"/>
              </a:ext>
            </a:extLst>
          </p:cNvPr>
          <p:cNvSpPr txBox="1"/>
          <p:nvPr/>
        </p:nvSpPr>
        <p:spPr>
          <a:xfrm>
            <a:off x="4671777" y="3800475"/>
            <a:ext cx="2814872" cy="496246"/>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en-US" altLang="zh-CN" sz="2400" dirty="0">
                <a:solidFill>
                  <a:schemeClr val="tx1"/>
                </a:solidFill>
                <a:latin typeface="Times New Roman" panose="02020603050405020304" pitchFamily="18" charset="0"/>
                <a:ea typeface="字魂143号-正酷超级黑" pitchFamily="2" charset="-122"/>
                <a:cs typeface="Times New Roman" panose="02020603050405020304" pitchFamily="18" charset="0"/>
                <a:sym typeface="+mn-lt"/>
              </a:rPr>
              <a:t>Back End Tool       :</a:t>
            </a:r>
          </a:p>
        </p:txBody>
      </p:sp>
      <p:sp>
        <p:nvSpPr>
          <p:cNvPr id="76" name="文本框 8">
            <a:extLst>
              <a:ext uri="{FF2B5EF4-FFF2-40B4-BE49-F238E27FC236}">
                <a16:creationId xmlns:a16="http://schemas.microsoft.com/office/drawing/2014/main" xmlns="" id="{4E47C786-4F11-2A37-AC3C-429EAD464738}"/>
              </a:ext>
            </a:extLst>
          </p:cNvPr>
          <p:cNvSpPr txBox="1"/>
          <p:nvPr/>
        </p:nvSpPr>
        <p:spPr>
          <a:xfrm>
            <a:off x="4671776" y="4366096"/>
            <a:ext cx="2814873" cy="496246"/>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en-US" altLang="zh-CN" sz="2400" dirty="0">
                <a:solidFill>
                  <a:schemeClr val="tx1"/>
                </a:solidFill>
                <a:latin typeface="Times New Roman" panose="02020603050405020304" pitchFamily="18" charset="0"/>
                <a:ea typeface="字魂143号-正酷超级黑" pitchFamily="2" charset="-122"/>
                <a:cs typeface="Times New Roman" panose="02020603050405020304" pitchFamily="18" charset="0"/>
                <a:sym typeface="+mn-lt"/>
              </a:rPr>
              <a:t>Language             </a:t>
            </a:r>
            <a:r>
              <a:rPr lang="en-US" altLang="zh-CN" sz="2400" dirty="0" smtClean="0">
                <a:solidFill>
                  <a:schemeClr val="tx1"/>
                </a:solidFill>
                <a:latin typeface="Times New Roman" panose="02020603050405020304" pitchFamily="18" charset="0"/>
                <a:ea typeface="字魂143号-正酷超级黑" pitchFamily="2" charset="-122"/>
                <a:cs typeface="Times New Roman" panose="02020603050405020304" pitchFamily="18" charset="0"/>
                <a:sym typeface="+mn-lt"/>
              </a:rPr>
              <a:t>  :</a:t>
            </a:r>
            <a:endParaRPr lang="en-US" altLang="zh-CN" sz="2400" dirty="0">
              <a:solidFill>
                <a:schemeClr val="tx1"/>
              </a:solidFill>
              <a:latin typeface="Times New Roman" panose="02020603050405020304" pitchFamily="18" charset="0"/>
              <a:ea typeface="字魂143号-正酷超级黑" pitchFamily="2" charset="-122"/>
              <a:cs typeface="Times New Roman" panose="02020603050405020304" pitchFamily="18" charset="0"/>
              <a:sym typeface="+mn-lt"/>
            </a:endParaRPr>
          </a:p>
        </p:txBody>
      </p:sp>
      <p:sp>
        <p:nvSpPr>
          <p:cNvPr id="77" name="文本框 8">
            <a:extLst>
              <a:ext uri="{FF2B5EF4-FFF2-40B4-BE49-F238E27FC236}">
                <a16:creationId xmlns:a16="http://schemas.microsoft.com/office/drawing/2014/main" xmlns="" id="{B61F58BC-B3E0-C0A0-D2CB-54516C9A68B6}"/>
              </a:ext>
            </a:extLst>
          </p:cNvPr>
          <p:cNvSpPr txBox="1"/>
          <p:nvPr/>
        </p:nvSpPr>
        <p:spPr>
          <a:xfrm>
            <a:off x="4597481" y="4919019"/>
            <a:ext cx="2898693" cy="496246"/>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en-US" altLang="zh-CN" sz="2400" dirty="0">
                <a:solidFill>
                  <a:schemeClr val="tx1"/>
                </a:solidFill>
                <a:latin typeface="Times New Roman" panose="02020603050405020304" pitchFamily="18" charset="0"/>
                <a:ea typeface="字魂143号-正酷超级黑" pitchFamily="2" charset="-122"/>
                <a:cs typeface="Times New Roman" panose="02020603050405020304" pitchFamily="18" charset="0"/>
                <a:sym typeface="+mn-lt"/>
              </a:rPr>
              <a:t>Operating System  :</a:t>
            </a:r>
          </a:p>
        </p:txBody>
      </p:sp>
      <p:sp>
        <p:nvSpPr>
          <p:cNvPr id="78" name="文本框 8">
            <a:extLst>
              <a:ext uri="{FF2B5EF4-FFF2-40B4-BE49-F238E27FC236}">
                <a16:creationId xmlns:a16="http://schemas.microsoft.com/office/drawing/2014/main" xmlns="" id="{221192A1-246A-4149-63DC-597CBAD34268}"/>
              </a:ext>
            </a:extLst>
          </p:cNvPr>
          <p:cNvSpPr txBox="1"/>
          <p:nvPr/>
        </p:nvSpPr>
        <p:spPr>
          <a:xfrm>
            <a:off x="7735144" y="2089100"/>
            <a:ext cx="2814870" cy="496246"/>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en-US" altLang="zh-CN" sz="24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ea typeface="字魂143号-正酷超级黑" pitchFamily="2" charset="-122"/>
                <a:cs typeface="Times New Roman" panose="02020603050405020304" pitchFamily="18" charset="0"/>
                <a:sym typeface="+mn-lt"/>
              </a:rPr>
              <a:t>My Furni </a:t>
            </a:r>
            <a:r>
              <a:rPr lang="en-US" altLang="zh-CN" sz="24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ea typeface="字魂143号-正酷超级黑" pitchFamily="2" charset="-122"/>
                <a:cs typeface="Times New Roman" panose="02020603050405020304" pitchFamily="18" charset="0"/>
                <a:sym typeface="+mn-lt"/>
              </a:rPr>
              <a:t>System</a:t>
            </a:r>
          </a:p>
        </p:txBody>
      </p:sp>
      <p:sp>
        <p:nvSpPr>
          <p:cNvPr id="79" name="文本框 8">
            <a:extLst>
              <a:ext uri="{FF2B5EF4-FFF2-40B4-BE49-F238E27FC236}">
                <a16:creationId xmlns:a16="http://schemas.microsoft.com/office/drawing/2014/main" xmlns="" id="{BEDCB991-2614-8D42-1D78-2780CE26769E}"/>
              </a:ext>
            </a:extLst>
          </p:cNvPr>
          <p:cNvSpPr txBox="1"/>
          <p:nvPr/>
        </p:nvSpPr>
        <p:spPr>
          <a:xfrm>
            <a:off x="7735144" y="2663109"/>
            <a:ext cx="2814870" cy="496246"/>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en-US" altLang="zh-CN" sz="24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ea typeface="字魂143号-正酷超级黑" pitchFamily="2" charset="-122"/>
                <a:cs typeface="Times New Roman" panose="02020603050405020304" pitchFamily="18" charset="0"/>
                <a:sym typeface="+mn-lt"/>
              </a:rPr>
              <a:t>Online </a:t>
            </a:r>
            <a:r>
              <a:rPr lang="en-US" altLang="zh-CN" sz="24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ea typeface="字魂143号-正酷超级黑" pitchFamily="2" charset="-122"/>
                <a:cs typeface="Times New Roman" panose="02020603050405020304" pitchFamily="18" charset="0"/>
                <a:sym typeface="+mn-lt"/>
              </a:rPr>
              <a:t>Furniture Ordering </a:t>
            </a:r>
            <a:r>
              <a:rPr lang="en-US" altLang="zh-CN" sz="24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ea typeface="字魂143号-正酷超级黑" pitchFamily="2" charset="-122"/>
                <a:cs typeface="Times New Roman" panose="02020603050405020304" pitchFamily="18" charset="0"/>
                <a:sym typeface="+mn-lt"/>
              </a:rPr>
              <a:t>System</a:t>
            </a:r>
          </a:p>
        </p:txBody>
      </p:sp>
      <p:sp>
        <p:nvSpPr>
          <p:cNvPr id="80" name="文本框 8">
            <a:extLst>
              <a:ext uri="{FF2B5EF4-FFF2-40B4-BE49-F238E27FC236}">
                <a16:creationId xmlns:a16="http://schemas.microsoft.com/office/drawing/2014/main" xmlns="" id="{D8CA4A5C-D523-4638-0043-32E683EB9D4E}"/>
              </a:ext>
            </a:extLst>
          </p:cNvPr>
          <p:cNvSpPr txBox="1"/>
          <p:nvPr/>
        </p:nvSpPr>
        <p:spPr>
          <a:xfrm>
            <a:off x="7735144" y="3170782"/>
            <a:ext cx="2814870" cy="496246"/>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en-US" altLang="zh-CN" sz="24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ea typeface="字魂143号-正酷超级黑" pitchFamily="2" charset="-122"/>
                <a:cs typeface="Times New Roman" panose="02020603050405020304" pitchFamily="18" charset="0"/>
                <a:sym typeface="+mn-lt"/>
              </a:rPr>
              <a:t>Html, Css, Js, Bootstrap</a:t>
            </a:r>
          </a:p>
        </p:txBody>
      </p:sp>
      <p:sp>
        <p:nvSpPr>
          <p:cNvPr id="81" name="文本框 8">
            <a:extLst>
              <a:ext uri="{FF2B5EF4-FFF2-40B4-BE49-F238E27FC236}">
                <a16:creationId xmlns:a16="http://schemas.microsoft.com/office/drawing/2014/main" xmlns="" id="{6001BAC5-E97A-E71F-6A58-ED5D56B337BB}"/>
              </a:ext>
            </a:extLst>
          </p:cNvPr>
          <p:cNvSpPr txBox="1"/>
          <p:nvPr/>
        </p:nvSpPr>
        <p:spPr>
          <a:xfrm>
            <a:off x="7735144" y="3757635"/>
            <a:ext cx="2814870" cy="496246"/>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en-US" altLang="zh-CN" sz="24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ea typeface="字魂143号-正酷超级黑" pitchFamily="2" charset="-122"/>
                <a:cs typeface="Times New Roman" panose="02020603050405020304" pitchFamily="18" charset="0"/>
                <a:sym typeface="+mn-lt"/>
              </a:rPr>
              <a:t>Php, MySQL </a:t>
            </a:r>
          </a:p>
        </p:txBody>
      </p:sp>
      <p:sp>
        <p:nvSpPr>
          <p:cNvPr id="82" name="文本框 8">
            <a:extLst>
              <a:ext uri="{FF2B5EF4-FFF2-40B4-BE49-F238E27FC236}">
                <a16:creationId xmlns:a16="http://schemas.microsoft.com/office/drawing/2014/main" xmlns="" id="{15DB90D2-6A6C-A051-2A51-67730A65D203}"/>
              </a:ext>
            </a:extLst>
          </p:cNvPr>
          <p:cNvSpPr txBox="1"/>
          <p:nvPr/>
        </p:nvSpPr>
        <p:spPr>
          <a:xfrm>
            <a:off x="7735144" y="4327523"/>
            <a:ext cx="2814870" cy="496246"/>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en-US" altLang="zh-CN" sz="24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ea typeface="字魂143号-正酷超级黑" pitchFamily="2" charset="-122"/>
                <a:cs typeface="Times New Roman" panose="02020603050405020304" pitchFamily="18" charset="0"/>
                <a:sym typeface="+mn-lt"/>
              </a:rPr>
              <a:t>Php</a:t>
            </a:r>
          </a:p>
        </p:txBody>
      </p:sp>
      <p:sp>
        <p:nvSpPr>
          <p:cNvPr id="83" name="文本框 8">
            <a:extLst>
              <a:ext uri="{FF2B5EF4-FFF2-40B4-BE49-F238E27FC236}">
                <a16:creationId xmlns:a16="http://schemas.microsoft.com/office/drawing/2014/main" xmlns="" id="{27EC3AAE-9DB4-FDD9-73F3-7D54160DBDCE}"/>
              </a:ext>
            </a:extLst>
          </p:cNvPr>
          <p:cNvSpPr txBox="1"/>
          <p:nvPr/>
        </p:nvSpPr>
        <p:spPr>
          <a:xfrm>
            <a:off x="7735144" y="4849563"/>
            <a:ext cx="2814870" cy="496246"/>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dist"/>
            <a:r>
              <a:rPr lang="en-US" altLang="zh-CN" sz="24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ea typeface="字魂143号-正酷超级黑" pitchFamily="2" charset="-122"/>
                <a:cs typeface="Times New Roman" panose="02020603050405020304" pitchFamily="18" charset="0"/>
                <a:sym typeface="+mn-lt"/>
              </a:rPr>
              <a:t>Window</a:t>
            </a:r>
            <a:r>
              <a:rPr lang="en-US" altLang="zh-CN" sz="24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字魂143号-正酷超级黑" pitchFamily="2" charset="-122"/>
                <a:ea typeface="字魂143号-正酷超级黑" pitchFamily="2" charset="-122"/>
                <a:cs typeface="+mn-ea"/>
                <a:sym typeface="+mn-lt"/>
              </a:rPr>
              <a:t> </a:t>
            </a:r>
            <a:r>
              <a:rPr lang="en-US" altLang="zh-CN" sz="24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字魂143号-正酷超级黑" pitchFamily="2" charset="-122"/>
                <a:ea typeface="字魂143号-正酷超级黑" pitchFamily="2" charset="-122"/>
                <a:cs typeface="+mn-ea"/>
                <a:sym typeface="+mn-lt"/>
              </a:rPr>
              <a:t>10</a:t>
            </a:r>
            <a:endParaRPr lang="en-US" altLang="zh-CN" sz="24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字魂143号-正酷超级黑" pitchFamily="2" charset="-122"/>
              <a:ea typeface="字魂143号-正酷超级黑" pitchFamily="2" charset="-122"/>
              <a:cs typeface="+mn-ea"/>
              <a:sym typeface="+mn-lt"/>
            </a:endParaRPr>
          </a:p>
        </p:txBody>
      </p:sp>
    </p:spTree>
    <p:extLst>
      <p:ext uri="{BB962C8B-B14F-4D97-AF65-F5344CB8AC3E}">
        <p14:creationId xmlns:p14="http://schemas.microsoft.com/office/powerpoint/2010/main" xmlns="" val="3527597523"/>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0"/>
                                  </p:stCondLst>
                                  <p:iterate type="lt">
                                    <p:tmPct val="5000"/>
                                  </p:iterate>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1500" fill="hold"/>
                                        <p:tgtEl>
                                          <p:spTgt spid="11"/>
                                        </p:tgtEl>
                                        <p:attrNameLst>
                                          <p:attrName>ppt_x</p:attrName>
                                        </p:attrNameLst>
                                      </p:cBhvr>
                                      <p:tavLst>
                                        <p:tav tm="0">
                                          <p:val>
                                            <p:strVal val="#ppt_x"/>
                                          </p:val>
                                        </p:tav>
                                        <p:tav tm="100000">
                                          <p:val>
                                            <p:strVal val="#ppt_x"/>
                                          </p:val>
                                        </p:tav>
                                      </p:tavLst>
                                    </p:anim>
                                    <p:anim calcmode="lin" valueType="num">
                                      <p:cBhvr additive="base">
                                        <p:cTn id="17" dur="1500" fill="hold"/>
                                        <p:tgtEl>
                                          <p:spTgt spid="11"/>
                                        </p:tgtEl>
                                        <p:attrNameLst>
                                          <p:attrName>ppt_y</p:attrName>
                                        </p:attrNameLst>
                                      </p:cBhvr>
                                      <p:tavLst>
                                        <p:tav tm="0">
                                          <p:val>
                                            <p:strVal val="0-#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73"/>
                                        </p:tgtEl>
                                        <p:attrNameLst>
                                          <p:attrName>style.visibility</p:attrName>
                                        </p:attrNameLst>
                                      </p:cBhvr>
                                      <p:to>
                                        <p:strVal val="visible"/>
                                      </p:to>
                                    </p:set>
                                    <p:anim calcmode="lin" valueType="num">
                                      <p:cBhvr additive="base">
                                        <p:cTn id="20" dur="500" fill="hold"/>
                                        <p:tgtEl>
                                          <p:spTgt spid="73"/>
                                        </p:tgtEl>
                                        <p:attrNameLst>
                                          <p:attrName>ppt_x</p:attrName>
                                        </p:attrNameLst>
                                      </p:cBhvr>
                                      <p:tavLst>
                                        <p:tav tm="0">
                                          <p:val>
                                            <p:strVal val="#ppt_x"/>
                                          </p:val>
                                        </p:tav>
                                        <p:tav tm="100000">
                                          <p:val>
                                            <p:strVal val="#ppt_x"/>
                                          </p:val>
                                        </p:tav>
                                      </p:tavLst>
                                    </p:anim>
                                    <p:anim calcmode="lin" valueType="num">
                                      <p:cBhvr additive="base">
                                        <p:cTn id="21" dur="500" fill="hold"/>
                                        <p:tgtEl>
                                          <p:spTgt spid="73"/>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74"/>
                                        </p:tgtEl>
                                        <p:attrNameLst>
                                          <p:attrName>style.visibility</p:attrName>
                                        </p:attrNameLst>
                                      </p:cBhvr>
                                      <p:to>
                                        <p:strVal val="visible"/>
                                      </p:to>
                                    </p:set>
                                    <p:anim calcmode="lin" valueType="num">
                                      <p:cBhvr additive="base">
                                        <p:cTn id="24" dur="500" fill="hold"/>
                                        <p:tgtEl>
                                          <p:spTgt spid="74"/>
                                        </p:tgtEl>
                                        <p:attrNameLst>
                                          <p:attrName>ppt_x</p:attrName>
                                        </p:attrNameLst>
                                      </p:cBhvr>
                                      <p:tavLst>
                                        <p:tav tm="0">
                                          <p:val>
                                            <p:strVal val="#ppt_x"/>
                                          </p:val>
                                        </p:tav>
                                        <p:tav tm="100000">
                                          <p:val>
                                            <p:strVal val="#ppt_x"/>
                                          </p:val>
                                        </p:tav>
                                      </p:tavLst>
                                    </p:anim>
                                    <p:anim calcmode="lin" valueType="num">
                                      <p:cBhvr additive="base">
                                        <p:cTn id="25" dur="500" fill="hold"/>
                                        <p:tgtEl>
                                          <p:spTgt spid="74"/>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75"/>
                                        </p:tgtEl>
                                        <p:attrNameLst>
                                          <p:attrName>style.visibility</p:attrName>
                                        </p:attrNameLst>
                                      </p:cBhvr>
                                      <p:to>
                                        <p:strVal val="visible"/>
                                      </p:to>
                                    </p:set>
                                    <p:anim calcmode="lin" valueType="num">
                                      <p:cBhvr additive="base">
                                        <p:cTn id="28" dur="500" fill="hold"/>
                                        <p:tgtEl>
                                          <p:spTgt spid="75"/>
                                        </p:tgtEl>
                                        <p:attrNameLst>
                                          <p:attrName>ppt_x</p:attrName>
                                        </p:attrNameLst>
                                      </p:cBhvr>
                                      <p:tavLst>
                                        <p:tav tm="0">
                                          <p:val>
                                            <p:strVal val="#ppt_x"/>
                                          </p:val>
                                        </p:tav>
                                        <p:tav tm="100000">
                                          <p:val>
                                            <p:strVal val="#ppt_x"/>
                                          </p:val>
                                        </p:tav>
                                      </p:tavLst>
                                    </p:anim>
                                    <p:anim calcmode="lin" valueType="num">
                                      <p:cBhvr additive="base">
                                        <p:cTn id="29" dur="500" fill="hold"/>
                                        <p:tgtEl>
                                          <p:spTgt spid="75"/>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76"/>
                                        </p:tgtEl>
                                        <p:attrNameLst>
                                          <p:attrName>style.visibility</p:attrName>
                                        </p:attrNameLst>
                                      </p:cBhvr>
                                      <p:to>
                                        <p:strVal val="visible"/>
                                      </p:to>
                                    </p:set>
                                    <p:anim calcmode="lin" valueType="num">
                                      <p:cBhvr additive="base">
                                        <p:cTn id="32" dur="500" fill="hold"/>
                                        <p:tgtEl>
                                          <p:spTgt spid="76"/>
                                        </p:tgtEl>
                                        <p:attrNameLst>
                                          <p:attrName>ppt_x</p:attrName>
                                        </p:attrNameLst>
                                      </p:cBhvr>
                                      <p:tavLst>
                                        <p:tav tm="0">
                                          <p:val>
                                            <p:strVal val="#ppt_x"/>
                                          </p:val>
                                        </p:tav>
                                        <p:tav tm="100000">
                                          <p:val>
                                            <p:strVal val="#ppt_x"/>
                                          </p:val>
                                        </p:tav>
                                      </p:tavLst>
                                    </p:anim>
                                    <p:anim calcmode="lin" valueType="num">
                                      <p:cBhvr additive="base">
                                        <p:cTn id="33" dur="500" fill="hold"/>
                                        <p:tgtEl>
                                          <p:spTgt spid="76"/>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77"/>
                                        </p:tgtEl>
                                        <p:attrNameLst>
                                          <p:attrName>style.visibility</p:attrName>
                                        </p:attrNameLst>
                                      </p:cBhvr>
                                      <p:to>
                                        <p:strVal val="visible"/>
                                      </p:to>
                                    </p:set>
                                    <p:anim calcmode="lin" valueType="num">
                                      <p:cBhvr additive="base">
                                        <p:cTn id="36" dur="500" fill="hold"/>
                                        <p:tgtEl>
                                          <p:spTgt spid="77"/>
                                        </p:tgtEl>
                                        <p:attrNameLst>
                                          <p:attrName>ppt_x</p:attrName>
                                        </p:attrNameLst>
                                      </p:cBhvr>
                                      <p:tavLst>
                                        <p:tav tm="0">
                                          <p:val>
                                            <p:strVal val="#ppt_x"/>
                                          </p:val>
                                        </p:tav>
                                        <p:tav tm="100000">
                                          <p:val>
                                            <p:strVal val="#ppt_x"/>
                                          </p:val>
                                        </p:tav>
                                      </p:tavLst>
                                    </p:anim>
                                    <p:anim calcmode="lin" valueType="num">
                                      <p:cBhvr additive="base">
                                        <p:cTn id="37" dur="500" fill="hold"/>
                                        <p:tgtEl>
                                          <p:spTgt spid="7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78"/>
                                        </p:tgtEl>
                                        <p:attrNameLst>
                                          <p:attrName>style.visibility</p:attrName>
                                        </p:attrNameLst>
                                      </p:cBhvr>
                                      <p:to>
                                        <p:strVal val="visible"/>
                                      </p:to>
                                    </p:set>
                                    <p:anim calcmode="lin" valueType="num">
                                      <p:cBhvr additive="base">
                                        <p:cTn id="40" dur="500" fill="hold"/>
                                        <p:tgtEl>
                                          <p:spTgt spid="78"/>
                                        </p:tgtEl>
                                        <p:attrNameLst>
                                          <p:attrName>ppt_x</p:attrName>
                                        </p:attrNameLst>
                                      </p:cBhvr>
                                      <p:tavLst>
                                        <p:tav tm="0">
                                          <p:val>
                                            <p:strVal val="#ppt_x"/>
                                          </p:val>
                                        </p:tav>
                                        <p:tav tm="100000">
                                          <p:val>
                                            <p:strVal val="#ppt_x"/>
                                          </p:val>
                                        </p:tav>
                                      </p:tavLst>
                                    </p:anim>
                                    <p:anim calcmode="lin" valueType="num">
                                      <p:cBhvr additive="base">
                                        <p:cTn id="41" dur="500" fill="hold"/>
                                        <p:tgtEl>
                                          <p:spTgt spid="78"/>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79"/>
                                        </p:tgtEl>
                                        <p:attrNameLst>
                                          <p:attrName>style.visibility</p:attrName>
                                        </p:attrNameLst>
                                      </p:cBhvr>
                                      <p:to>
                                        <p:strVal val="visible"/>
                                      </p:to>
                                    </p:set>
                                    <p:anim calcmode="lin" valueType="num">
                                      <p:cBhvr additive="base">
                                        <p:cTn id="44" dur="500" fill="hold"/>
                                        <p:tgtEl>
                                          <p:spTgt spid="79"/>
                                        </p:tgtEl>
                                        <p:attrNameLst>
                                          <p:attrName>ppt_x</p:attrName>
                                        </p:attrNameLst>
                                      </p:cBhvr>
                                      <p:tavLst>
                                        <p:tav tm="0">
                                          <p:val>
                                            <p:strVal val="#ppt_x"/>
                                          </p:val>
                                        </p:tav>
                                        <p:tav tm="100000">
                                          <p:val>
                                            <p:strVal val="#ppt_x"/>
                                          </p:val>
                                        </p:tav>
                                      </p:tavLst>
                                    </p:anim>
                                    <p:anim calcmode="lin" valueType="num">
                                      <p:cBhvr additive="base">
                                        <p:cTn id="45" dur="500" fill="hold"/>
                                        <p:tgtEl>
                                          <p:spTgt spid="79"/>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80"/>
                                        </p:tgtEl>
                                        <p:attrNameLst>
                                          <p:attrName>style.visibility</p:attrName>
                                        </p:attrNameLst>
                                      </p:cBhvr>
                                      <p:to>
                                        <p:strVal val="visible"/>
                                      </p:to>
                                    </p:set>
                                    <p:anim calcmode="lin" valueType="num">
                                      <p:cBhvr additive="base">
                                        <p:cTn id="48" dur="500" fill="hold"/>
                                        <p:tgtEl>
                                          <p:spTgt spid="80"/>
                                        </p:tgtEl>
                                        <p:attrNameLst>
                                          <p:attrName>ppt_x</p:attrName>
                                        </p:attrNameLst>
                                      </p:cBhvr>
                                      <p:tavLst>
                                        <p:tav tm="0">
                                          <p:val>
                                            <p:strVal val="#ppt_x"/>
                                          </p:val>
                                        </p:tav>
                                        <p:tav tm="100000">
                                          <p:val>
                                            <p:strVal val="#ppt_x"/>
                                          </p:val>
                                        </p:tav>
                                      </p:tavLst>
                                    </p:anim>
                                    <p:anim calcmode="lin" valueType="num">
                                      <p:cBhvr additive="base">
                                        <p:cTn id="49" dur="500" fill="hold"/>
                                        <p:tgtEl>
                                          <p:spTgt spid="80"/>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81"/>
                                        </p:tgtEl>
                                        <p:attrNameLst>
                                          <p:attrName>style.visibility</p:attrName>
                                        </p:attrNameLst>
                                      </p:cBhvr>
                                      <p:to>
                                        <p:strVal val="visible"/>
                                      </p:to>
                                    </p:set>
                                    <p:anim calcmode="lin" valueType="num">
                                      <p:cBhvr additive="base">
                                        <p:cTn id="52" dur="500" fill="hold"/>
                                        <p:tgtEl>
                                          <p:spTgt spid="81"/>
                                        </p:tgtEl>
                                        <p:attrNameLst>
                                          <p:attrName>ppt_x</p:attrName>
                                        </p:attrNameLst>
                                      </p:cBhvr>
                                      <p:tavLst>
                                        <p:tav tm="0">
                                          <p:val>
                                            <p:strVal val="#ppt_x"/>
                                          </p:val>
                                        </p:tav>
                                        <p:tav tm="100000">
                                          <p:val>
                                            <p:strVal val="#ppt_x"/>
                                          </p:val>
                                        </p:tav>
                                      </p:tavLst>
                                    </p:anim>
                                    <p:anim calcmode="lin" valueType="num">
                                      <p:cBhvr additive="base">
                                        <p:cTn id="53" dur="500" fill="hold"/>
                                        <p:tgtEl>
                                          <p:spTgt spid="81"/>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82"/>
                                        </p:tgtEl>
                                        <p:attrNameLst>
                                          <p:attrName>style.visibility</p:attrName>
                                        </p:attrNameLst>
                                      </p:cBhvr>
                                      <p:to>
                                        <p:strVal val="visible"/>
                                      </p:to>
                                    </p:set>
                                    <p:anim calcmode="lin" valueType="num">
                                      <p:cBhvr additive="base">
                                        <p:cTn id="56" dur="500" fill="hold"/>
                                        <p:tgtEl>
                                          <p:spTgt spid="82"/>
                                        </p:tgtEl>
                                        <p:attrNameLst>
                                          <p:attrName>ppt_x</p:attrName>
                                        </p:attrNameLst>
                                      </p:cBhvr>
                                      <p:tavLst>
                                        <p:tav tm="0">
                                          <p:val>
                                            <p:strVal val="#ppt_x"/>
                                          </p:val>
                                        </p:tav>
                                        <p:tav tm="100000">
                                          <p:val>
                                            <p:strVal val="#ppt_x"/>
                                          </p:val>
                                        </p:tav>
                                      </p:tavLst>
                                    </p:anim>
                                    <p:anim calcmode="lin" valueType="num">
                                      <p:cBhvr additive="base">
                                        <p:cTn id="57" dur="500" fill="hold"/>
                                        <p:tgtEl>
                                          <p:spTgt spid="82"/>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83"/>
                                        </p:tgtEl>
                                        <p:attrNameLst>
                                          <p:attrName>style.visibility</p:attrName>
                                        </p:attrNameLst>
                                      </p:cBhvr>
                                      <p:to>
                                        <p:strVal val="visible"/>
                                      </p:to>
                                    </p:set>
                                    <p:anim calcmode="lin" valueType="num">
                                      <p:cBhvr additive="base">
                                        <p:cTn id="60" dur="500" fill="hold"/>
                                        <p:tgtEl>
                                          <p:spTgt spid="83"/>
                                        </p:tgtEl>
                                        <p:attrNameLst>
                                          <p:attrName>ppt_x</p:attrName>
                                        </p:attrNameLst>
                                      </p:cBhvr>
                                      <p:tavLst>
                                        <p:tav tm="0">
                                          <p:val>
                                            <p:strVal val="#ppt_x"/>
                                          </p:val>
                                        </p:tav>
                                        <p:tav tm="100000">
                                          <p:val>
                                            <p:strVal val="#ppt_x"/>
                                          </p:val>
                                        </p:tav>
                                      </p:tavLst>
                                    </p:anim>
                                    <p:anim calcmode="lin" valueType="num">
                                      <p:cBhvr additive="base">
                                        <p:cTn id="61"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p:bldP spid="73" grpId="0"/>
      <p:bldP spid="74" grpId="0"/>
      <p:bldP spid="75" grpId="0"/>
      <p:bldP spid="76" grpId="0"/>
      <p:bldP spid="77" grpId="0"/>
      <p:bldP spid="78" grpId="0"/>
      <p:bldP spid="79" grpId="0"/>
      <p:bldP spid="80" grpId="0"/>
      <p:bldP spid="81" grpId="0"/>
      <p:bldP spid="82" grpId="0"/>
      <p:bldP spid="8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4" name="iṡḻiḑe">
            <a:extLst>
              <a:ext uri="{FF2B5EF4-FFF2-40B4-BE49-F238E27FC236}">
                <a16:creationId xmlns:a16="http://schemas.microsoft.com/office/drawing/2014/main" xmlns="" id="{37B3AA45-E69B-402D-A189-7C486BD46E31}"/>
              </a:ext>
            </a:extLst>
          </p:cNvPr>
          <p:cNvSpPr/>
          <p:nvPr/>
        </p:nvSpPr>
        <p:spPr>
          <a:xfrm>
            <a:off x="315249" y="2942085"/>
            <a:ext cx="5549901" cy="1278480"/>
          </a:xfrm>
          <a:prstGeom prst="rect">
            <a:avLst/>
          </a:prstGeom>
        </p:spPr>
        <p:txBody>
          <a:bodyPr>
            <a:noAutofit/>
          </a:bodyPr>
          <a:lstStyle/>
          <a:p>
            <a:pPr>
              <a:buSzPct val="25000"/>
            </a:pPr>
            <a:r>
              <a:rPr lang="en-US" altLang="zh-CN" sz="4800" dirty="0">
                <a:ln w="18415" cmpd="sng">
                  <a:solidFill>
                    <a:srgbClr val="FFFFFF"/>
                  </a:solidFill>
                  <a:prstDash val="solid"/>
                </a:ln>
                <a:solidFill>
                  <a:srgbClr val="FFFFFF"/>
                </a:solidFill>
                <a:effectLst>
                  <a:outerShdw blurRad="63500" dir="3600000" algn="tl" rotWithShape="0">
                    <a:srgbClr val="000000">
                      <a:alpha val="70000"/>
                    </a:srgbClr>
                  </a:outerShdw>
                </a:effectLst>
              </a:rPr>
              <a:t>PROJECT</a:t>
            </a:r>
          </a:p>
        </p:txBody>
      </p:sp>
      <p:pic>
        <p:nvPicPr>
          <p:cNvPr id="6" name="图片 5">
            <a:extLst>
              <a:ext uri="{FF2B5EF4-FFF2-40B4-BE49-F238E27FC236}">
                <a16:creationId xmlns:a16="http://schemas.microsoft.com/office/drawing/2014/main" xmlns="" id="{810E5E7B-C08D-A532-89F2-90C7C77B3DAC}"/>
              </a:ext>
            </a:extLst>
          </p:cNvPr>
          <p:cNvPicPr>
            <a:picLocks noChangeAspect="1"/>
          </p:cNvPicPr>
          <p:nvPr/>
        </p:nvPicPr>
        <p:blipFill>
          <a:blip r:embed="rId3" cstate="print"/>
          <a:stretch>
            <a:fillRect/>
          </a:stretch>
        </p:blipFill>
        <p:spPr>
          <a:xfrm>
            <a:off x="4810125" y="543527"/>
            <a:ext cx="6619876" cy="502775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iṡḻiḑe">
            <a:extLst>
              <a:ext uri="{FF2B5EF4-FFF2-40B4-BE49-F238E27FC236}">
                <a16:creationId xmlns:a16="http://schemas.microsoft.com/office/drawing/2014/main" xmlns="" id="{5ECF20CF-A98E-F2B4-E672-08254E9F80ED}"/>
              </a:ext>
            </a:extLst>
          </p:cNvPr>
          <p:cNvSpPr/>
          <p:nvPr/>
        </p:nvSpPr>
        <p:spPr>
          <a:xfrm>
            <a:off x="546098" y="2847469"/>
            <a:ext cx="5549901" cy="1278480"/>
          </a:xfrm>
          <a:prstGeom prst="rect">
            <a:avLst/>
          </a:prstGeom>
        </p:spPr>
        <p:txBody>
          <a:bodyPr>
            <a:noAutofit/>
          </a:bodyPr>
          <a:lstStyle/>
          <a:p>
            <a:pPr>
              <a:buSzPct val="25000"/>
            </a:pPr>
            <a:endParaRPr lang="en-US" altLang="zh-CN" sz="4000" b="1" dirty="0"/>
          </a:p>
        </p:txBody>
      </p:sp>
      <p:sp>
        <p:nvSpPr>
          <p:cNvPr id="3" name="iṡḻiḑe">
            <a:extLst>
              <a:ext uri="{FF2B5EF4-FFF2-40B4-BE49-F238E27FC236}">
                <a16:creationId xmlns:a16="http://schemas.microsoft.com/office/drawing/2014/main" xmlns="" id="{330BC5EB-C99A-D3EF-3031-C6CEDA5F6241}"/>
              </a:ext>
            </a:extLst>
          </p:cNvPr>
          <p:cNvSpPr/>
          <p:nvPr/>
        </p:nvSpPr>
        <p:spPr>
          <a:xfrm>
            <a:off x="388890" y="3600787"/>
            <a:ext cx="2248703" cy="639240"/>
          </a:xfrm>
          <a:prstGeom prst="rect">
            <a:avLst/>
          </a:prstGeom>
        </p:spPr>
        <p:txBody>
          <a:bodyPr>
            <a:noAutofit/>
          </a:bodyPr>
          <a:lstStyle/>
          <a:p>
            <a:pPr>
              <a:buSzPct val="25000"/>
            </a:pPr>
            <a:r>
              <a:rPr lang="en-US" altLang="zh-CN" sz="2400" dirty="0">
                <a:ln w="18415" cmpd="sng">
                  <a:solidFill>
                    <a:srgbClr val="FFFFFF"/>
                  </a:solidFill>
                  <a:prstDash val="solid"/>
                </a:ln>
                <a:solidFill>
                  <a:srgbClr val="FFFFFF"/>
                </a:solidFill>
                <a:effectLst>
                  <a:outerShdw blurRad="63500" dir="3600000" algn="tl" rotWithShape="0">
                    <a:srgbClr val="000000">
                      <a:alpha val="70000"/>
                    </a:srgbClr>
                  </a:outerShdw>
                </a:effectLst>
              </a:rPr>
              <a:t>INTRODUCTION</a:t>
            </a:r>
            <a:r>
              <a:rPr lang="en-US" altLang="zh-CN" sz="2400" dirty="0"/>
              <a:t> </a:t>
            </a:r>
          </a:p>
        </p:txBody>
      </p:sp>
      <p:sp>
        <p:nvSpPr>
          <p:cNvPr id="5" name="ï$ľiḍè">
            <a:extLst>
              <a:ext uri="{FF2B5EF4-FFF2-40B4-BE49-F238E27FC236}">
                <a16:creationId xmlns:a16="http://schemas.microsoft.com/office/drawing/2014/main" xmlns="" id="{7C04F637-A65B-EA29-3194-03AA96BE9B2F}"/>
              </a:ext>
            </a:extLst>
          </p:cNvPr>
          <p:cNvSpPr/>
          <p:nvPr/>
        </p:nvSpPr>
        <p:spPr>
          <a:xfrm>
            <a:off x="1009058" y="1714704"/>
            <a:ext cx="1097280" cy="1097280"/>
          </a:xfrm>
          <a:prstGeom prst="ellipse">
            <a:avLst/>
          </a:prstGeom>
          <a:solidFill>
            <a:srgbClr val="FFCF37"/>
          </a:solidFill>
          <a:ln w="15875"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endParaRPr lang="en-US" altLang="zh-CN" sz="2400" b="1" dirty="0">
              <a:solidFill>
                <a:schemeClr val="tx1"/>
              </a:solidFill>
              <a:cs typeface="+mn-ea"/>
              <a:sym typeface="+mn-lt"/>
            </a:endParaRPr>
          </a:p>
        </p:txBody>
      </p:sp>
      <p:sp>
        <p:nvSpPr>
          <p:cNvPr id="7" name="iṡḻíde">
            <a:extLst>
              <a:ext uri="{FF2B5EF4-FFF2-40B4-BE49-F238E27FC236}">
                <a16:creationId xmlns:a16="http://schemas.microsoft.com/office/drawing/2014/main" xmlns="" id="{4FE27E5E-E722-C962-8C72-477D990BB2FD}"/>
              </a:ext>
            </a:extLst>
          </p:cNvPr>
          <p:cNvSpPr/>
          <p:nvPr/>
        </p:nvSpPr>
        <p:spPr>
          <a:xfrm>
            <a:off x="1128833" y="1861448"/>
            <a:ext cx="822960" cy="822960"/>
          </a:xfrm>
          <a:prstGeom prst="ellipse">
            <a:avLst/>
          </a:prstGeom>
          <a:solidFill>
            <a:schemeClr val="accent2"/>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r>
              <a:rPr lang="en-US" altLang="zh-CN" sz="2400" b="1" dirty="0">
                <a:solidFill>
                  <a:schemeClr val="tx1"/>
                </a:solidFill>
                <a:cs typeface="+mn-ea"/>
                <a:sym typeface="+mn-lt"/>
              </a:rPr>
              <a:t>2</a:t>
            </a:r>
          </a:p>
        </p:txBody>
      </p:sp>
      <p:sp>
        <p:nvSpPr>
          <p:cNvPr id="9" name="Rectangle 8"/>
          <p:cNvSpPr/>
          <p:nvPr/>
        </p:nvSpPr>
        <p:spPr>
          <a:xfrm>
            <a:off x="228600" y="314325"/>
            <a:ext cx="1943100" cy="1323439"/>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ONLINE FURNITURE</a:t>
            </a:r>
          </a:p>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ORDERING SYSTEM</a:t>
            </a:r>
            <a:endParaRPr lang="en-US" altLang="en-U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endParaRPr>
          </a:p>
        </p:txBody>
      </p:sp>
    </p:spTree>
    <p:custDataLst>
      <p:tags r:id="rId1"/>
    </p:custDataLst>
    <p:extLst>
      <p:ext uri="{BB962C8B-B14F-4D97-AF65-F5344CB8AC3E}">
        <p14:creationId xmlns:p14="http://schemas.microsoft.com/office/powerpoint/2010/main" xmlns="" val="2140774214"/>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70" name="文本框 10" descr="e7d195523061f1c0c30ee18c1b05f65d12b38e2533cb2ccdAE0CC34CB5CBEBFAEC353FED4DECE97C3E379FD1D933F5E4DC18EF8EA6B7A1130D5F6DE9DD2BE4B0A8C9126ACE5083D1F5A9E323B29CCFC723947F2A7770FFCFC0136AC2E9358C416F4A10C6952D33DA63038E460805E61AD394230B9BB5ED30CDD32E0864C96BD7869770F58DC06A0E">
            <a:extLst>
              <a:ext uri="{FF2B5EF4-FFF2-40B4-BE49-F238E27FC236}">
                <a16:creationId xmlns:a16="http://schemas.microsoft.com/office/drawing/2014/main" xmlns="" id="{4750551F-2196-C453-05C4-EC541688DEFF}"/>
              </a:ext>
            </a:extLst>
          </p:cNvPr>
          <p:cNvSpPr txBox="1"/>
          <p:nvPr/>
        </p:nvSpPr>
        <p:spPr>
          <a:xfrm>
            <a:off x="3505199" y="734903"/>
            <a:ext cx="4505325" cy="707886"/>
          </a:xfrm>
          <a:prstGeom prst="rect">
            <a:avLst/>
          </a:prstGeom>
          <a:noFill/>
        </p:spPr>
        <p:txBody>
          <a:bodyPr wrap="none" rtlCol="0">
            <a:normAutofit/>
          </a:bodyPr>
          <a:lstStyle/>
          <a:p>
            <a:pPr algn="ctr"/>
            <a:r>
              <a:rPr lang="en-US" sz="4000" b="1" u="sng" dirty="0" smtClean="0">
                <a:solidFill>
                  <a:schemeClr val="tx1">
                    <a:lumMod val="95000"/>
                    <a:lumOff val="5000"/>
                  </a:schemeClr>
                </a:solidFill>
                <a:latin typeface="Source Han Sans SC"/>
                <a:ea typeface="Source Han Sans SC"/>
                <a:cs typeface="+mn-ea"/>
                <a:sym typeface="+mn-lt"/>
              </a:rPr>
              <a:t>ABOUT PROJECT:-</a:t>
            </a:r>
            <a:endParaRPr lang="en-US" sz="4000" u="sng" dirty="0">
              <a:solidFill>
                <a:schemeClr val="tx1">
                  <a:lumMod val="95000"/>
                  <a:lumOff val="5000"/>
                </a:schemeClr>
              </a:solidFill>
              <a:latin typeface="Source Han Sans SC"/>
              <a:ea typeface="Source Han Sans SC"/>
              <a:cs typeface="+mn-ea"/>
              <a:sym typeface="+mn-lt"/>
            </a:endParaRPr>
          </a:p>
        </p:txBody>
      </p:sp>
      <p:sp>
        <p:nvSpPr>
          <p:cNvPr id="71" name="iśḻíḑè">
            <a:extLst>
              <a:ext uri="{FF2B5EF4-FFF2-40B4-BE49-F238E27FC236}">
                <a16:creationId xmlns:a16="http://schemas.microsoft.com/office/drawing/2014/main" xmlns="" id="{269FE6A2-BDFF-28C3-98A5-A4CF604810A2}"/>
              </a:ext>
            </a:extLst>
          </p:cNvPr>
          <p:cNvSpPr txBox="1"/>
          <p:nvPr/>
        </p:nvSpPr>
        <p:spPr>
          <a:xfrm>
            <a:off x="729686" y="2110601"/>
            <a:ext cx="6395014" cy="2813824"/>
          </a:xfrm>
          <a:prstGeom prst="rect">
            <a:avLst/>
          </a:prstGeom>
          <a:noFill/>
        </p:spPr>
        <p:txBody>
          <a:bodyPr wrap="square" lIns="91440" tIns="45720" rIns="91440" bIns="45720">
            <a:noAutofit/>
          </a:bodyPr>
          <a:lstStyle/>
          <a:p>
            <a:pPr marL="342900" indent="-342900">
              <a:lnSpc>
                <a:spcPct val="128000"/>
              </a:lnSpc>
              <a:buFont typeface="Wingdings" panose="05000000000000000000" pitchFamily="2" charset="2"/>
              <a:buChar char="Ø"/>
            </a:pPr>
            <a:r>
              <a:rPr lang="en-US" sz="2000" b="1" kern="0" dirty="0" smtClean="0">
                <a:solidFill>
                  <a:schemeClr val="bg1">
                    <a:lumMod val="95000"/>
                  </a:schemeClr>
                </a:solidFill>
                <a:effectLst/>
                <a:latin typeface="Times New Roman" panose="02020603050405020304" pitchFamily="18" charset="0"/>
                <a:ea typeface="Calibri" panose="020F0502020204030204" pitchFamily="34" charset="0"/>
              </a:rPr>
              <a:t>“</a:t>
            </a:r>
            <a:r>
              <a:rPr lang="en-US" sz="2000" kern="0" dirty="0" smtClean="0">
                <a:solidFill>
                  <a:schemeClr val="bg1">
                    <a:lumMod val="95000"/>
                  </a:schemeClr>
                </a:solidFill>
                <a:latin typeface="Times New Roman" panose="02020603050405020304" pitchFamily="18" charset="0"/>
                <a:ea typeface="Calibri" panose="020F0502020204030204" pitchFamily="34" charset="0"/>
              </a:rPr>
              <a:t>My furni</a:t>
            </a:r>
            <a:r>
              <a:rPr lang="en-US" sz="2000" kern="0" dirty="0" smtClean="0">
                <a:solidFill>
                  <a:schemeClr val="bg1">
                    <a:lumMod val="95000"/>
                  </a:schemeClr>
                </a:solidFill>
                <a:effectLst/>
                <a:latin typeface="Times New Roman" panose="02020603050405020304" pitchFamily="18" charset="0"/>
                <a:ea typeface="Calibri" panose="020F0502020204030204" pitchFamily="34" charset="0"/>
              </a:rPr>
              <a:t>” </a:t>
            </a:r>
            <a:r>
              <a:rPr lang="en-US" sz="2000" kern="0" dirty="0">
                <a:solidFill>
                  <a:schemeClr val="bg1">
                    <a:lumMod val="95000"/>
                  </a:schemeClr>
                </a:solidFill>
                <a:effectLst/>
                <a:latin typeface="Times New Roman" panose="02020603050405020304" pitchFamily="18" charset="0"/>
                <a:ea typeface="Calibri" panose="020F0502020204030204" pitchFamily="34" charset="0"/>
              </a:rPr>
              <a:t>is a web-based application that provides facility to user to order </a:t>
            </a:r>
            <a:r>
              <a:rPr lang="en-US" sz="2000" kern="0" dirty="0" smtClean="0">
                <a:solidFill>
                  <a:schemeClr val="bg1">
                    <a:lumMod val="95000"/>
                  </a:schemeClr>
                </a:solidFill>
                <a:latin typeface="Times New Roman" panose="02020603050405020304" pitchFamily="18" charset="0"/>
                <a:ea typeface="Calibri" panose="020F0502020204030204" pitchFamily="34" charset="0"/>
              </a:rPr>
              <a:t>Furniture item</a:t>
            </a:r>
            <a:r>
              <a:rPr lang="en-US" sz="2000" kern="0" dirty="0" smtClean="0">
                <a:solidFill>
                  <a:schemeClr val="bg1">
                    <a:lumMod val="95000"/>
                  </a:schemeClr>
                </a:solidFill>
                <a:effectLst/>
                <a:latin typeface="Times New Roman" panose="02020603050405020304" pitchFamily="18" charset="0"/>
                <a:ea typeface="Calibri" panose="020F0502020204030204" pitchFamily="34" charset="0"/>
              </a:rPr>
              <a:t> </a:t>
            </a:r>
            <a:r>
              <a:rPr lang="en-US" sz="2000" kern="0" dirty="0">
                <a:solidFill>
                  <a:schemeClr val="bg1">
                    <a:lumMod val="95000"/>
                  </a:schemeClr>
                </a:solidFill>
                <a:effectLst/>
                <a:latin typeface="Times New Roman" panose="02020603050405020304" pitchFamily="18" charset="0"/>
                <a:ea typeface="Calibri" panose="020F0502020204030204" pitchFamily="34" charset="0"/>
              </a:rPr>
              <a:t>online.</a:t>
            </a:r>
            <a:endParaRPr lang="en-US" altLang="en-US" sz="2000" b="1" i="1" dirty="0">
              <a:solidFill>
                <a:schemeClr val="bg1">
                  <a:lumMod val="95000"/>
                </a:schemeClr>
              </a:solidFill>
            </a:endParaRPr>
          </a:p>
        </p:txBody>
      </p:sp>
      <p:sp>
        <p:nvSpPr>
          <p:cNvPr id="92" name="TextBox 91">
            <a:extLst>
              <a:ext uri="{FF2B5EF4-FFF2-40B4-BE49-F238E27FC236}">
                <a16:creationId xmlns:a16="http://schemas.microsoft.com/office/drawing/2014/main" xmlns="" id="{B6170D58-3502-8512-91C3-65AE311C5259}"/>
              </a:ext>
            </a:extLst>
          </p:cNvPr>
          <p:cNvSpPr txBox="1"/>
          <p:nvPr/>
        </p:nvSpPr>
        <p:spPr>
          <a:xfrm>
            <a:off x="729686" y="3613163"/>
            <a:ext cx="6357936" cy="1628779"/>
          </a:xfrm>
          <a:prstGeom prst="rect">
            <a:avLst/>
          </a:prstGeom>
          <a:noFill/>
        </p:spPr>
        <p:txBody>
          <a:bodyPr wrap="square">
            <a:spAutoFit/>
          </a:bodyPr>
          <a:lstStyle/>
          <a:p>
            <a:pPr marL="342900" indent="-342900">
              <a:lnSpc>
                <a:spcPct val="128000"/>
              </a:lnSpc>
              <a:buFont typeface="Wingdings" panose="05000000000000000000" pitchFamily="2" charset="2"/>
              <a:buChar char="Ø"/>
            </a:pPr>
            <a:r>
              <a:rPr lang="en-US"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In the online </a:t>
            </a:r>
            <a:r>
              <a:rPr lang="en-US" sz="2000" dirty="0" smtClean="0">
                <a:solidFill>
                  <a:schemeClr val="bg1">
                    <a:lumMod val="95000"/>
                  </a:schemeClr>
                </a:solidFill>
                <a:latin typeface="Times New Roman" panose="02020603050405020304" pitchFamily="18" charset="0"/>
                <a:ea typeface="Calibri" panose="020F0502020204030204" pitchFamily="34" charset="0"/>
                <a:cs typeface="Times New Roman" panose="02020603050405020304" pitchFamily="18" charset="0"/>
              </a:rPr>
              <a:t>Furniture</a:t>
            </a:r>
            <a:r>
              <a:rPr lang="en-US" sz="2000" dirty="0" smtClean="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order system the user is able to     order the </a:t>
            </a:r>
            <a:r>
              <a:rPr lang="en-US" sz="2000" dirty="0" smtClean="0">
                <a:solidFill>
                  <a:schemeClr val="bg1">
                    <a:lumMod val="95000"/>
                  </a:schemeClr>
                </a:solidFill>
                <a:latin typeface="Times New Roman" panose="02020603050405020304" pitchFamily="18" charset="0"/>
                <a:ea typeface="Calibri" panose="020F0502020204030204" pitchFamily="34" charset="0"/>
                <a:cs typeface="Times New Roman" panose="02020603050405020304" pitchFamily="18" charset="0"/>
              </a:rPr>
              <a:t>Furniture</a:t>
            </a:r>
            <a:r>
              <a:rPr lang="en-US" sz="2000" dirty="0" smtClean="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from anywhere after giving his/her authentication online.</a:t>
            </a:r>
            <a:endParaRPr lang="en-IN" sz="2000" dirty="0">
              <a:solidFill>
                <a:schemeClr val="bg1">
                  <a:lumMod val="95000"/>
                </a:schemeClr>
              </a:solidFill>
              <a:effectLst/>
              <a:latin typeface="Times New Roman" panose="02020603050405020304" pitchFamily="18" charset="0"/>
              <a:ea typeface="Calibri" panose="020F0502020204030204" pitchFamily="34" charset="0"/>
              <a:cs typeface="Shruti" panose="020B0502040204020203" pitchFamily="34" charset="0"/>
            </a:endParaRPr>
          </a:p>
          <a:p>
            <a:pPr>
              <a:lnSpc>
                <a:spcPct val="128000"/>
              </a:lnSpc>
            </a:pPr>
            <a:endParaRPr lang="en-US" altLang="en-US" sz="1800" b="1" i="1" dirty="0">
              <a:solidFill>
                <a:schemeClr val="tx1">
                  <a:lumMod val="75000"/>
                  <a:lumOff val="25000"/>
                </a:schemeClr>
              </a:solidFill>
            </a:endParaRPr>
          </a:p>
        </p:txBody>
      </p:sp>
    </p:spTree>
    <p:custDataLst>
      <p:tags r:id="rId1"/>
    </p:custDataLst>
    <p:extLst>
      <p:ext uri="{BB962C8B-B14F-4D97-AF65-F5344CB8AC3E}">
        <p14:creationId xmlns:p14="http://schemas.microsoft.com/office/powerpoint/2010/main" xmlns="" val="2911281743"/>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iterate type="lt">
                                    <p:tmPct val="5000"/>
                                  </p:iterate>
                                  <p:childTnLst>
                                    <p:set>
                                      <p:cBhvr>
                                        <p:cTn id="6" dur="1" fill="hold">
                                          <p:stCondLst>
                                            <p:cond delay="0"/>
                                          </p:stCondLst>
                                        </p:cTn>
                                        <p:tgtEl>
                                          <p:spTgt spid="70"/>
                                        </p:tgtEl>
                                        <p:attrNameLst>
                                          <p:attrName>style.visibility</p:attrName>
                                        </p:attrNameLst>
                                      </p:cBhvr>
                                      <p:to>
                                        <p:strVal val="visible"/>
                                      </p:to>
                                    </p:set>
                                    <p:anim calcmode="lin" valueType="num">
                                      <p:cBhvr additive="base">
                                        <p:cTn id="7" dur="1500" fill="hold"/>
                                        <p:tgtEl>
                                          <p:spTgt spid="70"/>
                                        </p:tgtEl>
                                        <p:attrNameLst>
                                          <p:attrName>ppt_x</p:attrName>
                                        </p:attrNameLst>
                                      </p:cBhvr>
                                      <p:tavLst>
                                        <p:tav tm="0">
                                          <p:val>
                                            <p:strVal val="#ppt_x"/>
                                          </p:val>
                                        </p:tav>
                                        <p:tav tm="100000">
                                          <p:val>
                                            <p:strVal val="#ppt_x"/>
                                          </p:val>
                                        </p:tav>
                                      </p:tavLst>
                                    </p:anim>
                                    <p:anim calcmode="lin" valueType="num">
                                      <p:cBhvr additive="base">
                                        <p:cTn id="8" dur="1500" fill="hold"/>
                                        <p:tgtEl>
                                          <p:spTgt spid="7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grpSp>
        <p:nvGrpSpPr>
          <p:cNvPr id="4" name="ïşḻiḋè">
            <a:extLst>
              <a:ext uri="{FF2B5EF4-FFF2-40B4-BE49-F238E27FC236}">
                <a16:creationId xmlns:a16="http://schemas.microsoft.com/office/drawing/2014/main" xmlns="" id="{C667C405-37CB-47EF-8C93-9D437FADBE8B}"/>
              </a:ext>
            </a:extLst>
          </p:cNvPr>
          <p:cNvGrpSpPr/>
          <p:nvPr/>
        </p:nvGrpSpPr>
        <p:grpSpPr>
          <a:xfrm>
            <a:off x="3971452" y="2091412"/>
            <a:ext cx="4481116" cy="3537098"/>
            <a:chOff x="4874594" y="1624852"/>
            <a:chExt cx="2756170" cy="3537098"/>
          </a:xfrm>
        </p:grpSpPr>
        <p:sp>
          <p:nvSpPr>
            <p:cNvPr id="18" name="išļîḋê">
              <a:extLst>
                <a:ext uri="{FF2B5EF4-FFF2-40B4-BE49-F238E27FC236}">
                  <a16:creationId xmlns:a16="http://schemas.microsoft.com/office/drawing/2014/main" xmlns="" id="{6DBDEFE2-371F-4B07-9B35-3E492E6BFE98}"/>
                </a:ext>
              </a:extLst>
            </p:cNvPr>
            <p:cNvSpPr/>
            <p:nvPr/>
          </p:nvSpPr>
          <p:spPr>
            <a:xfrm>
              <a:off x="4969344" y="1729675"/>
              <a:ext cx="1017547" cy="1483242"/>
            </a:xfrm>
            <a:prstGeom prst="roundRect">
              <a:avLst>
                <a:gd name="adj" fmla="val 6631"/>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r>
                <a:rPr lang="en-US" sz="4400" b="1" i="1" dirty="0">
                  <a:solidFill>
                    <a:schemeClr val="bg1"/>
                  </a:solidFill>
                </a:rPr>
                <a:t>01</a:t>
              </a:r>
            </a:p>
          </p:txBody>
        </p:sp>
        <p:sp>
          <p:nvSpPr>
            <p:cNvPr id="19" name="íṧľïďê">
              <a:extLst>
                <a:ext uri="{FF2B5EF4-FFF2-40B4-BE49-F238E27FC236}">
                  <a16:creationId xmlns:a16="http://schemas.microsoft.com/office/drawing/2014/main" xmlns="" id="{1952EA25-BD71-4A53-8710-7D00432861E0}"/>
                </a:ext>
              </a:extLst>
            </p:cNvPr>
            <p:cNvSpPr/>
            <p:nvPr/>
          </p:nvSpPr>
          <p:spPr>
            <a:xfrm>
              <a:off x="4874594" y="1624852"/>
              <a:ext cx="1207048" cy="1674771"/>
            </a:xfrm>
            <a:prstGeom prst="roundRect">
              <a:avLst>
                <a:gd name="adj" fmla="val 6631"/>
              </a:avLst>
            </a:prstGeom>
            <a:noFill/>
            <a:ln w="12700" cap="flat" cmpd="sng" algn="ctr">
              <a:solidFill>
                <a:schemeClr val="accent1">
                  <a:lumMod val="100000"/>
                </a:schemeClr>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lnSpc>
                  <a:spcPct val="150000"/>
                </a:lnSpc>
              </a:pPr>
              <a:endParaRPr dirty="0"/>
            </a:p>
          </p:txBody>
        </p:sp>
        <p:sp>
          <p:nvSpPr>
            <p:cNvPr id="20" name="îŝ1ïdê">
              <a:extLst>
                <a:ext uri="{FF2B5EF4-FFF2-40B4-BE49-F238E27FC236}">
                  <a16:creationId xmlns:a16="http://schemas.microsoft.com/office/drawing/2014/main" xmlns="" id="{A3339FFD-300A-4ACA-8132-9C5307300D77}"/>
                </a:ext>
              </a:extLst>
            </p:cNvPr>
            <p:cNvSpPr/>
            <p:nvPr/>
          </p:nvSpPr>
          <p:spPr>
            <a:xfrm>
              <a:off x="6460163" y="1729675"/>
              <a:ext cx="1076570" cy="1483242"/>
            </a:xfrm>
            <a:prstGeom prst="roundRect">
              <a:avLst>
                <a:gd name="adj" fmla="val 6631"/>
              </a:avLst>
            </a:prstGeom>
            <a:solidFill>
              <a:srgbClr val="FFD44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r>
                <a:rPr lang="en-US" sz="4400" b="1" i="1" dirty="0">
                  <a:solidFill>
                    <a:schemeClr val="tx1"/>
                  </a:solidFill>
                </a:rPr>
                <a:t>02</a:t>
              </a:r>
            </a:p>
          </p:txBody>
        </p:sp>
        <p:sp>
          <p:nvSpPr>
            <p:cNvPr id="21" name="iş1ídê">
              <a:extLst>
                <a:ext uri="{FF2B5EF4-FFF2-40B4-BE49-F238E27FC236}">
                  <a16:creationId xmlns:a16="http://schemas.microsoft.com/office/drawing/2014/main" xmlns="" id="{2CF4ABB4-4906-471F-B78A-FF17E0761DED}"/>
                </a:ext>
              </a:extLst>
            </p:cNvPr>
            <p:cNvSpPr/>
            <p:nvPr/>
          </p:nvSpPr>
          <p:spPr>
            <a:xfrm>
              <a:off x="6366134" y="1624852"/>
              <a:ext cx="1264630" cy="1674771"/>
            </a:xfrm>
            <a:prstGeom prst="roundRect">
              <a:avLst>
                <a:gd name="adj" fmla="val 6631"/>
              </a:avLst>
            </a:prstGeom>
            <a:noFill/>
            <a:ln w="12700" cap="flat" cmpd="sng" algn="ctr">
              <a:solidFill>
                <a:schemeClr val="tx1"/>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lnSpc>
                  <a:spcPct val="150000"/>
                </a:lnSpc>
              </a:pPr>
              <a:endParaRPr dirty="0"/>
            </a:p>
          </p:txBody>
        </p:sp>
        <p:sp>
          <p:nvSpPr>
            <p:cNvPr id="22" name="ïṧḻíḓe">
              <a:extLst>
                <a:ext uri="{FF2B5EF4-FFF2-40B4-BE49-F238E27FC236}">
                  <a16:creationId xmlns:a16="http://schemas.microsoft.com/office/drawing/2014/main" xmlns="" id="{0295CC22-54C4-4E6D-B20F-ACC619C90FBC}"/>
                </a:ext>
              </a:extLst>
            </p:cNvPr>
            <p:cNvSpPr/>
            <p:nvPr/>
          </p:nvSpPr>
          <p:spPr>
            <a:xfrm>
              <a:off x="4995532" y="3558377"/>
              <a:ext cx="1017547" cy="1483242"/>
            </a:xfrm>
            <a:prstGeom prst="roundRect">
              <a:avLst>
                <a:gd name="adj" fmla="val 6631"/>
              </a:avLst>
            </a:prstGeom>
            <a:solidFill>
              <a:srgbClr val="FFD3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r>
                <a:rPr lang="en-US" sz="4400" b="1" i="1" dirty="0">
                  <a:solidFill>
                    <a:schemeClr val="tx1"/>
                  </a:solidFill>
                </a:rPr>
                <a:t>03</a:t>
              </a:r>
            </a:p>
          </p:txBody>
        </p:sp>
        <p:sp>
          <p:nvSpPr>
            <p:cNvPr id="23" name="íṡ1ïḑé">
              <a:extLst>
                <a:ext uri="{FF2B5EF4-FFF2-40B4-BE49-F238E27FC236}">
                  <a16:creationId xmlns:a16="http://schemas.microsoft.com/office/drawing/2014/main" xmlns="" id="{11BCB314-199C-4945-837C-C7A9F555629B}"/>
                </a:ext>
              </a:extLst>
            </p:cNvPr>
            <p:cNvSpPr/>
            <p:nvPr/>
          </p:nvSpPr>
          <p:spPr>
            <a:xfrm>
              <a:off x="4900781" y="3462612"/>
              <a:ext cx="1207049" cy="1674771"/>
            </a:xfrm>
            <a:prstGeom prst="roundRect">
              <a:avLst>
                <a:gd name="adj" fmla="val 6631"/>
              </a:avLst>
            </a:prstGeom>
            <a:noFill/>
            <a:ln w="12700" cap="flat" cmpd="sng" algn="ctr">
              <a:solidFill>
                <a:schemeClr val="tx1"/>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lnSpc>
                  <a:spcPct val="150000"/>
                </a:lnSpc>
              </a:pPr>
              <a:endParaRPr dirty="0"/>
            </a:p>
          </p:txBody>
        </p:sp>
        <p:sp>
          <p:nvSpPr>
            <p:cNvPr id="24" name="ïṩḻiḍe">
              <a:extLst>
                <a:ext uri="{FF2B5EF4-FFF2-40B4-BE49-F238E27FC236}">
                  <a16:creationId xmlns:a16="http://schemas.microsoft.com/office/drawing/2014/main" xmlns="" id="{3B09B6BE-3537-4A89-A024-CDB35D89716C}"/>
                </a:ext>
              </a:extLst>
            </p:cNvPr>
            <p:cNvSpPr/>
            <p:nvPr/>
          </p:nvSpPr>
          <p:spPr>
            <a:xfrm>
              <a:off x="6460163" y="3582943"/>
              <a:ext cx="1076570" cy="1483242"/>
            </a:xfrm>
            <a:prstGeom prst="roundRect">
              <a:avLst>
                <a:gd name="adj" fmla="val 6631"/>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r>
                <a:rPr lang="en-US" sz="4400" b="1" i="1" dirty="0">
                  <a:solidFill>
                    <a:schemeClr val="bg1"/>
                  </a:solidFill>
                </a:rPr>
                <a:t>04</a:t>
              </a:r>
            </a:p>
          </p:txBody>
        </p:sp>
        <p:sp>
          <p:nvSpPr>
            <p:cNvPr id="25" name="îṩḷiḍè">
              <a:extLst>
                <a:ext uri="{FF2B5EF4-FFF2-40B4-BE49-F238E27FC236}">
                  <a16:creationId xmlns:a16="http://schemas.microsoft.com/office/drawing/2014/main" xmlns="" id="{1458CAC0-9D72-47AB-9162-C118FBBB261F}"/>
                </a:ext>
              </a:extLst>
            </p:cNvPr>
            <p:cNvSpPr/>
            <p:nvPr/>
          </p:nvSpPr>
          <p:spPr>
            <a:xfrm>
              <a:off x="6366134" y="3487179"/>
              <a:ext cx="1264629" cy="1674771"/>
            </a:xfrm>
            <a:prstGeom prst="roundRect">
              <a:avLst>
                <a:gd name="adj" fmla="val 6631"/>
              </a:avLst>
            </a:prstGeom>
            <a:noFill/>
            <a:ln w="12700" cap="flat" cmpd="sng" algn="ctr">
              <a:solidFill>
                <a:schemeClr val="accent1"/>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lnSpc>
                  <a:spcPct val="150000"/>
                </a:lnSpc>
              </a:pPr>
              <a:endParaRPr dirty="0"/>
            </a:p>
          </p:txBody>
        </p:sp>
      </p:grpSp>
      <p:sp>
        <p:nvSpPr>
          <p:cNvPr id="26" name="TextBox 25">
            <a:extLst>
              <a:ext uri="{FF2B5EF4-FFF2-40B4-BE49-F238E27FC236}">
                <a16:creationId xmlns:a16="http://schemas.microsoft.com/office/drawing/2014/main" xmlns="" id="{504AE6DD-FE8F-638B-4304-0EB511AB2164}"/>
              </a:ext>
            </a:extLst>
          </p:cNvPr>
          <p:cNvSpPr txBox="1"/>
          <p:nvPr/>
        </p:nvSpPr>
        <p:spPr>
          <a:xfrm>
            <a:off x="1330127" y="787324"/>
            <a:ext cx="6096000" cy="646331"/>
          </a:xfrm>
          <a:prstGeom prst="rect">
            <a:avLst/>
          </a:prstGeom>
          <a:noFill/>
        </p:spPr>
        <p:txBody>
          <a:bodyPr wrap="square">
            <a:spAutoFit/>
          </a:bodyPr>
          <a:lstStyle/>
          <a:p>
            <a:pPr algn="ctr"/>
            <a:r>
              <a:rPr lang="en-US" sz="3600" b="1" u="sng" dirty="0">
                <a:solidFill>
                  <a:schemeClr val="tx1">
                    <a:lumMod val="95000"/>
                    <a:lumOff val="5000"/>
                  </a:schemeClr>
                </a:solidFill>
                <a:latin typeface="Source Han Sans SC"/>
                <a:ea typeface="Source Han Sans SC"/>
                <a:cs typeface="+mn-ea"/>
                <a:sym typeface="+mn-lt"/>
              </a:rPr>
              <a:t>OBJECTIVES OF SYSTEM </a:t>
            </a:r>
            <a:r>
              <a:rPr lang="en-US" sz="3600" u="sng" dirty="0">
                <a:solidFill>
                  <a:schemeClr val="tx1">
                    <a:lumMod val="95000"/>
                    <a:lumOff val="5000"/>
                  </a:schemeClr>
                </a:solidFill>
                <a:latin typeface="Source Han Sans SC"/>
                <a:ea typeface="Source Han Sans SC"/>
                <a:cs typeface="+mn-ea"/>
                <a:sym typeface="+mn-lt"/>
              </a:rPr>
              <a:t>: </a:t>
            </a:r>
          </a:p>
        </p:txBody>
      </p:sp>
      <p:cxnSp>
        <p:nvCxnSpPr>
          <p:cNvPr id="145" name="i$ḷidé">
            <a:extLst>
              <a:ext uri="{FF2B5EF4-FFF2-40B4-BE49-F238E27FC236}">
                <a16:creationId xmlns:a16="http://schemas.microsoft.com/office/drawing/2014/main" xmlns="" id="{AF6C5DFF-9D14-F012-368B-3051EAA54C4C}"/>
              </a:ext>
            </a:extLst>
          </p:cNvPr>
          <p:cNvCxnSpPr>
            <a:cxnSpLocks/>
          </p:cNvCxnSpPr>
          <p:nvPr/>
        </p:nvCxnSpPr>
        <p:spPr>
          <a:xfrm flipH="1">
            <a:off x="3295650" y="2889603"/>
            <a:ext cx="532000" cy="0"/>
          </a:xfrm>
          <a:prstGeom prst="line">
            <a:avLst/>
          </a:prstGeom>
          <a:ln w="19050" cap="rnd">
            <a:solidFill>
              <a:schemeClr val="accent1"/>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147" name="i$ḷidé">
            <a:extLst>
              <a:ext uri="{FF2B5EF4-FFF2-40B4-BE49-F238E27FC236}">
                <a16:creationId xmlns:a16="http://schemas.microsoft.com/office/drawing/2014/main" xmlns="" id="{EEEFD4FD-786E-18AB-0D5A-559248AC2BC7}"/>
              </a:ext>
            </a:extLst>
          </p:cNvPr>
          <p:cNvCxnSpPr>
            <a:cxnSpLocks/>
          </p:cNvCxnSpPr>
          <p:nvPr/>
        </p:nvCxnSpPr>
        <p:spPr>
          <a:xfrm flipH="1">
            <a:off x="8605837" y="4791124"/>
            <a:ext cx="523875" cy="0"/>
          </a:xfrm>
          <a:prstGeom prst="line">
            <a:avLst/>
          </a:prstGeom>
          <a:ln w="19050" cap="rnd">
            <a:solidFill>
              <a:schemeClr val="accent1"/>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150" name="i$ḷidé">
            <a:extLst>
              <a:ext uri="{FF2B5EF4-FFF2-40B4-BE49-F238E27FC236}">
                <a16:creationId xmlns:a16="http://schemas.microsoft.com/office/drawing/2014/main" xmlns="" id="{F89DEAE2-2227-456A-F6F8-B099626625FF}"/>
              </a:ext>
            </a:extLst>
          </p:cNvPr>
          <p:cNvCxnSpPr>
            <a:cxnSpLocks/>
          </p:cNvCxnSpPr>
          <p:nvPr/>
        </p:nvCxnSpPr>
        <p:spPr>
          <a:xfrm flipH="1">
            <a:off x="3352100" y="4766557"/>
            <a:ext cx="523875" cy="0"/>
          </a:xfrm>
          <a:prstGeom prst="line">
            <a:avLst/>
          </a:prstGeom>
          <a:ln w="19050" cap="rnd">
            <a:solidFill>
              <a:schemeClr val="accent1"/>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151" name="i$ḷidé">
            <a:extLst>
              <a:ext uri="{FF2B5EF4-FFF2-40B4-BE49-F238E27FC236}">
                <a16:creationId xmlns:a16="http://schemas.microsoft.com/office/drawing/2014/main" xmlns="" id="{CCA66DC6-9896-0228-C1E8-EFBDD7D88904}"/>
              </a:ext>
            </a:extLst>
          </p:cNvPr>
          <p:cNvCxnSpPr>
            <a:cxnSpLocks/>
          </p:cNvCxnSpPr>
          <p:nvPr/>
        </p:nvCxnSpPr>
        <p:spPr>
          <a:xfrm flipH="1">
            <a:off x="8524875" y="2889603"/>
            <a:ext cx="523875" cy="0"/>
          </a:xfrm>
          <a:prstGeom prst="line">
            <a:avLst/>
          </a:prstGeom>
          <a:ln w="19050" cap="rnd">
            <a:solidFill>
              <a:schemeClr val="accent1"/>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a16="http://schemas.microsoft.com/office/drawing/2014/main" xmlns="" id="{A9BE557D-8BA8-2865-2DA2-F7A19B17C169}"/>
              </a:ext>
            </a:extLst>
          </p:cNvPr>
          <p:cNvSpPr txBox="1"/>
          <p:nvPr/>
        </p:nvSpPr>
        <p:spPr>
          <a:xfrm>
            <a:off x="1457325" y="2403765"/>
            <a:ext cx="1838325" cy="981423"/>
          </a:xfrm>
          <a:prstGeom prst="rect">
            <a:avLst/>
          </a:prstGeom>
          <a:noFill/>
        </p:spPr>
        <p:txBody>
          <a:bodyPr wrap="square">
            <a:spAutoFit/>
          </a:bodyPr>
          <a:lstStyle/>
          <a:p>
            <a:pPr marR="0" lvl="0">
              <a:lnSpc>
                <a:spcPct val="107000"/>
              </a:lnSpc>
              <a:spcBef>
                <a:spcPts val="0"/>
              </a:spcBef>
              <a:spcAft>
                <a:spcPts val="800"/>
              </a:spcAft>
            </a:pPr>
            <a:r>
              <a:rPr lang="en-US" sz="1800" dirty="0">
                <a:solidFill>
                  <a:schemeClr val="bg1">
                    <a:lumMod val="9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Manage the information</a:t>
            </a:r>
            <a:r>
              <a:rPr lang="en-US" dirty="0">
                <a:solidFill>
                  <a:schemeClr val="bg1">
                    <a:lumMod val="95000"/>
                  </a:schemeClr>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chemeClr val="bg1">
                    <a:lumMod val="9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of  Category.</a:t>
            </a:r>
            <a:endParaRPr lang="en-IN" sz="1100" dirty="0">
              <a:solidFill>
                <a:schemeClr val="bg1">
                  <a:lumMod val="9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55" name="TextBox 154">
            <a:extLst>
              <a:ext uri="{FF2B5EF4-FFF2-40B4-BE49-F238E27FC236}">
                <a16:creationId xmlns:a16="http://schemas.microsoft.com/office/drawing/2014/main" xmlns="" id="{2CB69A85-3FC4-502A-563A-59838301952E}"/>
              </a:ext>
            </a:extLst>
          </p:cNvPr>
          <p:cNvSpPr txBox="1"/>
          <p:nvPr/>
        </p:nvSpPr>
        <p:spPr>
          <a:xfrm>
            <a:off x="1317180" y="4244508"/>
            <a:ext cx="2244470" cy="1200329"/>
          </a:xfrm>
          <a:prstGeom prst="rect">
            <a:avLst/>
          </a:prstGeom>
          <a:noFill/>
        </p:spPr>
        <p:txBody>
          <a:bodyPr wrap="square">
            <a:spAutoFit/>
          </a:bodyPr>
          <a:lstStyle/>
          <a:p>
            <a:r>
              <a:rPr lang="en-US" sz="1800" kern="0" dirty="0">
                <a:solidFill>
                  <a:schemeClr val="bg1">
                    <a:lumMod val="95000"/>
                  </a:schemeClr>
                </a:solidFill>
                <a:effectLst/>
                <a:latin typeface="Times New Roman" panose="02020603050405020304" pitchFamily="18" charset="0"/>
                <a:ea typeface="Calibri" panose="020F0502020204030204" pitchFamily="34" charset="0"/>
                <a:cs typeface="Shruti" panose="020B0502040204020203" pitchFamily="34" charset="0"/>
              </a:rPr>
              <a:t>Provides new user registration facility   for the security purpose.</a:t>
            </a:r>
            <a:endParaRPr lang="en-IN" dirty="0">
              <a:solidFill>
                <a:schemeClr val="bg1">
                  <a:lumMod val="95000"/>
                </a:schemeClr>
              </a:solidFill>
            </a:endParaRPr>
          </a:p>
        </p:txBody>
      </p:sp>
      <p:sp>
        <p:nvSpPr>
          <p:cNvPr id="157" name="TextBox 156">
            <a:extLst>
              <a:ext uri="{FF2B5EF4-FFF2-40B4-BE49-F238E27FC236}">
                <a16:creationId xmlns:a16="http://schemas.microsoft.com/office/drawing/2014/main" xmlns="" id="{44D3DBA7-F2E1-317B-A2A2-6FD3B6640626}"/>
              </a:ext>
            </a:extLst>
          </p:cNvPr>
          <p:cNvSpPr txBox="1"/>
          <p:nvPr/>
        </p:nvSpPr>
        <p:spPr>
          <a:xfrm>
            <a:off x="9133307" y="2290280"/>
            <a:ext cx="3202735" cy="1477328"/>
          </a:xfrm>
          <a:prstGeom prst="rect">
            <a:avLst/>
          </a:prstGeom>
          <a:noFill/>
        </p:spPr>
        <p:txBody>
          <a:bodyPr wrap="square">
            <a:spAutoFit/>
          </a:bodyPr>
          <a:lstStyle/>
          <a:p>
            <a:r>
              <a:rPr lang="en-US" sz="1800" kern="0" dirty="0">
                <a:solidFill>
                  <a:schemeClr val="bg1">
                    <a:lumMod val="95000"/>
                  </a:schemeClr>
                </a:solidFill>
                <a:effectLst/>
                <a:latin typeface="Times New Roman" panose="02020603050405020304" pitchFamily="18" charset="0"/>
                <a:ea typeface="Calibri" panose="020F0502020204030204" pitchFamily="34" charset="0"/>
              </a:rPr>
              <a:t>The main objective of this system is simple &amp; secure  online </a:t>
            </a:r>
            <a:r>
              <a:rPr lang="en-US" sz="1800" kern="0" dirty="0" smtClean="0">
                <a:solidFill>
                  <a:schemeClr val="bg1">
                    <a:lumMod val="95000"/>
                  </a:schemeClr>
                </a:solidFill>
                <a:effectLst/>
                <a:latin typeface="Times New Roman" panose="02020603050405020304" pitchFamily="18" charset="0"/>
                <a:ea typeface="Calibri" panose="020F0502020204030204" pitchFamily="34" charset="0"/>
              </a:rPr>
              <a:t>furniture item </a:t>
            </a:r>
            <a:r>
              <a:rPr lang="en-US" sz="1800" kern="0" dirty="0">
                <a:solidFill>
                  <a:schemeClr val="bg1">
                    <a:lumMod val="95000"/>
                  </a:schemeClr>
                </a:solidFill>
                <a:effectLst/>
                <a:latin typeface="Times New Roman" panose="02020603050405020304" pitchFamily="18" charset="0"/>
                <a:ea typeface="Calibri" panose="020F0502020204030204" pitchFamily="34" charset="0"/>
              </a:rPr>
              <a:t>ordering with </a:t>
            </a:r>
            <a:r>
              <a:rPr lang="en-US" kern="0" dirty="0" smtClean="0">
                <a:solidFill>
                  <a:schemeClr val="bg1">
                    <a:lumMod val="95000"/>
                  </a:schemeClr>
                </a:solidFill>
                <a:latin typeface="Times New Roman" panose="02020603050405020304" pitchFamily="18" charset="0"/>
                <a:ea typeface="Calibri" panose="020F0502020204030204" pitchFamily="34" charset="0"/>
              </a:rPr>
              <a:t> </a:t>
            </a:r>
            <a:r>
              <a:rPr lang="en-US" sz="1800" kern="0" dirty="0" smtClean="0">
                <a:solidFill>
                  <a:schemeClr val="bg1">
                    <a:lumMod val="95000"/>
                  </a:schemeClr>
                </a:solidFill>
                <a:effectLst/>
                <a:latin typeface="Times New Roman" panose="02020603050405020304" pitchFamily="18" charset="0"/>
                <a:ea typeface="Calibri" panose="020F0502020204030204" pitchFamily="34" charset="0"/>
              </a:rPr>
              <a:t>the </a:t>
            </a:r>
            <a:r>
              <a:rPr lang="en-US" sz="1800" kern="0" dirty="0">
                <a:solidFill>
                  <a:schemeClr val="bg1">
                    <a:lumMod val="95000"/>
                  </a:schemeClr>
                </a:solidFill>
                <a:effectLst/>
                <a:latin typeface="Times New Roman" panose="02020603050405020304" pitchFamily="18" charset="0"/>
                <a:ea typeface="Calibri" panose="020F0502020204030204" pitchFamily="34" charset="0"/>
              </a:rPr>
              <a:t>help of computer and internet.</a:t>
            </a:r>
            <a:endParaRPr lang="en-IN" dirty="0">
              <a:solidFill>
                <a:schemeClr val="bg1">
                  <a:lumMod val="95000"/>
                </a:schemeClr>
              </a:solidFill>
            </a:endParaRPr>
          </a:p>
        </p:txBody>
      </p:sp>
      <p:sp>
        <p:nvSpPr>
          <p:cNvPr id="159" name="TextBox 158">
            <a:extLst>
              <a:ext uri="{FF2B5EF4-FFF2-40B4-BE49-F238E27FC236}">
                <a16:creationId xmlns:a16="http://schemas.microsoft.com/office/drawing/2014/main" xmlns="" id="{B5B190A6-CDC8-1C3C-E312-B6DD4F1BDFFF}"/>
              </a:ext>
            </a:extLst>
          </p:cNvPr>
          <p:cNvSpPr txBox="1"/>
          <p:nvPr/>
        </p:nvSpPr>
        <p:spPr>
          <a:xfrm>
            <a:off x="9282982" y="4429742"/>
            <a:ext cx="2632793" cy="1200329"/>
          </a:xfrm>
          <a:prstGeom prst="rect">
            <a:avLst/>
          </a:prstGeom>
          <a:noFill/>
        </p:spPr>
        <p:txBody>
          <a:bodyPr wrap="square">
            <a:spAutoFit/>
          </a:bodyPr>
          <a:lstStyle/>
          <a:p>
            <a:r>
              <a:rPr lang="en-US" sz="1800" kern="0" dirty="0">
                <a:solidFill>
                  <a:schemeClr val="bg1">
                    <a:lumMod val="95000"/>
                  </a:schemeClr>
                </a:solidFill>
                <a:effectLst/>
                <a:latin typeface="Times New Roman" panose="02020603050405020304" pitchFamily="18" charset="0"/>
                <a:ea typeface="Calibri" panose="020F0502020204030204" pitchFamily="34" charset="0"/>
                <a:cs typeface="Shruti" panose="020B0502040204020203" pitchFamily="34" charset="0"/>
              </a:rPr>
              <a:t>The main objective of this  system is to order </a:t>
            </a:r>
            <a:r>
              <a:rPr lang="en-US" sz="1800" kern="0" dirty="0" smtClean="0">
                <a:solidFill>
                  <a:schemeClr val="bg1">
                    <a:lumMod val="95000"/>
                  </a:schemeClr>
                </a:solidFill>
                <a:effectLst/>
                <a:latin typeface="Times New Roman" panose="02020603050405020304" pitchFamily="18" charset="0"/>
                <a:ea typeface="Calibri" panose="020F0502020204030204" pitchFamily="34" charset="0"/>
                <a:cs typeface="Shruti" panose="020B0502040204020203" pitchFamily="34" charset="0"/>
              </a:rPr>
              <a:t>furniture item </a:t>
            </a:r>
            <a:r>
              <a:rPr lang="en-US" sz="1800" kern="0" dirty="0">
                <a:solidFill>
                  <a:schemeClr val="bg1">
                    <a:lumMod val="95000"/>
                  </a:schemeClr>
                </a:solidFill>
                <a:effectLst/>
                <a:latin typeface="Times New Roman" panose="02020603050405020304" pitchFamily="18" charset="0"/>
                <a:ea typeface="Calibri" panose="020F0502020204030204" pitchFamily="34" charset="0"/>
                <a:cs typeface="Shruti" panose="020B0502040204020203" pitchFamily="34" charset="0"/>
              </a:rPr>
              <a:t>from anywhere.</a:t>
            </a:r>
            <a:endParaRPr lang="en-IN" dirty="0">
              <a:solidFill>
                <a:schemeClr val="bg1">
                  <a:lumMod val="95000"/>
                </a:schemeClr>
              </a:solidFill>
            </a:endParaRPr>
          </a:p>
        </p:txBody>
      </p:sp>
    </p:spTree>
    <p:custDataLst>
      <p:tags r:id="rId1"/>
    </p:custDataLst>
    <p:extLst>
      <p:ext uri="{BB962C8B-B14F-4D97-AF65-F5344CB8AC3E}">
        <p14:creationId xmlns:p14="http://schemas.microsoft.com/office/powerpoint/2010/main" xmlns="" val="172981429"/>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4" name="iṡḻiḑe">
            <a:extLst>
              <a:ext uri="{FF2B5EF4-FFF2-40B4-BE49-F238E27FC236}">
                <a16:creationId xmlns:a16="http://schemas.microsoft.com/office/drawing/2014/main" xmlns="" id="{37B3AA45-E69B-402D-A189-7C486BD46E31}"/>
              </a:ext>
            </a:extLst>
          </p:cNvPr>
          <p:cNvSpPr/>
          <p:nvPr/>
        </p:nvSpPr>
        <p:spPr>
          <a:xfrm>
            <a:off x="315249" y="3408810"/>
            <a:ext cx="5549901" cy="1278480"/>
          </a:xfrm>
          <a:prstGeom prst="rect">
            <a:avLst/>
          </a:prstGeom>
        </p:spPr>
        <p:txBody>
          <a:bodyPr>
            <a:noAutofit/>
          </a:bodyPr>
          <a:lstStyle/>
          <a:p>
            <a:pPr>
              <a:buSzPct val="25000"/>
            </a:pPr>
            <a:r>
              <a:rPr lang="en-US" altLang="zh-CN" sz="4800" b="1" dirty="0"/>
              <a:t>PROJECT</a:t>
            </a:r>
          </a:p>
        </p:txBody>
      </p:sp>
      <p:pic>
        <p:nvPicPr>
          <p:cNvPr id="6" name="图片 5">
            <a:extLst>
              <a:ext uri="{FF2B5EF4-FFF2-40B4-BE49-F238E27FC236}">
                <a16:creationId xmlns:a16="http://schemas.microsoft.com/office/drawing/2014/main" xmlns="" id="{810E5E7B-C08D-A532-89F2-90C7C77B3DAC}"/>
              </a:ext>
            </a:extLst>
          </p:cNvPr>
          <p:cNvPicPr>
            <a:picLocks noChangeAspect="1"/>
          </p:cNvPicPr>
          <p:nvPr/>
        </p:nvPicPr>
        <p:blipFill>
          <a:blip r:embed="rId3" cstate="print"/>
          <a:stretch>
            <a:fillRect/>
          </a:stretch>
        </p:blipFill>
        <p:spPr>
          <a:xfrm>
            <a:off x="3438525" y="368306"/>
            <a:ext cx="8315324" cy="616584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 name="iṡḻiḑe">
            <a:extLst>
              <a:ext uri="{FF2B5EF4-FFF2-40B4-BE49-F238E27FC236}">
                <a16:creationId xmlns:a16="http://schemas.microsoft.com/office/drawing/2014/main" xmlns="" id="{5ECF20CF-A98E-F2B4-E672-08254E9F80ED}"/>
              </a:ext>
            </a:extLst>
          </p:cNvPr>
          <p:cNvSpPr/>
          <p:nvPr/>
        </p:nvSpPr>
        <p:spPr>
          <a:xfrm>
            <a:off x="546098" y="2847469"/>
            <a:ext cx="5549901" cy="1278480"/>
          </a:xfrm>
          <a:prstGeom prst="rect">
            <a:avLst/>
          </a:prstGeom>
        </p:spPr>
        <p:txBody>
          <a:bodyPr>
            <a:noAutofit/>
          </a:bodyPr>
          <a:lstStyle/>
          <a:p>
            <a:pPr>
              <a:buSzPct val="25000"/>
            </a:pPr>
            <a:endParaRPr lang="en-US" altLang="zh-CN" sz="4000" b="1" dirty="0"/>
          </a:p>
        </p:txBody>
      </p:sp>
      <p:sp>
        <p:nvSpPr>
          <p:cNvPr id="3" name="iṡḻiḑe">
            <a:extLst>
              <a:ext uri="{FF2B5EF4-FFF2-40B4-BE49-F238E27FC236}">
                <a16:creationId xmlns:a16="http://schemas.microsoft.com/office/drawing/2014/main" xmlns="" id="{330BC5EB-C99A-D3EF-3031-C6CEDA5F6241}"/>
              </a:ext>
            </a:extLst>
          </p:cNvPr>
          <p:cNvSpPr/>
          <p:nvPr/>
        </p:nvSpPr>
        <p:spPr>
          <a:xfrm>
            <a:off x="321769" y="4142438"/>
            <a:ext cx="2359163" cy="639240"/>
          </a:xfrm>
          <a:prstGeom prst="rect">
            <a:avLst/>
          </a:prstGeom>
        </p:spPr>
        <p:txBody>
          <a:bodyPr>
            <a:noAutofit/>
          </a:bodyPr>
          <a:lstStyle/>
          <a:p>
            <a:pPr>
              <a:buSzPct val="25000"/>
            </a:pPr>
            <a:r>
              <a:rPr lang="en-US" altLang="zh-CN" sz="2400" dirty="0"/>
              <a:t>CONFIGURATION</a:t>
            </a:r>
            <a:r>
              <a:rPr lang="en-US" altLang="zh-CN" sz="2400" b="1" dirty="0"/>
              <a:t> </a:t>
            </a:r>
          </a:p>
        </p:txBody>
      </p:sp>
      <p:sp>
        <p:nvSpPr>
          <p:cNvPr id="5" name="ï$ľiḍè">
            <a:extLst>
              <a:ext uri="{FF2B5EF4-FFF2-40B4-BE49-F238E27FC236}">
                <a16:creationId xmlns:a16="http://schemas.microsoft.com/office/drawing/2014/main" xmlns="" id="{7C04F637-A65B-EA29-3194-03AA96BE9B2F}"/>
              </a:ext>
            </a:extLst>
          </p:cNvPr>
          <p:cNvSpPr/>
          <p:nvPr/>
        </p:nvSpPr>
        <p:spPr>
          <a:xfrm>
            <a:off x="1009058" y="2105229"/>
            <a:ext cx="1097280" cy="1097280"/>
          </a:xfrm>
          <a:prstGeom prst="ellipse">
            <a:avLst/>
          </a:prstGeom>
          <a:solidFill>
            <a:srgbClr val="FFCF37"/>
          </a:solidFill>
          <a:ln w="15875"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endParaRPr lang="en-US" altLang="zh-CN" sz="2400" b="1" dirty="0">
              <a:solidFill>
                <a:schemeClr val="tx1"/>
              </a:solidFill>
              <a:cs typeface="+mn-ea"/>
              <a:sym typeface="+mn-lt"/>
            </a:endParaRPr>
          </a:p>
        </p:txBody>
      </p:sp>
      <p:sp>
        <p:nvSpPr>
          <p:cNvPr id="7" name="iṡḻíde">
            <a:extLst>
              <a:ext uri="{FF2B5EF4-FFF2-40B4-BE49-F238E27FC236}">
                <a16:creationId xmlns:a16="http://schemas.microsoft.com/office/drawing/2014/main" xmlns="" id="{4FE27E5E-E722-C962-8C72-477D990BB2FD}"/>
              </a:ext>
            </a:extLst>
          </p:cNvPr>
          <p:cNvSpPr/>
          <p:nvPr/>
        </p:nvSpPr>
        <p:spPr>
          <a:xfrm>
            <a:off x="1128833" y="2271023"/>
            <a:ext cx="822960" cy="822960"/>
          </a:xfrm>
          <a:prstGeom prst="ellipse">
            <a:avLst/>
          </a:prstGeom>
          <a:solidFill>
            <a:schemeClr val="accent2"/>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r>
              <a:rPr lang="en-US" altLang="zh-CN" sz="2400" b="1" dirty="0">
                <a:solidFill>
                  <a:schemeClr val="tx1"/>
                </a:solidFill>
                <a:cs typeface="+mn-ea"/>
                <a:sym typeface="+mn-lt"/>
              </a:rPr>
              <a:t>3</a:t>
            </a:r>
          </a:p>
        </p:txBody>
      </p:sp>
      <p:sp>
        <p:nvSpPr>
          <p:cNvPr id="18" name="Rectangle 17"/>
          <p:cNvSpPr/>
          <p:nvPr/>
        </p:nvSpPr>
        <p:spPr>
          <a:xfrm>
            <a:off x="323850" y="323850"/>
            <a:ext cx="1943100" cy="1323439"/>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ONLINE FURNITURE</a:t>
            </a:r>
          </a:p>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ORDERING SYSTEM</a:t>
            </a:r>
            <a:endParaRPr lang="en-US" altLang="en-U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endParaRPr>
          </a:p>
        </p:txBody>
      </p:sp>
    </p:spTree>
    <p:custDataLst>
      <p:tags r:id="rId1"/>
    </p:custDataLst>
    <p:extLst>
      <p:ext uri="{BB962C8B-B14F-4D97-AF65-F5344CB8AC3E}">
        <p14:creationId xmlns:p14="http://schemas.microsoft.com/office/powerpoint/2010/main" xmlns="" val="2727197769"/>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70" name="文本框 10" descr="e7d195523061f1c0c30ee18c1b05f65d12b38e2533cb2ccdAE0CC34CB5CBEBFAEC353FED4DECE97C3E379FD1D933F5E4DC18EF8EA6B7A1130D5F6DE9DD2BE4B0A8C9126ACE5083D1F5A9E323B29CCFC723947F2A7770FFCFC0136AC2E9358C416F4A10C6952D33DA63038E460805E61AD394230B9BB5ED30CDD32E0864C96BD7869770F58DC06A0E">
            <a:extLst>
              <a:ext uri="{FF2B5EF4-FFF2-40B4-BE49-F238E27FC236}">
                <a16:creationId xmlns:a16="http://schemas.microsoft.com/office/drawing/2014/main" xmlns="" id="{4750551F-2196-C453-05C4-EC541688DEFF}"/>
              </a:ext>
            </a:extLst>
          </p:cNvPr>
          <p:cNvSpPr txBox="1"/>
          <p:nvPr/>
        </p:nvSpPr>
        <p:spPr>
          <a:xfrm>
            <a:off x="1771650" y="995731"/>
            <a:ext cx="6667500" cy="707886"/>
          </a:xfrm>
          <a:prstGeom prst="rect">
            <a:avLst/>
          </a:prstGeom>
          <a:noFill/>
        </p:spPr>
        <p:txBody>
          <a:bodyPr wrap="none" rtlCol="0">
            <a:normAutofit/>
          </a:bodyPr>
          <a:lstStyle/>
          <a:p>
            <a:pPr algn="ctr"/>
            <a:r>
              <a:rPr lang="en-US" sz="4000" b="1" u="sng" dirty="0">
                <a:solidFill>
                  <a:schemeClr val="tx1">
                    <a:lumMod val="95000"/>
                    <a:lumOff val="5000"/>
                  </a:schemeClr>
                </a:solidFill>
                <a:latin typeface="Source Han Sans SC"/>
                <a:ea typeface="Source Han Sans SC"/>
                <a:cs typeface="+mn-ea"/>
                <a:sym typeface="+mn-lt"/>
              </a:rPr>
              <a:t>HARDWARE SPECIFICATION </a:t>
            </a:r>
            <a:r>
              <a:rPr lang="en-US" sz="4000" u="sng" dirty="0">
                <a:solidFill>
                  <a:schemeClr val="tx1">
                    <a:lumMod val="95000"/>
                    <a:lumOff val="5000"/>
                  </a:schemeClr>
                </a:solidFill>
                <a:latin typeface="Source Han Sans SC"/>
                <a:ea typeface="Source Han Sans SC"/>
                <a:cs typeface="+mn-ea"/>
                <a:sym typeface="+mn-lt"/>
              </a:rPr>
              <a:t>: </a:t>
            </a:r>
          </a:p>
        </p:txBody>
      </p:sp>
      <p:sp>
        <p:nvSpPr>
          <p:cNvPr id="71" name="iśḻíḑè">
            <a:extLst>
              <a:ext uri="{FF2B5EF4-FFF2-40B4-BE49-F238E27FC236}">
                <a16:creationId xmlns:a16="http://schemas.microsoft.com/office/drawing/2014/main" xmlns="" id="{269FE6A2-BDFF-28C3-98A5-A4CF604810A2}"/>
              </a:ext>
            </a:extLst>
          </p:cNvPr>
          <p:cNvSpPr txBox="1"/>
          <p:nvPr/>
        </p:nvSpPr>
        <p:spPr>
          <a:xfrm>
            <a:off x="1419264" y="2298002"/>
            <a:ext cx="6518839" cy="2261996"/>
          </a:xfrm>
          <a:prstGeom prst="rect">
            <a:avLst/>
          </a:prstGeom>
          <a:noFill/>
        </p:spPr>
        <p:txBody>
          <a:bodyPr wrap="square" lIns="91440" tIns="45720" rIns="91440" bIns="45720">
            <a:noAutofit/>
          </a:bodyPr>
          <a:lstStyle/>
          <a:p>
            <a:pPr>
              <a:lnSpc>
                <a:spcPct val="200000"/>
              </a:lnSpc>
              <a:buFont typeface="Wingdings" panose="05000000000000000000" pitchFamily="2" charset="2"/>
              <a:buChar char="Ø"/>
            </a:pPr>
            <a:r>
              <a:rPr lang="en-US" b="1" u="sng" dirty="0">
                <a:latin typeface="Times New Roman" panose="02020603050405020304" pitchFamily="18" charset="0"/>
                <a:cs typeface="Times New Roman" panose="02020603050405020304" pitchFamily="18" charset="0"/>
              </a:rPr>
              <a:t>Hard Disk    </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a:solidFill>
                  <a:schemeClr val="bg1">
                    <a:lumMod val="95000"/>
                  </a:schemeClr>
                </a:solidFill>
                <a:latin typeface="Times New Roman" panose="02020603050405020304" pitchFamily="18" charset="0"/>
                <a:cs typeface="Times New Roman" panose="02020603050405020304" pitchFamily="18" charset="0"/>
              </a:rPr>
              <a:t>2Gb or more of free space</a:t>
            </a:r>
          </a:p>
          <a:p>
            <a:pPr>
              <a:lnSpc>
                <a:spcPct val="200000"/>
              </a:lnSpc>
              <a:buFont typeface="Wingdings" panose="05000000000000000000" pitchFamily="2" charset="2"/>
              <a:buChar char="Ø"/>
            </a:pPr>
            <a:r>
              <a:rPr lang="en-US" b="1" u="sng" dirty="0">
                <a:latin typeface="Times New Roman" panose="02020603050405020304" pitchFamily="18" charset="0"/>
                <a:cs typeface="Times New Roman" panose="02020603050405020304" pitchFamily="18" charset="0"/>
              </a:rPr>
              <a:t>RAM</a:t>
            </a:r>
            <a:r>
              <a:rPr lang="en-US" b="1" dirty="0">
                <a:latin typeface="Times New Roman" panose="02020603050405020304" pitchFamily="18" charset="0"/>
                <a:cs typeface="Times New Roman" panose="02020603050405020304" pitchFamily="18" charset="0"/>
              </a:rPr>
              <a:t>    </a:t>
            </a:r>
            <a:r>
              <a:rPr lang="en-US" b="1" dirty="0">
                <a:solidFill>
                  <a:schemeClr val="bg1">
                    <a:lumMod val="95000"/>
                  </a:schemeClr>
                </a:solidFill>
                <a:latin typeface="Times New Roman" panose="02020603050405020304" pitchFamily="18" charset="0"/>
                <a:cs typeface="Times New Roman" panose="02020603050405020304" pitchFamily="18" charset="0"/>
              </a:rPr>
              <a:t>        :   </a:t>
            </a:r>
            <a:r>
              <a:rPr lang="en-US" dirty="0">
                <a:solidFill>
                  <a:schemeClr val="bg1">
                    <a:lumMod val="95000"/>
                  </a:schemeClr>
                </a:solidFill>
                <a:latin typeface="Times New Roman" panose="02020603050405020304" pitchFamily="18" charset="0"/>
                <a:cs typeface="Times New Roman" panose="02020603050405020304" pitchFamily="18" charset="0"/>
              </a:rPr>
              <a:t>2GB / 4GB / 8GB RAM.</a:t>
            </a:r>
          </a:p>
          <a:p>
            <a:pPr>
              <a:lnSpc>
                <a:spcPct val="200000"/>
              </a:lnSpc>
              <a:buFont typeface="Wingdings" panose="05000000000000000000" pitchFamily="2" charset="2"/>
              <a:buChar char="Ø"/>
            </a:pPr>
            <a:r>
              <a:rPr lang="en-US" b="1" u="sng" dirty="0">
                <a:latin typeface="Times New Roman" panose="02020603050405020304" pitchFamily="18" charset="0"/>
                <a:cs typeface="Times New Roman" panose="02020603050405020304" pitchFamily="18" charset="0"/>
              </a:rPr>
              <a:t>Processor </a:t>
            </a:r>
            <a:r>
              <a:rPr lang="en-US" b="1" dirty="0">
                <a:solidFill>
                  <a:schemeClr val="bg1">
                    <a:lumMod val="95000"/>
                  </a:schemeClr>
                </a:solidFill>
                <a:latin typeface="Times New Roman" panose="02020603050405020304" pitchFamily="18" charset="0"/>
                <a:cs typeface="Times New Roman" panose="02020603050405020304" pitchFamily="18" charset="0"/>
              </a:rPr>
              <a:t>    :</a:t>
            </a:r>
            <a:r>
              <a:rPr lang="en-US" dirty="0">
                <a:solidFill>
                  <a:schemeClr val="bg1">
                    <a:lumMod val="95000"/>
                  </a:schemeClr>
                </a:solidFill>
                <a:latin typeface="Times New Roman" panose="02020603050405020304" pitchFamily="18" charset="0"/>
                <a:cs typeface="Times New Roman" panose="02020603050405020304" pitchFamily="18" charset="0"/>
              </a:rPr>
              <a:t>  Any computer processor of</a:t>
            </a:r>
            <a:r>
              <a:rPr lang="en-US" sz="2000" dirty="0">
                <a:solidFill>
                  <a:schemeClr val="bg1">
                    <a:lumMod val="95000"/>
                  </a:schemeClr>
                </a:solidFill>
                <a:latin typeface="Times New Roman" panose="02020603050405020304" pitchFamily="18" charset="0"/>
                <a:cs typeface="Times New Roman" panose="02020603050405020304" pitchFamily="18" charset="0"/>
              </a:rPr>
              <a:t> system supported.</a:t>
            </a:r>
          </a:p>
          <a:p>
            <a:pPr marL="342900" indent="-342900">
              <a:lnSpc>
                <a:spcPct val="128000"/>
              </a:lnSpc>
              <a:buFont typeface="Wingdings" panose="05000000000000000000" pitchFamily="2" charset="2"/>
              <a:buChar char="Ø"/>
            </a:pPr>
            <a:endParaRPr lang="en-US" altLang="en-US" sz="2000" b="1" i="1" dirty="0">
              <a:solidFill>
                <a:schemeClr val="tx1">
                  <a:lumMod val="75000"/>
                  <a:lumOff val="25000"/>
                </a:schemeClr>
              </a:solidFill>
            </a:endParaRPr>
          </a:p>
        </p:txBody>
      </p:sp>
      <p:sp>
        <p:nvSpPr>
          <p:cNvPr id="2" name="ïsḷïḑê">
            <a:extLst>
              <a:ext uri="{FF2B5EF4-FFF2-40B4-BE49-F238E27FC236}">
                <a16:creationId xmlns:a16="http://schemas.microsoft.com/office/drawing/2014/main" xmlns="" id="{8F7A8237-1D8D-AE7E-A2EB-548155DCBC4D}"/>
              </a:ext>
            </a:extLst>
          </p:cNvPr>
          <p:cNvSpPr/>
          <p:nvPr/>
        </p:nvSpPr>
        <p:spPr>
          <a:xfrm>
            <a:off x="192525" y="1036371"/>
            <a:ext cx="760014" cy="760014"/>
          </a:xfrm>
          <a:prstGeom prst="ellipse">
            <a:avLst/>
          </a:prstGeom>
          <a:solidFill>
            <a:schemeClr val="accent1"/>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a:buSzPct val="25000"/>
            </a:pPr>
            <a:r>
              <a:rPr lang="en-US" altLang="zh-CN" sz="3200" b="1" dirty="0" smtClean="0">
                <a:solidFill>
                  <a:schemeClr val="tx1"/>
                </a:solidFill>
                <a:cs typeface="+mn-ea"/>
                <a:sym typeface="+mn-lt"/>
              </a:rPr>
              <a:t>1</a:t>
            </a:r>
            <a:endParaRPr lang="en-US" altLang="zh-CN" sz="3200" b="1" dirty="0">
              <a:solidFill>
                <a:schemeClr val="tx1"/>
              </a:solidFill>
              <a:cs typeface="+mn-ea"/>
              <a:sym typeface="+mn-lt"/>
            </a:endParaRPr>
          </a:p>
        </p:txBody>
      </p:sp>
    </p:spTree>
    <p:custDataLst>
      <p:tags r:id="rId1"/>
    </p:custDataLst>
    <p:extLst>
      <p:ext uri="{BB962C8B-B14F-4D97-AF65-F5344CB8AC3E}">
        <p14:creationId xmlns:p14="http://schemas.microsoft.com/office/powerpoint/2010/main" xmlns="" val="4042256637"/>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iterate type="lt">
                                    <p:tmPct val="5000"/>
                                  </p:iterate>
                                  <p:childTnLst>
                                    <p:set>
                                      <p:cBhvr>
                                        <p:cTn id="6" dur="1" fill="hold">
                                          <p:stCondLst>
                                            <p:cond delay="0"/>
                                          </p:stCondLst>
                                        </p:cTn>
                                        <p:tgtEl>
                                          <p:spTgt spid="70"/>
                                        </p:tgtEl>
                                        <p:attrNameLst>
                                          <p:attrName>style.visibility</p:attrName>
                                        </p:attrNameLst>
                                      </p:cBhvr>
                                      <p:to>
                                        <p:strVal val="visible"/>
                                      </p:to>
                                    </p:set>
                                    <p:anim calcmode="lin" valueType="num">
                                      <p:cBhvr additive="base">
                                        <p:cTn id="7" dur="1500" fill="hold"/>
                                        <p:tgtEl>
                                          <p:spTgt spid="70"/>
                                        </p:tgtEl>
                                        <p:attrNameLst>
                                          <p:attrName>ppt_x</p:attrName>
                                        </p:attrNameLst>
                                      </p:cBhvr>
                                      <p:tavLst>
                                        <p:tav tm="0">
                                          <p:val>
                                            <p:strVal val="#ppt_x"/>
                                          </p:val>
                                        </p:tav>
                                        <p:tav tm="100000">
                                          <p:val>
                                            <p:strVal val="#ppt_x"/>
                                          </p:val>
                                        </p:tav>
                                      </p:tavLst>
                                    </p:anim>
                                    <p:anim calcmode="lin" valueType="num">
                                      <p:cBhvr additive="base">
                                        <p:cTn id="8" dur="1500" fill="hold"/>
                                        <p:tgtEl>
                                          <p:spTgt spid="7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70" name="文本框 10" descr="e7d195523061f1c0c30ee18c1b05f65d12b38e2533cb2ccdAE0CC34CB5CBEBFAEC353FED4DECE97C3E379FD1D933F5E4DC18EF8EA6B7A1130D5F6DE9DD2BE4B0A8C9126ACE5083D1F5A9E323B29CCFC723947F2A7770FFCFC0136AC2E9358C416F4A10C6952D33DA63038E460805E61AD394230B9BB5ED30CDD32E0864C96BD7869770F58DC06A0E">
            <a:extLst>
              <a:ext uri="{FF2B5EF4-FFF2-40B4-BE49-F238E27FC236}">
                <a16:creationId xmlns:a16="http://schemas.microsoft.com/office/drawing/2014/main" xmlns="" id="{4750551F-2196-C453-05C4-EC541688DEFF}"/>
              </a:ext>
            </a:extLst>
          </p:cNvPr>
          <p:cNvSpPr txBox="1"/>
          <p:nvPr/>
        </p:nvSpPr>
        <p:spPr>
          <a:xfrm>
            <a:off x="2275876" y="1166638"/>
            <a:ext cx="5857080" cy="707886"/>
          </a:xfrm>
          <a:prstGeom prst="rect">
            <a:avLst/>
          </a:prstGeom>
          <a:noFill/>
        </p:spPr>
        <p:txBody>
          <a:bodyPr wrap="none" rtlCol="0">
            <a:normAutofit/>
          </a:bodyPr>
          <a:lstStyle/>
          <a:p>
            <a:pPr algn="ctr"/>
            <a:r>
              <a:rPr lang="en-US" sz="4000" b="1" u="sng" dirty="0">
                <a:solidFill>
                  <a:schemeClr val="tx1">
                    <a:lumMod val="95000"/>
                    <a:lumOff val="5000"/>
                  </a:schemeClr>
                </a:solidFill>
                <a:latin typeface="Source Han Sans SC"/>
                <a:ea typeface="Source Han Sans SC"/>
                <a:cs typeface="+mn-ea"/>
                <a:sym typeface="+mn-lt"/>
              </a:rPr>
              <a:t>SOFTWARE SPECIFICATION </a:t>
            </a:r>
            <a:r>
              <a:rPr lang="en-US" sz="4000" u="sng" dirty="0">
                <a:solidFill>
                  <a:schemeClr val="tx1">
                    <a:lumMod val="95000"/>
                    <a:lumOff val="5000"/>
                  </a:schemeClr>
                </a:solidFill>
                <a:latin typeface="Source Han Sans SC"/>
                <a:ea typeface="Source Han Sans SC"/>
                <a:cs typeface="+mn-ea"/>
                <a:sym typeface="+mn-lt"/>
              </a:rPr>
              <a:t>: </a:t>
            </a:r>
          </a:p>
        </p:txBody>
      </p:sp>
      <p:sp>
        <p:nvSpPr>
          <p:cNvPr id="71" name="iśḻíḑè">
            <a:extLst>
              <a:ext uri="{FF2B5EF4-FFF2-40B4-BE49-F238E27FC236}">
                <a16:creationId xmlns:a16="http://schemas.microsoft.com/office/drawing/2014/main" xmlns="" id="{269FE6A2-BDFF-28C3-98A5-A4CF604810A2}"/>
              </a:ext>
            </a:extLst>
          </p:cNvPr>
          <p:cNvSpPr txBox="1"/>
          <p:nvPr/>
        </p:nvSpPr>
        <p:spPr>
          <a:xfrm>
            <a:off x="1486892" y="2488450"/>
            <a:ext cx="9219830" cy="2833495"/>
          </a:xfrm>
          <a:prstGeom prst="rect">
            <a:avLst/>
          </a:prstGeom>
          <a:noFill/>
        </p:spPr>
        <p:txBody>
          <a:bodyPr wrap="square" lIns="91440" tIns="45720" rIns="91440" bIns="45720">
            <a:noAutofit/>
          </a:bodyPr>
          <a:lstStyle/>
          <a:p>
            <a:pPr>
              <a:lnSpc>
                <a:spcPct val="150000"/>
              </a:lnSpc>
              <a:buFont typeface="Wingdings" panose="05000000000000000000" pitchFamily="2" charset="2"/>
              <a:buChar char="Ø"/>
            </a:pPr>
            <a:r>
              <a:rPr lang="en-US" sz="2000" b="1" u="sng" dirty="0">
                <a:latin typeface="Times New Roman" panose="02020603050405020304" pitchFamily="18" charset="0"/>
                <a:cs typeface="Times New Roman" panose="02020603050405020304" pitchFamily="18" charset="0"/>
              </a:rPr>
              <a:t>Operating System  </a:t>
            </a:r>
            <a:r>
              <a:rPr lang="en-US" sz="2000" b="1" dirty="0">
                <a:latin typeface="Times New Roman" panose="02020603050405020304" pitchFamily="18" charset="0"/>
                <a:cs typeface="Times New Roman" panose="02020603050405020304" pitchFamily="18" charset="0"/>
              </a:rPr>
              <a:t>  </a:t>
            </a:r>
            <a:r>
              <a:rPr lang="en-US" sz="2000" b="1" dirty="0">
                <a:solidFill>
                  <a:schemeClr val="bg1">
                    <a:lumMod val="95000"/>
                  </a:schemeClr>
                </a:solidFill>
                <a:latin typeface="Times New Roman" panose="02020603050405020304" pitchFamily="18" charset="0"/>
                <a:cs typeface="Times New Roman" panose="02020603050405020304" pitchFamily="18" charset="0"/>
              </a:rPr>
              <a:t>:</a:t>
            </a:r>
            <a:r>
              <a:rPr lang="en-US" sz="2000" dirty="0">
                <a:solidFill>
                  <a:schemeClr val="bg1">
                    <a:lumMod val="95000"/>
                  </a:schemeClr>
                </a:solidFill>
                <a:latin typeface="Times New Roman" panose="02020603050405020304" pitchFamily="18" charset="0"/>
                <a:cs typeface="Times New Roman" panose="02020603050405020304" pitchFamily="18" charset="0"/>
              </a:rPr>
              <a:t> Windows 10.</a:t>
            </a:r>
            <a:endParaRPr lang="en-US" sz="2000" b="1" dirty="0">
              <a:solidFill>
                <a:schemeClr val="bg1">
                  <a:lumMod val="95000"/>
                </a:schemeClr>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000" b="1" u="sng" dirty="0">
                <a:latin typeface="Times New Roman" panose="02020603050405020304" pitchFamily="18" charset="0"/>
                <a:cs typeface="Times New Roman" panose="02020603050405020304" pitchFamily="18" charset="0"/>
              </a:rPr>
              <a:t>Database               </a:t>
            </a:r>
            <a:r>
              <a:rPr lang="en-US" sz="2000" b="1" dirty="0">
                <a:solidFill>
                  <a:schemeClr val="bg1">
                    <a:lumMod val="95000"/>
                  </a:schemeClr>
                </a:solidFill>
                <a:latin typeface="Times New Roman" panose="02020603050405020304" pitchFamily="18" charset="0"/>
                <a:cs typeface="Times New Roman" panose="02020603050405020304" pitchFamily="18" charset="0"/>
              </a:rPr>
              <a:t>    :</a:t>
            </a:r>
            <a:r>
              <a:rPr lang="en-US" sz="2000" dirty="0">
                <a:solidFill>
                  <a:schemeClr val="bg1">
                    <a:lumMod val="95000"/>
                  </a:schemeClr>
                </a:solidFill>
                <a:latin typeface="Times New Roman" panose="02020603050405020304" pitchFamily="18" charset="0"/>
                <a:cs typeface="Times New Roman" panose="02020603050405020304" pitchFamily="18" charset="0"/>
              </a:rPr>
              <a:t> SQL.</a:t>
            </a:r>
          </a:p>
          <a:p>
            <a:pPr>
              <a:lnSpc>
                <a:spcPct val="150000"/>
              </a:lnSpc>
              <a:buFont typeface="Wingdings" panose="05000000000000000000" pitchFamily="2" charset="2"/>
              <a:buChar char="Ø"/>
            </a:pPr>
            <a:r>
              <a:rPr lang="en-US" sz="2000" b="1" u="sng" dirty="0">
                <a:latin typeface="Times New Roman" panose="02020603050405020304" pitchFamily="18" charset="0"/>
                <a:cs typeface="Times New Roman" panose="02020603050405020304" pitchFamily="18" charset="0"/>
              </a:rPr>
              <a:t>Platform Used       </a:t>
            </a:r>
            <a:r>
              <a:rPr lang="en-US" sz="2000" b="1" dirty="0">
                <a:latin typeface="Times New Roman" panose="02020603050405020304" pitchFamily="18" charset="0"/>
                <a:cs typeface="Times New Roman" panose="02020603050405020304" pitchFamily="18" charset="0"/>
              </a:rPr>
              <a:t>   </a:t>
            </a:r>
            <a:r>
              <a:rPr lang="en-US" sz="2000" b="1" dirty="0">
                <a:solidFill>
                  <a:schemeClr val="bg1">
                    <a:lumMod val="95000"/>
                  </a:schemeClr>
                </a:solidFill>
                <a:latin typeface="Times New Roman" panose="02020603050405020304" pitchFamily="18" charset="0"/>
                <a:cs typeface="Times New Roman" panose="02020603050405020304" pitchFamily="18" charset="0"/>
              </a:rPr>
              <a:t>: </a:t>
            </a:r>
            <a:r>
              <a:rPr lang="en-US" sz="2000" dirty="0">
                <a:solidFill>
                  <a:schemeClr val="bg1">
                    <a:lumMod val="95000"/>
                  </a:schemeClr>
                </a:solidFill>
                <a:latin typeface="Times New Roman" panose="02020603050405020304" pitchFamily="18" charset="0"/>
                <a:cs typeface="Times New Roman" panose="02020603050405020304" pitchFamily="18" charset="0"/>
              </a:rPr>
              <a:t>Php.</a:t>
            </a:r>
          </a:p>
          <a:p>
            <a:pPr>
              <a:lnSpc>
                <a:spcPct val="150000"/>
              </a:lnSpc>
              <a:buFont typeface="Wingdings" panose="05000000000000000000" pitchFamily="2" charset="2"/>
              <a:buChar char="Ø"/>
            </a:pPr>
            <a:r>
              <a:rPr lang="en-US" sz="2000" b="1" u="sng" dirty="0">
                <a:latin typeface="Times New Roman" panose="02020603050405020304" pitchFamily="18" charset="0"/>
                <a:cs typeface="Times New Roman" panose="02020603050405020304" pitchFamily="18" charset="0"/>
              </a:rPr>
              <a:t>Browser Supported</a:t>
            </a:r>
            <a:r>
              <a:rPr lang="en-US" sz="2000" b="1" dirty="0">
                <a:latin typeface="Times New Roman" panose="02020603050405020304" pitchFamily="18" charset="0"/>
                <a:cs typeface="Times New Roman" panose="02020603050405020304" pitchFamily="18" charset="0"/>
              </a:rPr>
              <a:t> </a:t>
            </a:r>
            <a:r>
              <a:rPr lang="en-US" sz="2000" b="1" dirty="0">
                <a:solidFill>
                  <a:schemeClr val="bg1">
                    <a:lumMod val="95000"/>
                  </a:schemeClr>
                </a:solidFill>
                <a:latin typeface="Times New Roman" panose="02020603050405020304" pitchFamily="18" charset="0"/>
                <a:cs typeface="Times New Roman" panose="02020603050405020304" pitchFamily="18" charset="0"/>
              </a:rPr>
              <a:t>:</a:t>
            </a:r>
            <a:r>
              <a:rPr lang="en-US" sz="2000" dirty="0">
                <a:solidFill>
                  <a:schemeClr val="bg1">
                    <a:lumMod val="95000"/>
                  </a:schemeClr>
                </a:solidFill>
                <a:latin typeface="Times New Roman" panose="02020603050405020304" pitchFamily="18" charset="0"/>
                <a:cs typeface="Times New Roman" panose="02020603050405020304" pitchFamily="18" charset="0"/>
              </a:rPr>
              <a:t> Google Chrome, Internet Explorer, Yahoo Browser.</a:t>
            </a:r>
          </a:p>
          <a:p>
            <a:pPr>
              <a:lnSpc>
                <a:spcPct val="128000"/>
              </a:lnSpc>
            </a:pPr>
            <a:endParaRPr lang="en-US" altLang="en-US" sz="2000" b="1" i="1" dirty="0">
              <a:solidFill>
                <a:schemeClr val="tx1">
                  <a:lumMod val="75000"/>
                  <a:lumOff val="25000"/>
                </a:schemeClr>
              </a:solidFill>
            </a:endParaRPr>
          </a:p>
        </p:txBody>
      </p:sp>
      <p:sp>
        <p:nvSpPr>
          <p:cNvPr id="2" name="ïsḷïḑê">
            <a:extLst>
              <a:ext uri="{FF2B5EF4-FFF2-40B4-BE49-F238E27FC236}">
                <a16:creationId xmlns:a16="http://schemas.microsoft.com/office/drawing/2014/main" xmlns="" id="{1127AFA9-4489-B92F-0DEB-7AF3526C5288}"/>
              </a:ext>
            </a:extLst>
          </p:cNvPr>
          <p:cNvSpPr/>
          <p:nvPr/>
        </p:nvSpPr>
        <p:spPr>
          <a:xfrm>
            <a:off x="393685" y="1166638"/>
            <a:ext cx="760014" cy="760014"/>
          </a:xfrm>
          <a:prstGeom prst="ellipse">
            <a:avLst/>
          </a:prstGeom>
          <a:solidFill>
            <a:schemeClr val="accent1"/>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a:buSzPct val="25000"/>
            </a:pPr>
            <a:r>
              <a:rPr lang="en-US" altLang="zh-CN" sz="3200" b="1" dirty="0">
                <a:solidFill>
                  <a:schemeClr val="tx1"/>
                </a:solidFill>
                <a:cs typeface="+mn-ea"/>
                <a:sym typeface="+mn-lt"/>
              </a:rPr>
              <a:t>2</a:t>
            </a:r>
          </a:p>
        </p:txBody>
      </p:sp>
    </p:spTree>
    <p:custDataLst>
      <p:tags r:id="rId1"/>
    </p:custDataLst>
    <p:extLst>
      <p:ext uri="{BB962C8B-B14F-4D97-AF65-F5344CB8AC3E}">
        <p14:creationId xmlns:p14="http://schemas.microsoft.com/office/powerpoint/2010/main" xmlns="" val="413764658"/>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iterate type="lt">
                                    <p:tmPct val="5000"/>
                                  </p:iterate>
                                  <p:childTnLst>
                                    <p:set>
                                      <p:cBhvr>
                                        <p:cTn id="6" dur="1" fill="hold">
                                          <p:stCondLst>
                                            <p:cond delay="0"/>
                                          </p:stCondLst>
                                        </p:cTn>
                                        <p:tgtEl>
                                          <p:spTgt spid="70"/>
                                        </p:tgtEl>
                                        <p:attrNameLst>
                                          <p:attrName>style.visibility</p:attrName>
                                        </p:attrNameLst>
                                      </p:cBhvr>
                                      <p:to>
                                        <p:strVal val="visible"/>
                                      </p:to>
                                    </p:set>
                                    <p:anim calcmode="lin" valueType="num">
                                      <p:cBhvr additive="base">
                                        <p:cTn id="7" dur="1500" fill="hold"/>
                                        <p:tgtEl>
                                          <p:spTgt spid="70"/>
                                        </p:tgtEl>
                                        <p:attrNameLst>
                                          <p:attrName>ppt_x</p:attrName>
                                        </p:attrNameLst>
                                      </p:cBhvr>
                                      <p:tavLst>
                                        <p:tav tm="0">
                                          <p:val>
                                            <p:strVal val="#ppt_x"/>
                                          </p:val>
                                        </p:tav>
                                        <p:tav tm="100000">
                                          <p:val>
                                            <p:strVal val="#ppt_x"/>
                                          </p:val>
                                        </p:tav>
                                      </p:tavLst>
                                    </p:anim>
                                    <p:anim calcmode="lin" valueType="num">
                                      <p:cBhvr additive="base">
                                        <p:cTn id="8" dur="1500" fill="hold"/>
                                        <p:tgtEl>
                                          <p:spTgt spid="7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4" name="iṡḻiḑe">
            <a:extLst>
              <a:ext uri="{FF2B5EF4-FFF2-40B4-BE49-F238E27FC236}">
                <a16:creationId xmlns:a16="http://schemas.microsoft.com/office/drawing/2014/main" xmlns="" id="{37B3AA45-E69B-402D-A189-7C486BD46E31}"/>
              </a:ext>
            </a:extLst>
          </p:cNvPr>
          <p:cNvSpPr/>
          <p:nvPr/>
        </p:nvSpPr>
        <p:spPr>
          <a:xfrm>
            <a:off x="286674" y="3380235"/>
            <a:ext cx="5549901" cy="1278480"/>
          </a:xfrm>
          <a:prstGeom prst="rect">
            <a:avLst/>
          </a:prstGeom>
        </p:spPr>
        <p:txBody>
          <a:bodyPr>
            <a:noAutofit/>
          </a:bodyPr>
          <a:lstStyle/>
          <a:p>
            <a:pPr>
              <a:buSzPct val="25000"/>
            </a:pPr>
            <a:r>
              <a:rPr lang="en-US" altLang="zh-CN" sz="4400" b="1" dirty="0"/>
              <a:t> SYSTEM </a:t>
            </a:r>
          </a:p>
        </p:txBody>
      </p:sp>
      <p:pic>
        <p:nvPicPr>
          <p:cNvPr id="6" name="图片 5">
            <a:extLst>
              <a:ext uri="{FF2B5EF4-FFF2-40B4-BE49-F238E27FC236}">
                <a16:creationId xmlns:a16="http://schemas.microsoft.com/office/drawing/2014/main" xmlns="" id="{810E5E7B-C08D-A532-89F2-90C7C77B3DAC}"/>
              </a:ext>
            </a:extLst>
          </p:cNvPr>
          <p:cNvPicPr>
            <a:picLocks noChangeAspect="1"/>
          </p:cNvPicPr>
          <p:nvPr/>
        </p:nvPicPr>
        <p:blipFill>
          <a:blip r:embed="rId3" cstate="print"/>
          <a:stretch>
            <a:fillRect/>
          </a:stretch>
        </p:blipFill>
        <p:spPr>
          <a:xfrm>
            <a:off x="3562349" y="358092"/>
            <a:ext cx="8181975" cy="621415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2" name="iṡḻiḑe">
            <a:extLst>
              <a:ext uri="{FF2B5EF4-FFF2-40B4-BE49-F238E27FC236}">
                <a16:creationId xmlns:a16="http://schemas.microsoft.com/office/drawing/2014/main" xmlns="" id="{5ECF20CF-A98E-F2B4-E672-08254E9F80ED}"/>
              </a:ext>
            </a:extLst>
          </p:cNvPr>
          <p:cNvSpPr/>
          <p:nvPr/>
        </p:nvSpPr>
        <p:spPr>
          <a:xfrm>
            <a:off x="546098" y="2847469"/>
            <a:ext cx="5549901" cy="1278480"/>
          </a:xfrm>
          <a:prstGeom prst="rect">
            <a:avLst/>
          </a:prstGeom>
        </p:spPr>
        <p:txBody>
          <a:bodyPr>
            <a:noAutofit/>
          </a:bodyPr>
          <a:lstStyle/>
          <a:p>
            <a:pPr>
              <a:buSzPct val="25000"/>
            </a:pPr>
            <a:endParaRPr lang="en-US" altLang="zh-CN" sz="4000" b="1" dirty="0"/>
          </a:p>
        </p:txBody>
      </p:sp>
      <p:sp>
        <p:nvSpPr>
          <p:cNvPr id="3" name="iṡḻiḑe">
            <a:extLst>
              <a:ext uri="{FF2B5EF4-FFF2-40B4-BE49-F238E27FC236}">
                <a16:creationId xmlns:a16="http://schemas.microsoft.com/office/drawing/2014/main" xmlns="" id="{330BC5EB-C99A-D3EF-3031-C6CEDA5F6241}"/>
              </a:ext>
            </a:extLst>
          </p:cNvPr>
          <p:cNvSpPr/>
          <p:nvPr/>
        </p:nvSpPr>
        <p:spPr>
          <a:xfrm>
            <a:off x="321769" y="4085288"/>
            <a:ext cx="2359163" cy="639240"/>
          </a:xfrm>
          <a:prstGeom prst="rect">
            <a:avLst/>
          </a:prstGeom>
        </p:spPr>
        <p:txBody>
          <a:bodyPr>
            <a:noAutofit/>
          </a:bodyPr>
          <a:lstStyle/>
          <a:p>
            <a:pPr>
              <a:buSzPct val="25000"/>
            </a:pPr>
            <a:r>
              <a:rPr lang="en-US" altLang="zh-CN" sz="2400" b="1" dirty="0"/>
              <a:t>       </a:t>
            </a:r>
            <a:r>
              <a:rPr lang="en-US" altLang="zh-CN" sz="2800" dirty="0"/>
              <a:t>DESIGN</a:t>
            </a:r>
            <a:r>
              <a:rPr lang="en-US" altLang="zh-CN" sz="2800" b="1" dirty="0"/>
              <a:t> </a:t>
            </a:r>
          </a:p>
        </p:txBody>
      </p:sp>
      <p:sp>
        <p:nvSpPr>
          <p:cNvPr id="5" name="ï$ľiḍè">
            <a:extLst>
              <a:ext uri="{FF2B5EF4-FFF2-40B4-BE49-F238E27FC236}">
                <a16:creationId xmlns:a16="http://schemas.microsoft.com/office/drawing/2014/main" xmlns="" id="{7C04F637-A65B-EA29-3194-03AA96BE9B2F}"/>
              </a:ext>
            </a:extLst>
          </p:cNvPr>
          <p:cNvSpPr/>
          <p:nvPr/>
        </p:nvSpPr>
        <p:spPr>
          <a:xfrm>
            <a:off x="847133" y="2133804"/>
            <a:ext cx="1097280" cy="1097280"/>
          </a:xfrm>
          <a:prstGeom prst="ellipse">
            <a:avLst/>
          </a:prstGeom>
          <a:solidFill>
            <a:srgbClr val="FFCF37"/>
          </a:solidFill>
          <a:ln w="15875"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endParaRPr lang="en-US" altLang="zh-CN" sz="2400" b="1" dirty="0">
              <a:solidFill>
                <a:schemeClr val="tx1"/>
              </a:solidFill>
              <a:cs typeface="+mn-ea"/>
              <a:sym typeface="+mn-lt"/>
            </a:endParaRPr>
          </a:p>
        </p:txBody>
      </p:sp>
      <p:sp>
        <p:nvSpPr>
          <p:cNvPr id="7" name="iṡḻíde">
            <a:extLst>
              <a:ext uri="{FF2B5EF4-FFF2-40B4-BE49-F238E27FC236}">
                <a16:creationId xmlns:a16="http://schemas.microsoft.com/office/drawing/2014/main" xmlns="" id="{4FE27E5E-E722-C962-8C72-477D990BB2FD}"/>
              </a:ext>
            </a:extLst>
          </p:cNvPr>
          <p:cNvSpPr/>
          <p:nvPr/>
        </p:nvSpPr>
        <p:spPr>
          <a:xfrm>
            <a:off x="947858" y="2299598"/>
            <a:ext cx="822960" cy="822960"/>
          </a:xfrm>
          <a:prstGeom prst="ellipse">
            <a:avLst/>
          </a:prstGeom>
          <a:solidFill>
            <a:schemeClr val="accent2"/>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r>
              <a:rPr lang="en-US" altLang="zh-CN" sz="2400" b="1" dirty="0">
                <a:solidFill>
                  <a:schemeClr val="tx1"/>
                </a:solidFill>
                <a:cs typeface="+mn-ea"/>
                <a:sym typeface="+mn-lt"/>
              </a:rPr>
              <a:t>3</a:t>
            </a:r>
          </a:p>
        </p:txBody>
      </p:sp>
      <p:sp>
        <p:nvSpPr>
          <p:cNvPr id="9" name="Rectangle 8"/>
          <p:cNvSpPr/>
          <p:nvPr/>
        </p:nvSpPr>
        <p:spPr>
          <a:xfrm>
            <a:off x="228600" y="314325"/>
            <a:ext cx="1943100" cy="1323439"/>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ONLINE FURNITURE</a:t>
            </a:r>
          </a:p>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ORDERING SYSTEM</a:t>
            </a:r>
            <a:endParaRPr lang="en-US" altLang="en-U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endParaRPr>
          </a:p>
        </p:txBody>
      </p:sp>
    </p:spTree>
    <p:custDataLst>
      <p:tags r:id="rId1"/>
    </p:custDataLst>
    <p:extLst>
      <p:ext uri="{BB962C8B-B14F-4D97-AF65-F5344CB8AC3E}">
        <p14:creationId xmlns:p14="http://schemas.microsoft.com/office/powerpoint/2010/main" xmlns="" val="3990018171"/>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xmlns="" id="{164E76B4-1B7D-D607-61FF-259ED67FC7CF}"/>
              </a:ext>
            </a:extLst>
          </p:cNvPr>
          <p:cNvSpPr txBox="1"/>
          <p:nvPr/>
        </p:nvSpPr>
        <p:spPr>
          <a:xfrm>
            <a:off x="-102593" y="12301"/>
            <a:ext cx="5559001" cy="904906"/>
          </a:xfrm>
          <a:prstGeom prst="rect">
            <a:avLst/>
          </a:prstGeom>
          <a:noFill/>
        </p:spPr>
        <p:txBody>
          <a:bodyPr wrap="none" rtlCol="0">
            <a:normAutofit/>
          </a:bodyPr>
          <a:lstStyle/>
          <a:p>
            <a:pPr algn="ctr"/>
            <a:r>
              <a:rPr lang="en-US" altLang="zh-CN" sz="3800" b="1" u="sng" dirty="0">
                <a:solidFill>
                  <a:schemeClr val="bg1"/>
                </a:solidFill>
                <a:latin typeface="Source Han Sans SC"/>
                <a:ea typeface="Source Han Sans SC"/>
              </a:rPr>
              <a:t>USE CASE DIAGRAM</a:t>
            </a:r>
            <a:endParaRPr lang="zh-CN" altLang="en-US" sz="3800" b="1" u="sng" dirty="0">
              <a:solidFill>
                <a:schemeClr val="bg1"/>
              </a:solidFill>
              <a:latin typeface="字魂143号-正酷超级黑" pitchFamily="2" charset="-122"/>
              <a:ea typeface="字魂143号-正酷超级黑" pitchFamily="2" charset="-122"/>
            </a:endParaRPr>
          </a:p>
        </p:txBody>
      </p:sp>
      <p:sp>
        <p:nvSpPr>
          <p:cNvPr id="6" name="Flowchart: Connector 5">
            <a:extLst>
              <a:ext uri="{FF2B5EF4-FFF2-40B4-BE49-F238E27FC236}">
                <a16:creationId xmlns:a16="http://schemas.microsoft.com/office/drawing/2014/main" xmlns="" id="{5C054418-B6BA-D9A9-99E6-4315C7384257}"/>
              </a:ext>
            </a:extLst>
          </p:cNvPr>
          <p:cNvSpPr/>
          <p:nvPr/>
        </p:nvSpPr>
        <p:spPr>
          <a:xfrm>
            <a:off x="3627695" y="2361725"/>
            <a:ext cx="711200" cy="787400"/>
          </a:xfrm>
          <a:prstGeom prst="flowChartConnector">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9" name="Flowchart: Connector 8">
            <a:extLst>
              <a:ext uri="{FF2B5EF4-FFF2-40B4-BE49-F238E27FC236}">
                <a16:creationId xmlns:a16="http://schemas.microsoft.com/office/drawing/2014/main" xmlns="" id="{61663A1C-A6F3-C70B-2C2D-AEDB2D7F73BF}"/>
              </a:ext>
            </a:extLst>
          </p:cNvPr>
          <p:cNvSpPr/>
          <p:nvPr/>
        </p:nvSpPr>
        <p:spPr>
          <a:xfrm>
            <a:off x="10314257" y="2351358"/>
            <a:ext cx="711200" cy="787400"/>
          </a:xfrm>
          <a:prstGeom prst="flowChartConnector">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cxnSp>
        <p:nvCxnSpPr>
          <p:cNvPr id="10" name="Straight Connector 9">
            <a:extLst>
              <a:ext uri="{FF2B5EF4-FFF2-40B4-BE49-F238E27FC236}">
                <a16:creationId xmlns:a16="http://schemas.microsoft.com/office/drawing/2014/main" xmlns="" id="{497D087F-4C7E-CFBF-F84D-4C5F616AA3D9}"/>
              </a:ext>
            </a:extLst>
          </p:cNvPr>
          <p:cNvCxnSpPr/>
          <p:nvPr/>
        </p:nvCxnSpPr>
        <p:spPr>
          <a:xfrm>
            <a:off x="3987931" y="3138758"/>
            <a:ext cx="0" cy="1714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03DD54C9-209F-D3A1-C7A1-BAE726312D38}"/>
              </a:ext>
            </a:extLst>
          </p:cNvPr>
          <p:cNvCxnSpPr/>
          <p:nvPr/>
        </p:nvCxnSpPr>
        <p:spPr>
          <a:xfrm>
            <a:off x="10670447" y="3164557"/>
            <a:ext cx="0" cy="1714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DCC5C3E9-0B37-24CD-5C39-AF4C42B656A7}"/>
              </a:ext>
            </a:extLst>
          </p:cNvPr>
          <p:cNvCxnSpPr/>
          <p:nvPr/>
        </p:nvCxnSpPr>
        <p:spPr>
          <a:xfrm flipH="1">
            <a:off x="3673860" y="4833228"/>
            <a:ext cx="330200"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D61D0B71-25FD-9CA0-C419-DF4A10292F22}"/>
              </a:ext>
            </a:extLst>
          </p:cNvPr>
          <p:cNvCxnSpPr/>
          <p:nvPr/>
        </p:nvCxnSpPr>
        <p:spPr>
          <a:xfrm flipH="1">
            <a:off x="10391047" y="4895935"/>
            <a:ext cx="27940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7613C663-D02E-7551-A624-EB23865430E1}"/>
              </a:ext>
            </a:extLst>
          </p:cNvPr>
          <p:cNvCxnSpPr/>
          <p:nvPr/>
        </p:nvCxnSpPr>
        <p:spPr>
          <a:xfrm flipH="1" flipV="1">
            <a:off x="4004060" y="4833228"/>
            <a:ext cx="330200"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2E253F9E-2F95-620F-107E-64C1D6E5ECBF}"/>
              </a:ext>
            </a:extLst>
          </p:cNvPr>
          <p:cNvCxnSpPr/>
          <p:nvPr/>
        </p:nvCxnSpPr>
        <p:spPr>
          <a:xfrm flipH="1" flipV="1">
            <a:off x="10669857" y="4895935"/>
            <a:ext cx="330200"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7">
            <a:extLst>
              <a:ext uri="{FF2B5EF4-FFF2-40B4-BE49-F238E27FC236}">
                <a16:creationId xmlns:a16="http://schemas.microsoft.com/office/drawing/2014/main" xmlns="" id="{10F47C2A-706E-A9A0-C089-CAFC32E0C3C7}"/>
              </a:ext>
            </a:extLst>
          </p:cNvPr>
          <p:cNvSpPr>
            <a:spLocks noChangeArrowheads="1"/>
          </p:cNvSpPr>
          <p:nvPr/>
        </p:nvSpPr>
        <p:spPr bwMode="auto">
          <a:xfrm>
            <a:off x="6428265" y="2905092"/>
            <a:ext cx="1485900" cy="838200"/>
          </a:xfrm>
          <a:prstGeom prst="ellipse">
            <a:avLst/>
          </a:prstGeom>
          <a:gradFill rotWithShape="1">
            <a:gsLst>
              <a:gs pos="66400">
                <a:srgbClr val="ED98A2"/>
              </a:gs>
              <a:gs pos="0">
                <a:schemeClr val="accent1"/>
              </a:gs>
              <a:gs pos="100000">
                <a:srgbClr val="FFE5DD"/>
              </a:gs>
            </a:gsLst>
            <a:lin ang="18900000" scaled="1"/>
          </a:gradFill>
          <a:ln w="12700">
            <a:solidFill>
              <a:schemeClr val="tx1"/>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entury" panose="02040604050505020304" pitchFamily="18" charset="0"/>
                <a:ea typeface="Calibri" panose="020F0502020204030204" pitchFamily="34" charset="0"/>
                <a:cs typeface="Times New Roman" panose="02020603050405020304" pitchFamily="18" charset="0"/>
              </a:rPr>
              <a:t>Manage Category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Oval 12">
            <a:extLst>
              <a:ext uri="{FF2B5EF4-FFF2-40B4-BE49-F238E27FC236}">
                <a16:creationId xmlns:a16="http://schemas.microsoft.com/office/drawing/2014/main" xmlns="" id="{53AB4C2B-4451-0FF2-1382-E8DE615A8DCB}"/>
              </a:ext>
            </a:extLst>
          </p:cNvPr>
          <p:cNvSpPr>
            <a:spLocks noChangeArrowheads="1"/>
          </p:cNvSpPr>
          <p:nvPr/>
        </p:nvSpPr>
        <p:spPr bwMode="auto">
          <a:xfrm>
            <a:off x="6428265" y="4853258"/>
            <a:ext cx="1485900" cy="838200"/>
          </a:xfrm>
          <a:prstGeom prst="ellipse">
            <a:avLst/>
          </a:prstGeom>
          <a:gradFill rotWithShape="1">
            <a:gsLst>
              <a:gs pos="0">
                <a:schemeClr val="accent1"/>
              </a:gs>
              <a:gs pos="89000">
                <a:srgbClr val="FFCBB8"/>
              </a:gs>
              <a:gs pos="100000">
                <a:srgbClr val="FFE5DD"/>
              </a:gs>
            </a:gsLst>
            <a:lin ang="18900000" scaled="1"/>
          </a:gradFill>
          <a:ln w="12700">
            <a:solidFill>
              <a:schemeClr val="tx1"/>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entury" panose="02040604050505020304" pitchFamily="18" charset="0"/>
                <a:ea typeface="Calibri" panose="020F0502020204030204" pitchFamily="34" charset="0"/>
                <a:cs typeface="Times New Roman" panose="02020603050405020304" pitchFamily="18" charset="0"/>
              </a:rPr>
              <a:t>Order </a:t>
            </a:r>
            <a:r>
              <a:rPr lang="en-US" altLang="en-US" sz="1400" dirty="0" smtClean="0">
                <a:solidFill>
                  <a:srgbClr val="000000"/>
                </a:solidFill>
                <a:latin typeface="Century" panose="02040604050505020304" pitchFamily="18" charset="0"/>
                <a:ea typeface="Calibri" panose="020F0502020204030204" pitchFamily="34" charset="0"/>
                <a:cs typeface="Times New Roman" panose="02020603050405020304" pitchFamily="18" charset="0"/>
              </a:rPr>
              <a:t>Furniture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Oval 27">
            <a:extLst>
              <a:ext uri="{FF2B5EF4-FFF2-40B4-BE49-F238E27FC236}">
                <a16:creationId xmlns:a16="http://schemas.microsoft.com/office/drawing/2014/main" xmlns="" id="{CFC51A41-0B60-0532-6ACF-20D5FA0E89DB}"/>
              </a:ext>
            </a:extLst>
          </p:cNvPr>
          <p:cNvSpPr>
            <a:spLocks noChangeArrowheads="1"/>
          </p:cNvSpPr>
          <p:nvPr/>
        </p:nvSpPr>
        <p:spPr bwMode="auto">
          <a:xfrm>
            <a:off x="6410708" y="3870596"/>
            <a:ext cx="1485900" cy="838200"/>
          </a:xfrm>
          <a:prstGeom prst="ellipse">
            <a:avLst/>
          </a:prstGeom>
          <a:gradFill rotWithShape="1">
            <a:gsLst>
              <a:gs pos="0">
                <a:schemeClr val="accent1"/>
              </a:gs>
              <a:gs pos="88000">
                <a:srgbClr val="FFCBB8"/>
              </a:gs>
              <a:gs pos="100000">
                <a:srgbClr val="FFE5DD"/>
              </a:gs>
            </a:gsLst>
            <a:lin ang="18900000" scaled="1"/>
          </a:gradFill>
          <a:ln w="12700">
            <a:solidFill>
              <a:schemeClr val="tx1"/>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entury" panose="02040604050505020304" pitchFamily="18" charset="0"/>
                <a:ea typeface="Calibri" panose="020F0502020204030204" pitchFamily="34" charset="0"/>
                <a:cs typeface="Times New Roman" panose="02020603050405020304" pitchFamily="18" charset="0"/>
              </a:rPr>
              <a:t>Signup</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Oval 11">
            <a:extLst>
              <a:ext uri="{FF2B5EF4-FFF2-40B4-BE49-F238E27FC236}">
                <a16:creationId xmlns:a16="http://schemas.microsoft.com/office/drawing/2014/main" xmlns="" id="{30284B2E-CFA1-23DC-C54B-3C2E277BABCB}"/>
              </a:ext>
            </a:extLst>
          </p:cNvPr>
          <p:cNvSpPr>
            <a:spLocks noChangeArrowheads="1"/>
          </p:cNvSpPr>
          <p:nvPr/>
        </p:nvSpPr>
        <p:spPr bwMode="auto">
          <a:xfrm>
            <a:off x="6421821" y="1949421"/>
            <a:ext cx="1485900" cy="838200"/>
          </a:xfrm>
          <a:prstGeom prst="ellipse">
            <a:avLst/>
          </a:prstGeom>
          <a:gradFill rotWithShape="1">
            <a:gsLst>
              <a:gs pos="0">
                <a:schemeClr val="accent1"/>
              </a:gs>
              <a:gs pos="87000">
                <a:srgbClr val="FFCBB8"/>
              </a:gs>
              <a:gs pos="100000">
                <a:srgbClr val="FFE5DD"/>
              </a:gs>
            </a:gsLst>
            <a:lin ang="18900000" scaled="1"/>
          </a:gradFill>
          <a:ln w="12700">
            <a:solidFill>
              <a:schemeClr val="tx1"/>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entury" panose="02040604050505020304" pitchFamily="18" charset="0"/>
                <a:ea typeface="Calibri" panose="020F0502020204030204" pitchFamily="34" charset="0"/>
                <a:cs typeface="Times New Roman" panose="02020603050405020304" pitchFamily="18" charset="0"/>
              </a:rPr>
              <a:t>Cart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Oval 1">
            <a:extLst>
              <a:ext uri="{FF2B5EF4-FFF2-40B4-BE49-F238E27FC236}">
                <a16:creationId xmlns:a16="http://schemas.microsoft.com/office/drawing/2014/main" xmlns="" id="{F0C5E3F7-DDF4-12A3-07E4-DA8CCC2E5430}"/>
              </a:ext>
            </a:extLst>
          </p:cNvPr>
          <p:cNvSpPr>
            <a:spLocks noChangeArrowheads="1"/>
          </p:cNvSpPr>
          <p:nvPr/>
        </p:nvSpPr>
        <p:spPr bwMode="auto">
          <a:xfrm>
            <a:off x="6428648" y="5844497"/>
            <a:ext cx="1485900" cy="838200"/>
          </a:xfrm>
          <a:prstGeom prst="ellipse">
            <a:avLst/>
          </a:prstGeom>
          <a:gradFill rotWithShape="1">
            <a:gsLst>
              <a:gs pos="69000">
                <a:srgbClr val="EFA0A8"/>
              </a:gs>
              <a:gs pos="0">
                <a:schemeClr val="accent1"/>
              </a:gs>
              <a:gs pos="100000">
                <a:srgbClr val="FFE5DD"/>
              </a:gs>
            </a:gsLst>
            <a:lin ang="18900000" scaled="1"/>
          </a:gradFill>
          <a:ln w="12700">
            <a:solidFill>
              <a:schemeClr val="tx1"/>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entury" panose="02040604050505020304" pitchFamily="18" charset="0"/>
                <a:ea typeface="Calibri" panose="020F0502020204030204" pitchFamily="34" charset="0"/>
                <a:cs typeface="Times New Roman" panose="02020603050405020304" pitchFamily="18" charset="0"/>
              </a:rPr>
              <a:t>Manage User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Oval 26">
            <a:extLst>
              <a:ext uri="{FF2B5EF4-FFF2-40B4-BE49-F238E27FC236}">
                <a16:creationId xmlns:a16="http://schemas.microsoft.com/office/drawing/2014/main" xmlns="" id="{BDA9955E-ACA0-C2D3-D9A0-60A5F4B03DE7}"/>
              </a:ext>
            </a:extLst>
          </p:cNvPr>
          <p:cNvSpPr>
            <a:spLocks noChangeArrowheads="1"/>
          </p:cNvSpPr>
          <p:nvPr/>
        </p:nvSpPr>
        <p:spPr bwMode="auto">
          <a:xfrm>
            <a:off x="6431305" y="1032146"/>
            <a:ext cx="1485900" cy="838200"/>
          </a:xfrm>
          <a:prstGeom prst="ellipse">
            <a:avLst/>
          </a:prstGeom>
          <a:gradFill rotWithShape="1">
            <a:gsLst>
              <a:gs pos="0">
                <a:schemeClr val="accent1"/>
              </a:gs>
              <a:gs pos="86000">
                <a:srgbClr val="FFCBB8"/>
              </a:gs>
              <a:gs pos="100000">
                <a:srgbClr val="FFE5DD"/>
              </a:gs>
            </a:gsLst>
            <a:lin ang="18900000" scaled="1"/>
          </a:gradFill>
          <a:ln w="12700">
            <a:solidFill>
              <a:schemeClr val="tx1"/>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entury" panose="02040604050505020304" pitchFamily="18" charset="0"/>
                <a:ea typeface="Calibri" panose="020F0502020204030204" pitchFamily="34" charset="0"/>
              </a:rPr>
              <a:t>Login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84" name="Straight Connector 83">
            <a:extLst>
              <a:ext uri="{FF2B5EF4-FFF2-40B4-BE49-F238E27FC236}">
                <a16:creationId xmlns:a16="http://schemas.microsoft.com/office/drawing/2014/main" xmlns="" id="{9C608957-C8C7-5126-5DEF-0CC83E2EDB5A}"/>
              </a:ext>
            </a:extLst>
          </p:cNvPr>
          <p:cNvCxnSpPr/>
          <p:nvPr/>
        </p:nvCxnSpPr>
        <p:spPr>
          <a:xfrm>
            <a:off x="3595929" y="3695972"/>
            <a:ext cx="866775"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xmlns="" id="{45DE4F88-D1A6-52B3-3B26-F27879F2B639}"/>
              </a:ext>
            </a:extLst>
          </p:cNvPr>
          <p:cNvCxnSpPr/>
          <p:nvPr/>
        </p:nvCxnSpPr>
        <p:spPr>
          <a:xfrm>
            <a:off x="10277364" y="3705497"/>
            <a:ext cx="866775"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Rectangle 87">
            <a:extLst>
              <a:ext uri="{FF2B5EF4-FFF2-40B4-BE49-F238E27FC236}">
                <a16:creationId xmlns:a16="http://schemas.microsoft.com/office/drawing/2014/main" xmlns="" id="{9BE60D50-CD02-3EF2-5F9A-15BDF9A6C245}"/>
              </a:ext>
            </a:extLst>
          </p:cNvPr>
          <p:cNvSpPr/>
          <p:nvPr/>
        </p:nvSpPr>
        <p:spPr>
          <a:xfrm>
            <a:off x="5187222" y="852895"/>
            <a:ext cx="4191000" cy="59003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cxnSp>
        <p:nvCxnSpPr>
          <p:cNvPr id="89" name="Straight Arrow Connector 88">
            <a:extLst>
              <a:ext uri="{FF2B5EF4-FFF2-40B4-BE49-F238E27FC236}">
                <a16:creationId xmlns:a16="http://schemas.microsoft.com/office/drawing/2014/main" xmlns="" id="{0538C3A8-D219-4BB3-B442-E4777FF78102}"/>
              </a:ext>
            </a:extLst>
          </p:cNvPr>
          <p:cNvCxnSpPr>
            <a:cxnSpLocks/>
          </p:cNvCxnSpPr>
          <p:nvPr/>
        </p:nvCxnSpPr>
        <p:spPr>
          <a:xfrm flipV="1">
            <a:off x="4515324" y="1549963"/>
            <a:ext cx="1777731" cy="11203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xmlns="" id="{AB43190F-A468-6194-FF06-A50DD7F056BB}"/>
              </a:ext>
            </a:extLst>
          </p:cNvPr>
          <p:cNvCxnSpPr>
            <a:cxnSpLocks/>
          </p:cNvCxnSpPr>
          <p:nvPr/>
        </p:nvCxnSpPr>
        <p:spPr>
          <a:xfrm>
            <a:off x="4488900" y="2854122"/>
            <a:ext cx="1842286" cy="470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xmlns="" id="{A7612D08-8EAF-C97C-44F3-AD8BC412E422}"/>
              </a:ext>
            </a:extLst>
          </p:cNvPr>
          <p:cNvCxnSpPr>
            <a:cxnSpLocks/>
          </p:cNvCxnSpPr>
          <p:nvPr/>
        </p:nvCxnSpPr>
        <p:spPr>
          <a:xfrm>
            <a:off x="4331559" y="4587673"/>
            <a:ext cx="1981478" cy="1553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xmlns="" id="{53470E49-9330-63B2-BB25-ECEE5D4143A1}"/>
              </a:ext>
            </a:extLst>
          </p:cNvPr>
          <p:cNvCxnSpPr>
            <a:cxnSpLocks/>
          </p:cNvCxnSpPr>
          <p:nvPr/>
        </p:nvCxnSpPr>
        <p:spPr>
          <a:xfrm>
            <a:off x="4424776" y="4162196"/>
            <a:ext cx="1898274" cy="1019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xmlns="" id="{0E0FFD57-8212-9129-A185-4E735E986302}"/>
              </a:ext>
            </a:extLst>
          </p:cNvPr>
          <p:cNvCxnSpPr>
            <a:cxnSpLocks/>
          </p:cNvCxnSpPr>
          <p:nvPr/>
        </p:nvCxnSpPr>
        <p:spPr>
          <a:xfrm flipH="1" flipV="1">
            <a:off x="8103121" y="1516326"/>
            <a:ext cx="2037547" cy="1293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xmlns="" id="{B4E2FB42-CBA7-43A9-DF6B-FF7C6A0DC2AC}"/>
              </a:ext>
            </a:extLst>
          </p:cNvPr>
          <p:cNvCxnSpPr>
            <a:cxnSpLocks/>
          </p:cNvCxnSpPr>
          <p:nvPr/>
        </p:nvCxnSpPr>
        <p:spPr>
          <a:xfrm flipH="1" flipV="1">
            <a:off x="8093637" y="2482469"/>
            <a:ext cx="2009103" cy="934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xmlns="" id="{593FD551-4446-9C6C-9D4A-AA966DE7DDAF}"/>
              </a:ext>
            </a:extLst>
          </p:cNvPr>
          <p:cNvCxnSpPr>
            <a:cxnSpLocks/>
          </p:cNvCxnSpPr>
          <p:nvPr/>
        </p:nvCxnSpPr>
        <p:spPr>
          <a:xfrm flipH="1">
            <a:off x="8104844" y="4162196"/>
            <a:ext cx="2177013" cy="214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xmlns="" id="{8440CB15-C0E6-F6C6-C64B-86DF86E70B1D}"/>
              </a:ext>
            </a:extLst>
          </p:cNvPr>
          <p:cNvCxnSpPr>
            <a:cxnSpLocks/>
          </p:cNvCxnSpPr>
          <p:nvPr/>
        </p:nvCxnSpPr>
        <p:spPr>
          <a:xfrm flipH="1">
            <a:off x="8129268" y="4485155"/>
            <a:ext cx="2151999" cy="804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Rectangle 31">
            <a:extLst>
              <a:ext uri="{FF2B5EF4-FFF2-40B4-BE49-F238E27FC236}">
                <a16:creationId xmlns:a16="http://schemas.microsoft.com/office/drawing/2014/main" xmlns="" id="{4E8E7FA8-719A-9D44-10C1-4C337D2B2018}"/>
              </a:ext>
            </a:extLst>
          </p:cNvPr>
          <p:cNvSpPr>
            <a:spLocks noChangeArrowheads="1"/>
          </p:cNvSpPr>
          <p:nvPr/>
        </p:nvSpPr>
        <p:spPr bwMode="auto">
          <a:xfrm>
            <a:off x="5006247" y="-21577"/>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2" name="Rectangle 37">
            <a:extLst>
              <a:ext uri="{FF2B5EF4-FFF2-40B4-BE49-F238E27FC236}">
                <a16:creationId xmlns:a16="http://schemas.microsoft.com/office/drawing/2014/main" xmlns="" id="{0A5F9424-9E51-C4C0-C183-10C4C8161316}"/>
              </a:ext>
            </a:extLst>
          </p:cNvPr>
          <p:cNvSpPr>
            <a:spLocks noChangeArrowheads="1"/>
          </p:cNvSpPr>
          <p:nvPr/>
        </p:nvSpPr>
        <p:spPr bwMode="auto">
          <a:xfrm>
            <a:off x="3634647" y="892823"/>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3" name="Rectangle 40">
            <a:extLst>
              <a:ext uri="{FF2B5EF4-FFF2-40B4-BE49-F238E27FC236}">
                <a16:creationId xmlns:a16="http://schemas.microsoft.com/office/drawing/2014/main" xmlns="" id="{90B158FC-0B45-C696-CC96-D3538C60C45B}"/>
              </a:ext>
            </a:extLst>
          </p:cNvPr>
          <p:cNvSpPr>
            <a:spLocks noChangeArrowheads="1"/>
          </p:cNvSpPr>
          <p:nvPr/>
        </p:nvSpPr>
        <p:spPr bwMode="auto">
          <a:xfrm>
            <a:off x="3529872" y="1321363"/>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329443332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xmlns="" id="{164E76B4-1B7D-D607-61FF-259ED67FC7CF}"/>
              </a:ext>
            </a:extLst>
          </p:cNvPr>
          <p:cNvSpPr txBox="1"/>
          <p:nvPr/>
        </p:nvSpPr>
        <p:spPr>
          <a:xfrm>
            <a:off x="-328679" y="212813"/>
            <a:ext cx="4702290" cy="904906"/>
          </a:xfrm>
          <a:prstGeom prst="rect">
            <a:avLst/>
          </a:prstGeom>
          <a:noFill/>
        </p:spPr>
        <p:txBody>
          <a:bodyPr wrap="none" rtlCol="0">
            <a:normAutofit/>
          </a:bodyPr>
          <a:lstStyle/>
          <a:p>
            <a:pPr algn="ctr"/>
            <a:r>
              <a:rPr lang="en-US" altLang="zh-CN" sz="3800" b="1" u="sng" dirty="0">
                <a:solidFill>
                  <a:schemeClr val="bg1"/>
                </a:solidFill>
                <a:latin typeface="Source Han Sans SC"/>
                <a:ea typeface="Source Han Sans SC"/>
              </a:rPr>
              <a:t>E-R DIAGRAM </a:t>
            </a:r>
            <a:endParaRPr lang="zh-CN" altLang="en-US" sz="3800" b="1" u="sng" dirty="0">
              <a:solidFill>
                <a:schemeClr val="bg1"/>
              </a:solidFill>
              <a:latin typeface="字魂143号-正酷超级黑" pitchFamily="2" charset="-122"/>
              <a:ea typeface="字魂143号-正酷超级黑" pitchFamily="2" charset="-122"/>
            </a:endParaRPr>
          </a:p>
        </p:txBody>
      </p:sp>
      <p:sp>
        <p:nvSpPr>
          <p:cNvPr id="90" name="TextBox 89">
            <a:extLst>
              <a:ext uri="{FF2B5EF4-FFF2-40B4-BE49-F238E27FC236}">
                <a16:creationId xmlns:a16="http://schemas.microsoft.com/office/drawing/2014/main" xmlns="" id="{300BC5BF-032A-98A9-77D3-04C68EDA7C94}"/>
              </a:ext>
            </a:extLst>
          </p:cNvPr>
          <p:cNvSpPr txBox="1"/>
          <p:nvPr/>
        </p:nvSpPr>
        <p:spPr>
          <a:xfrm>
            <a:off x="3240719" y="1242279"/>
            <a:ext cx="6856877" cy="1446550"/>
          </a:xfrm>
          <a:prstGeom prst="rect">
            <a:avLst/>
          </a:prstGeom>
          <a:noFill/>
        </p:spPr>
        <p:txBody>
          <a:bodyPr wrap="square">
            <a:spAutoFit/>
          </a:bodyPr>
          <a:lstStyle/>
          <a:p>
            <a:pPr marL="285750" marR="0" indent="-285750" algn="just">
              <a:spcBef>
                <a:spcPts val="0"/>
              </a:spcBef>
              <a:spcAft>
                <a:spcPts val="0"/>
              </a:spcAft>
              <a:buFont typeface="Wingdings" panose="05000000000000000000" pitchFamily="2" charset="2"/>
              <a:buChar char="Ø"/>
            </a:pPr>
            <a:r>
              <a:rPr lang="en-IN"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E-R diagram show all the relationships between entity sets stored in the database. It illustrates the logical structure of the database. It helps to visualize how data is connected in general </a:t>
            </a:r>
            <a:r>
              <a:rPr lang="en-IN" sz="1800" dirty="0" smtClean="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ways.</a:t>
            </a:r>
            <a:endPar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Ø"/>
            </a:pPr>
            <a:endParaRPr lang="en-IN" sz="1600" u="sng" dirty="0" smtClean="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Ø"/>
            </a:pPr>
            <a:r>
              <a:rPr lang="en-IN" sz="1800" u="sng" dirty="0" smtClean="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Following </a:t>
            </a:r>
            <a:r>
              <a:rPr lang="en-IN" sz="1800" u="sng"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diagram representation of E-R diagram:</a:t>
            </a:r>
            <a:r>
              <a:rPr lang="en-IN" sz="1600" u="sng"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91" name="Picture 90" descr="localhost:8080 / 127.0.0.1 / food | phpMyAdmin 4.8.5 - Google Chrome">
            <a:extLst>
              <a:ext uri="{FF2B5EF4-FFF2-40B4-BE49-F238E27FC236}">
                <a16:creationId xmlns:a16="http://schemas.microsoft.com/office/drawing/2014/main" xmlns="" id="{C4EBA1FE-59D4-1CB7-7D32-B95DEAC1B9F4}"/>
              </a:ext>
            </a:extLst>
          </p:cNvPr>
          <p:cNvPicPr>
            <a:picLocks noChangeAspect="1"/>
          </p:cNvPicPr>
          <p:nvPr/>
        </p:nvPicPr>
        <p:blipFill>
          <a:blip r:embed="rId2" cstate="print"/>
          <a:stretch>
            <a:fillRect/>
          </a:stretch>
        </p:blipFill>
        <p:spPr bwMode="auto">
          <a:xfrm>
            <a:off x="3640062" y="2942408"/>
            <a:ext cx="6681237" cy="36488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53640926-AAD7-44D8-BBD7-CCE9431645EC}">
              <a14:shadowObscured xmlns:a14="http://schemas.microsoft.com/office/drawing/2010/main" xmlns=""/>
            </a:ext>
          </a:extLst>
        </p:spPr>
      </p:pic>
    </p:spTree>
    <p:extLst>
      <p:ext uri="{BB962C8B-B14F-4D97-AF65-F5344CB8AC3E}">
        <p14:creationId xmlns:p14="http://schemas.microsoft.com/office/powerpoint/2010/main" xmlns="" val="1703748904"/>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xmlns="" id="{164E76B4-1B7D-D607-61FF-259ED67FC7CF}"/>
              </a:ext>
            </a:extLst>
          </p:cNvPr>
          <p:cNvSpPr txBox="1"/>
          <p:nvPr/>
        </p:nvSpPr>
        <p:spPr>
          <a:xfrm>
            <a:off x="2686050" y="212813"/>
            <a:ext cx="7705725" cy="904906"/>
          </a:xfrm>
          <a:prstGeom prst="rect">
            <a:avLst/>
          </a:prstGeom>
          <a:noFill/>
        </p:spPr>
        <p:txBody>
          <a:bodyPr wrap="none" rtlCol="0">
            <a:normAutofit lnSpcReduction="10000"/>
          </a:bodyPr>
          <a:lstStyle/>
          <a:p>
            <a:pPr algn="ctr"/>
            <a:r>
              <a:rPr lang="en-US" altLang="zh-CN" sz="54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latin typeface="Source Han Sans SC"/>
                <a:ea typeface="Source Han Sans SC"/>
              </a:rPr>
              <a:t>DATA FLOW </a:t>
            </a:r>
            <a:r>
              <a:rPr lang="en-US" altLang="zh-CN" sz="5400" b="1"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latin typeface="Source Han Sans SC"/>
                <a:ea typeface="Source Han Sans SC"/>
              </a:rPr>
              <a:t>DIAGRAM </a:t>
            </a:r>
            <a:endParaRPr lang="zh-CN" altLang="en-US" sz="5400" b="1"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latin typeface="字魂143号-正酷超级黑" pitchFamily="2" charset="-122"/>
              <a:ea typeface="字魂143号-正酷超级黑" pitchFamily="2" charset="-122"/>
            </a:endParaRPr>
          </a:p>
        </p:txBody>
      </p:sp>
      <p:sp>
        <p:nvSpPr>
          <p:cNvPr id="90" name="TextBox 89">
            <a:extLst>
              <a:ext uri="{FF2B5EF4-FFF2-40B4-BE49-F238E27FC236}">
                <a16:creationId xmlns:a16="http://schemas.microsoft.com/office/drawing/2014/main" xmlns="" id="{300BC5BF-032A-98A9-77D3-04C68EDA7C94}"/>
              </a:ext>
            </a:extLst>
          </p:cNvPr>
          <p:cNvSpPr txBox="1"/>
          <p:nvPr/>
        </p:nvSpPr>
        <p:spPr>
          <a:xfrm>
            <a:off x="3228975" y="1242280"/>
            <a:ext cx="6724651" cy="2723823"/>
          </a:xfrm>
          <a:prstGeom prst="rect">
            <a:avLst/>
          </a:prstGeom>
          <a:noFill/>
        </p:spPr>
        <p:txBody>
          <a:bodyPr wrap="square">
            <a:spAutoFit/>
          </a:bodyPr>
          <a:lstStyle/>
          <a:p>
            <a:pPr marL="285750" marR="0" indent="-285750" algn="just">
              <a:spcBef>
                <a:spcPts val="0"/>
              </a:spcBef>
              <a:spcAft>
                <a:spcPts val="0"/>
              </a:spcAft>
              <a:buFont typeface="Wingdings" panose="05000000000000000000" pitchFamily="2" charset="2"/>
              <a:buChar char="Ø"/>
            </a:pPr>
            <a:r>
              <a:rPr lang="en-IN" sz="1900" dirty="0" smtClean="0">
                <a:solidFill>
                  <a:schemeClr val="bg1"/>
                </a:solidFill>
              </a:rPr>
              <a:t>Data flow diagram is graphical representation of flow of data in an information system. It is capable of depicting incoming data flow, outgoing data flow and stored data. The DFD does not mention anything about how data flows through the system.</a:t>
            </a:r>
            <a:endParaRPr lang="en-IN" sz="19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Ø"/>
            </a:pPr>
            <a:endParaRPr lang="en-IN" sz="1900" b="1" u="sng" dirty="0" smtClean="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Ø"/>
            </a:pPr>
            <a:r>
              <a:rPr lang="en-IN" sz="1900" dirty="0" smtClean="0">
                <a:solidFill>
                  <a:schemeClr val="bg1"/>
                </a:solidFill>
              </a:rPr>
              <a:t>There is a prominent difference between DFD and Flowchart. The flowchart depicts flow of control in program modules. DFDs depict flow of data in the system at various levels. DFD does not contain any control or branch elements.</a:t>
            </a:r>
          </a:p>
        </p:txBody>
      </p:sp>
      <p:sp>
        <p:nvSpPr>
          <p:cNvPr id="5" name="TextBox 4">
            <a:extLst>
              <a:ext uri="{FF2B5EF4-FFF2-40B4-BE49-F238E27FC236}">
                <a16:creationId xmlns:a16="http://schemas.microsoft.com/office/drawing/2014/main" xmlns="" id="{300BC5BF-032A-98A9-77D3-04C68EDA7C94}"/>
              </a:ext>
            </a:extLst>
          </p:cNvPr>
          <p:cNvSpPr txBox="1"/>
          <p:nvPr/>
        </p:nvSpPr>
        <p:spPr>
          <a:xfrm>
            <a:off x="3400425" y="4328380"/>
            <a:ext cx="6724651" cy="2139047"/>
          </a:xfrm>
          <a:prstGeom prst="rect">
            <a:avLst/>
          </a:prstGeom>
          <a:noFill/>
        </p:spPr>
        <p:txBody>
          <a:bodyPr wrap="square">
            <a:spAutoFit/>
          </a:bodyPr>
          <a:lstStyle/>
          <a:p>
            <a:pPr algn="ctr"/>
            <a:r>
              <a:rPr lang="en-US" sz="1900" b="1" u="sng" dirty="0" smtClean="0"/>
              <a:t>O Level DFD</a:t>
            </a:r>
          </a:p>
          <a:p>
            <a:pPr algn="just"/>
            <a:endParaRPr lang="en-US" sz="1900" dirty="0" smtClean="0"/>
          </a:p>
          <a:p>
            <a:pPr algn="just"/>
            <a:r>
              <a:rPr lang="en-US" sz="1900" dirty="0" smtClean="0">
                <a:solidFill>
                  <a:schemeClr val="bg1"/>
                </a:solidFill>
              </a:rPr>
              <a:t>It is also known as a context diagram. It's designed to be an abstraction view, showing the system as a single process with its relationship to external entities. It represents the entire system as a single bubble with input and output data indicated by incoming/outgoing arrows.</a:t>
            </a:r>
            <a:endParaRPr lang="en-IN" sz="1900" dirty="0" smtClean="0">
              <a:solidFill>
                <a:schemeClr val="bg1"/>
              </a:solidFill>
            </a:endParaRPr>
          </a:p>
        </p:txBody>
      </p:sp>
    </p:spTree>
    <p:extLst>
      <p:ext uri="{BB962C8B-B14F-4D97-AF65-F5344CB8AC3E}">
        <p14:creationId xmlns:p14="http://schemas.microsoft.com/office/powerpoint/2010/main" xmlns="" val="1703748904"/>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300BC5BF-032A-98A9-77D3-04C68EDA7C94}"/>
              </a:ext>
            </a:extLst>
          </p:cNvPr>
          <p:cNvSpPr txBox="1"/>
          <p:nvPr/>
        </p:nvSpPr>
        <p:spPr>
          <a:xfrm>
            <a:off x="2990850" y="4052155"/>
            <a:ext cx="6724651" cy="2215991"/>
          </a:xfrm>
          <a:prstGeom prst="rect">
            <a:avLst/>
          </a:prstGeom>
          <a:noFill/>
        </p:spPr>
        <p:txBody>
          <a:bodyPr wrap="square">
            <a:spAutoFit/>
          </a:bodyPr>
          <a:lstStyle/>
          <a:p>
            <a:pPr algn="ctr"/>
            <a:r>
              <a:rPr lang="en-US" sz="1900" b="1" u="sng" dirty="0" smtClean="0"/>
              <a:t>1 Level DFD</a:t>
            </a:r>
          </a:p>
          <a:p>
            <a:pPr algn="just"/>
            <a:endParaRPr lang="en-US" sz="1900" dirty="0" smtClean="0"/>
          </a:p>
          <a:p>
            <a:pPr marL="914400" lvl="1" indent="-457200" algn="just">
              <a:buFont typeface="Wingdings" pitchFamily="2" charset="2"/>
              <a:buChar char="v"/>
            </a:pPr>
            <a:r>
              <a:rPr lang="en-US" sz="2000" dirty="0" smtClean="0">
                <a:solidFill>
                  <a:schemeClr val="bg1"/>
                </a:solidFill>
              </a:rPr>
              <a:t>In 1-level DFD, the context diagram is decomposed into multiple bubbles/processes.</a:t>
            </a:r>
          </a:p>
          <a:p>
            <a:pPr marL="914400" lvl="1" indent="-457200" algn="just">
              <a:buFont typeface="Wingdings" pitchFamily="2" charset="2"/>
              <a:buChar char="v"/>
            </a:pPr>
            <a:r>
              <a:rPr lang="en-US" sz="2000" dirty="0" smtClean="0">
                <a:solidFill>
                  <a:schemeClr val="bg1"/>
                </a:solidFill>
              </a:rPr>
              <a:t>In this level, we highlight the main functions of the system and breakdown the high-level process of 0-level DFD into subprocesses.</a:t>
            </a:r>
          </a:p>
        </p:txBody>
      </p:sp>
      <p:pic>
        <p:nvPicPr>
          <p:cNvPr id="2049" name="Picture 1" descr="C:\Users\chirag_jani\Pictures\Screenshots\WhatsApp Image 2025-03-18 at 09.27.37_407a5539.jpg"/>
          <p:cNvPicPr>
            <a:picLocks noChangeAspect="1" noChangeArrowheads="1"/>
          </p:cNvPicPr>
          <p:nvPr/>
        </p:nvPicPr>
        <p:blipFill>
          <a:blip r:embed="rId2" cstate="print"/>
          <a:srcRect/>
          <a:stretch>
            <a:fillRect/>
          </a:stretch>
        </p:blipFill>
        <p:spPr bwMode="auto">
          <a:xfrm>
            <a:off x="1495425" y="752475"/>
            <a:ext cx="9144000" cy="224790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xmlns="" val="1703748904"/>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1025" name="Rectangle 1"/>
          <p:cNvSpPr>
            <a:spLocks noChangeArrowheads="1"/>
          </p:cNvSpPr>
          <p:nvPr/>
        </p:nvSpPr>
        <p:spPr bwMode="auto">
          <a:xfrm>
            <a:off x="3677287" y="485373"/>
            <a:ext cx="3446777" cy="477054"/>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Char char="ü"/>
              <a:tabLst/>
            </a:pPr>
            <a:r>
              <a:rPr kumimoji="0" lang="en-US" sz="2500" b="1" i="0" u="sng" strike="noStrike" cap="none" normalizeH="0" baseline="0" dirty="0" smtClean="0">
                <a:ln>
                  <a:noFill/>
                </a:ln>
                <a:solidFill>
                  <a:schemeClr val="bg1"/>
                </a:solidFill>
                <a:effectLst/>
                <a:latin typeface="Arial" pitchFamily="34" charset="0"/>
                <a:ea typeface="Calibri" pitchFamily="34" charset="0"/>
                <a:cs typeface="Times New Roman" pitchFamily="18" charset="0"/>
              </a:rPr>
              <a:t>Admin 1 Level DFD </a:t>
            </a:r>
            <a:endParaRPr kumimoji="0" lang="en-US" sz="2500" b="1" i="0" u="sng" strike="noStrike" cap="none" normalizeH="0" baseline="0" dirty="0" smtClean="0">
              <a:ln>
                <a:noFill/>
              </a:ln>
              <a:solidFill>
                <a:schemeClr val="bg1"/>
              </a:solidFill>
              <a:effectLst/>
              <a:latin typeface="Arial" pitchFamily="34" charset="0"/>
              <a:cs typeface="Arial" pitchFamily="34" charset="0"/>
            </a:endParaRPr>
          </a:p>
        </p:txBody>
      </p:sp>
      <p:pic>
        <p:nvPicPr>
          <p:cNvPr id="8" name="Picture 7" descr="C:\Users\chirag_jani\Pictures\Screenshots\Screenshot 2025-03-17 171911.png"/>
          <p:cNvPicPr/>
          <p:nvPr/>
        </p:nvPicPr>
        <p:blipFill>
          <a:blip r:embed="rId2" cstate="print"/>
          <a:srcRect/>
          <a:stretch>
            <a:fillRect/>
          </a:stretch>
        </p:blipFill>
        <p:spPr bwMode="auto">
          <a:xfrm>
            <a:off x="2925445" y="1666875"/>
            <a:ext cx="5466080" cy="4719844"/>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xmlns="" val="1703748904"/>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1025" name="Rectangle 1"/>
          <p:cNvSpPr>
            <a:spLocks noChangeArrowheads="1"/>
          </p:cNvSpPr>
          <p:nvPr/>
        </p:nvSpPr>
        <p:spPr bwMode="auto">
          <a:xfrm>
            <a:off x="3732590" y="462290"/>
            <a:ext cx="2901500"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a:buFont typeface="Wingdings" pitchFamily="2" charset="2"/>
              <a:buChar char="ü"/>
            </a:pPr>
            <a:r>
              <a:rPr lang="en-US" sz="2800" b="1" u="sng" dirty="0" smtClean="0">
                <a:solidFill>
                  <a:schemeClr val="bg1"/>
                </a:solidFill>
              </a:rPr>
              <a:t>User 1 level DFD</a:t>
            </a:r>
            <a:endParaRPr lang="en-US" sz="2800" b="1" u="sng" dirty="0">
              <a:solidFill>
                <a:schemeClr val="bg1"/>
              </a:solidFill>
            </a:endParaRPr>
          </a:p>
        </p:txBody>
      </p:sp>
      <p:pic>
        <p:nvPicPr>
          <p:cNvPr id="5" name="Picture 4" descr="C:\Users\chirag_jani\Pictures\Screenshots\Screenshot 2025-03-17 173843.png"/>
          <p:cNvPicPr/>
          <p:nvPr/>
        </p:nvPicPr>
        <p:blipFill>
          <a:blip r:embed="rId2" cstate="print"/>
          <a:srcRect/>
          <a:stretch>
            <a:fillRect/>
          </a:stretch>
        </p:blipFill>
        <p:spPr bwMode="auto">
          <a:xfrm>
            <a:off x="3276600" y="1466849"/>
            <a:ext cx="4345304" cy="506348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xmlns="" val="1703748904"/>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70" name="文本框 10" descr="e7d195523061f1c0c30ee18c1b05f65d12b38e2533cb2ccdAE0CC34CB5CBEBFAEC353FED4DECE97C3E379FD1D933F5E4DC18EF8EA6B7A1130D5F6DE9DD2BE4B0A8C9126ACE5083D1F5A9E323B29CCFC723947F2A7770FFCFC0136AC2E9358C416F4A10C6952D33DA63038E460805E61AD394230B9BB5ED30CDD32E0864C96BD7869770F58DC06A0E">
            <a:extLst>
              <a:ext uri="{FF2B5EF4-FFF2-40B4-BE49-F238E27FC236}">
                <a16:creationId xmlns:a16="http://schemas.microsoft.com/office/drawing/2014/main" xmlns="" id="{4750551F-2196-C453-05C4-EC541688DEFF}"/>
              </a:ext>
            </a:extLst>
          </p:cNvPr>
          <p:cNvSpPr txBox="1"/>
          <p:nvPr/>
        </p:nvSpPr>
        <p:spPr>
          <a:xfrm>
            <a:off x="960565" y="223058"/>
            <a:ext cx="3977640" cy="707886"/>
          </a:xfrm>
          <a:prstGeom prst="rect">
            <a:avLst/>
          </a:prstGeom>
          <a:noFill/>
        </p:spPr>
        <p:txBody>
          <a:bodyPr wrap="none" rtlCol="0">
            <a:normAutofit/>
          </a:bodyPr>
          <a:lstStyle/>
          <a:p>
            <a:pPr algn="ctr"/>
            <a:r>
              <a:rPr lang="en-US" altLang="zh-CN" sz="4000" u="sng" dirty="0">
                <a:latin typeface="Source Han Sans SC"/>
                <a:ea typeface="Source Han Sans SC"/>
              </a:rPr>
              <a:t>DATA DICTIONARY </a:t>
            </a:r>
            <a:r>
              <a:rPr lang="en-US" altLang="zh-CN" sz="4000" dirty="0">
                <a:latin typeface="Source Han Sans SC"/>
                <a:ea typeface="Source Han Sans SC"/>
              </a:rPr>
              <a:t>:</a:t>
            </a:r>
            <a:r>
              <a:rPr lang="en-US" sz="4000" dirty="0">
                <a:solidFill>
                  <a:schemeClr val="tx1">
                    <a:lumMod val="95000"/>
                    <a:lumOff val="5000"/>
                  </a:schemeClr>
                </a:solidFill>
                <a:latin typeface="Source Han Sans SC"/>
                <a:ea typeface="Source Han Sans SC"/>
                <a:cs typeface="+mn-ea"/>
                <a:sym typeface="+mn-lt"/>
              </a:rPr>
              <a:t> </a:t>
            </a:r>
          </a:p>
        </p:txBody>
      </p:sp>
      <p:sp>
        <p:nvSpPr>
          <p:cNvPr id="71" name="iśḻíḑè">
            <a:extLst>
              <a:ext uri="{FF2B5EF4-FFF2-40B4-BE49-F238E27FC236}">
                <a16:creationId xmlns:a16="http://schemas.microsoft.com/office/drawing/2014/main" xmlns="" id="{269FE6A2-BDFF-28C3-98A5-A4CF604810A2}"/>
              </a:ext>
            </a:extLst>
          </p:cNvPr>
          <p:cNvSpPr txBox="1"/>
          <p:nvPr/>
        </p:nvSpPr>
        <p:spPr>
          <a:xfrm>
            <a:off x="0" y="1075073"/>
            <a:ext cx="2461189" cy="1180447"/>
          </a:xfrm>
          <a:prstGeom prst="rect">
            <a:avLst/>
          </a:prstGeom>
          <a:noFill/>
        </p:spPr>
        <p:txBody>
          <a:bodyPr wrap="square" lIns="91440" tIns="45720" rIns="91440" bIns="45720">
            <a:noAutofit/>
            <a:scene3d>
              <a:camera prst="orthographicFront"/>
              <a:lightRig rig="glow" dir="tl">
                <a:rot lat="0" lon="0" rev="5400000"/>
              </a:lightRig>
            </a:scene3d>
            <a:sp3d contourW="12700">
              <a:bevelT w="25400" h="25400"/>
              <a:contourClr>
                <a:schemeClr val="accent6">
                  <a:shade val="73000"/>
                </a:schemeClr>
              </a:contourClr>
            </a:sp3d>
          </a:bodyPr>
          <a:lstStyle/>
          <a:p>
            <a:pPr>
              <a:lnSpc>
                <a:spcPct val="128000"/>
              </a:lnSpc>
            </a:pPr>
            <a:r>
              <a:rPr lang="en-US" altLang="en-US" sz="3200"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1.Registration table</a:t>
            </a:r>
            <a:endParaRPr lang="en-US" altLang="en-US" sz="3200" u="sng"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nSpc>
                <a:spcPct val="128000"/>
              </a:lnSpc>
            </a:pPr>
            <a:endParaRPr lang="en-US" altLang="en-US" sz="3200" b="1" i="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graphicFrame>
        <p:nvGraphicFramePr>
          <p:cNvPr id="11" name="Table 10">
            <a:extLst>
              <a:ext uri="{FF2B5EF4-FFF2-40B4-BE49-F238E27FC236}">
                <a16:creationId xmlns:a16="http://schemas.microsoft.com/office/drawing/2014/main" xmlns="" id="{5130E0C5-6364-0A68-A9F6-6575CEFA861D}"/>
              </a:ext>
            </a:extLst>
          </p:cNvPr>
          <p:cNvGraphicFramePr>
            <a:graphicFrameLocks noGrp="1"/>
          </p:cNvGraphicFramePr>
          <p:nvPr>
            <p:extLst>
              <p:ext uri="{D42A27DB-BD31-4B8C-83A1-F6EECF244321}">
                <p14:modId xmlns:p14="http://schemas.microsoft.com/office/powerpoint/2010/main" xmlns="" val="954868932"/>
              </p:ext>
            </p:extLst>
          </p:nvPr>
        </p:nvGraphicFramePr>
        <p:xfrm>
          <a:off x="2432049" y="2425197"/>
          <a:ext cx="6681472" cy="3895393"/>
        </p:xfrm>
        <a:graphic>
          <a:graphicData uri="http://schemas.openxmlformats.org/drawingml/2006/table">
            <a:tbl>
              <a:tblPr firstRow="1" firstCol="1" bandRow="1">
                <a:tableStyleId>{3C2FFA5D-87B4-456A-9821-1D502468CF0F}</a:tableStyleId>
              </a:tblPr>
              <a:tblGrid>
                <a:gridCol w="1123913">
                  <a:extLst>
                    <a:ext uri="{9D8B030D-6E8A-4147-A177-3AD203B41FA5}">
                      <a16:colId xmlns:a16="http://schemas.microsoft.com/office/drawing/2014/main" xmlns="" val="797042792"/>
                    </a:ext>
                  </a:extLst>
                </a:gridCol>
                <a:gridCol w="1334868">
                  <a:extLst>
                    <a:ext uri="{9D8B030D-6E8A-4147-A177-3AD203B41FA5}">
                      <a16:colId xmlns:a16="http://schemas.microsoft.com/office/drawing/2014/main" xmlns="" val="749234015"/>
                    </a:ext>
                  </a:extLst>
                </a:gridCol>
                <a:gridCol w="444719">
                  <a:extLst>
                    <a:ext uri="{9D8B030D-6E8A-4147-A177-3AD203B41FA5}">
                      <a16:colId xmlns:a16="http://schemas.microsoft.com/office/drawing/2014/main" xmlns="" val="1856774378"/>
                    </a:ext>
                  </a:extLst>
                </a:gridCol>
                <a:gridCol w="997054">
                  <a:extLst>
                    <a:ext uri="{9D8B030D-6E8A-4147-A177-3AD203B41FA5}">
                      <a16:colId xmlns:a16="http://schemas.microsoft.com/office/drawing/2014/main" xmlns="" val="115069988"/>
                    </a:ext>
                  </a:extLst>
                </a:gridCol>
                <a:gridCol w="2780918">
                  <a:extLst>
                    <a:ext uri="{9D8B030D-6E8A-4147-A177-3AD203B41FA5}">
                      <a16:colId xmlns:a16="http://schemas.microsoft.com/office/drawing/2014/main" xmlns="" val="1134433099"/>
                    </a:ext>
                  </a:extLst>
                </a:gridCol>
              </a:tblGrid>
              <a:tr h="305232">
                <a:tc gridSpan="5">
                  <a:txBody>
                    <a:bodyPr/>
                    <a:lstStyle/>
                    <a:p>
                      <a:pPr>
                        <a:lnSpc>
                          <a:spcPct val="115000"/>
                        </a:lnSpc>
                        <a:spcAft>
                          <a:spcPts val="1000"/>
                        </a:spcAft>
                      </a:pPr>
                      <a:r>
                        <a:rPr lang="en-US" sz="1600" b="1" kern="100" dirty="0">
                          <a:latin typeface="Times New Roman"/>
                          <a:ea typeface="Calibri"/>
                          <a:cs typeface="Times New Roman"/>
                        </a:rPr>
                        <a:t>Table Name :Registration</a:t>
                      </a:r>
                      <a:endParaRPr lang="en-US" sz="16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661650241"/>
                  </a:ext>
                </a:extLst>
              </a:tr>
              <a:tr h="305232">
                <a:tc gridSpan="5">
                  <a:txBody>
                    <a:bodyPr/>
                    <a:lstStyle/>
                    <a:p>
                      <a:pPr>
                        <a:lnSpc>
                          <a:spcPct val="115000"/>
                        </a:lnSpc>
                        <a:spcAft>
                          <a:spcPts val="1000"/>
                        </a:spcAft>
                      </a:pPr>
                      <a:r>
                        <a:rPr lang="en-US" sz="1100" b="1" kern="100" dirty="0">
                          <a:latin typeface="Times New Roman"/>
                          <a:ea typeface="Calibri"/>
                          <a:cs typeface="Times New Roman"/>
                        </a:rPr>
                        <a:t>Primary Key : Email</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05232">
                <a:tc gridSpan="5">
                  <a:txBody>
                    <a:bodyPr/>
                    <a:lstStyle/>
                    <a:p>
                      <a:pPr>
                        <a:lnSpc>
                          <a:spcPct val="115000"/>
                        </a:lnSpc>
                        <a:spcAft>
                          <a:spcPts val="1000"/>
                        </a:spcAft>
                      </a:pPr>
                      <a:r>
                        <a:rPr lang="en-US" sz="1100" b="1" kern="100" dirty="0">
                          <a:latin typeface="Times New Roman"/>
                          <a:ea typeface="Calibri"/>
                          <a:cs typeface="Times New Roman"/>
                        </a:rPr>
                        <a:t>Foreign Key:  -</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05232">
                <a:tc gridSpan="5">
                  <a:txBody>
                    <a:bodyPr/>
                    <a:lstStyle/>
                    <a:p>
                      <a:pPr>
                        <a:lnSpc>
                          <a:spcPct val="115000"/>
                        </a:lnSpc>
                        <a:spcAft>
                          <a:spcPts val="1000"/>
                        </a:spcAft>
                      </a:pPr>
                      <a:r>
                        <a:rPr lang="en-US" sz="1100" b="1" kern="100" dirty="0">
                          <a:latin typeface="Times New Roman"/>
                          <a:ea typeface="Calibri"/>
                          <a:cs typeface="Times New Roman"/>
                        </a:rPr>
                        <a:t>Description : This table is use to store data of users like id, username, Password </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86398">
                <a:tc>
                  <a:txBody>
                    <a:bodyPr/>
                    <a:lstStyle/>
                    <a:p>
                      <a:pPr>
                        <a:lnSpc>
                          <a:spcPct val="115000"/>
                        </a:lnSpc>
                        <a:spcAft>
                          <a:spcPts val="1000"/>
                        </a:spcAft>
                      </a:pPr>
                      <a:r>
                        <a:rPr lang="en-US" sz="1100" b="1" kern="100" dirty="0">
                          <a:latin typeface="Times New Roman"/>
                          <a:ea typeface="Calibri"/>
                          <a:cs typeface="Times New Roman"/>
                        </a:rPr>
                        <a:t>Field Name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Data Type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Size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Constraint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Description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3531296744"/>
                  </a:ext>
                </a:extLst>
              </a:tr>
              <a:tr h="488828">
                <a:tc>
                  <a:txBody>
                    <a:bodyPr/>
                    <a:lstStyle/>
                    <a:p>
                      <a:pPr>
                        <a:lnSpc>
                          <a:spcPct val="115000"/>
                        </a:lnSpc>
                        <a:spcAft>
                          <a:spcPts val="1000"/>
                        </a:spcAft>
                      </a:pPr>
                      <a:r>
                        <a:rPr lang="en-US" sz="1100" b="1" kern="100" dirty="0">
                          <a:latin typeface="Times New Roman"/>
                          <a:ea typeface="Calibri"/>
                          <a:cs typeface="Times New Roman"/>
                        </a:rPr>
                        <a:t>Username</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50</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User name</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729778415"/>
                  </a:ext>
                </a:extLst>
              </a:tr>
              <a:tr h="488828">
                <a:tc>
                  <a:txBody>
                    <a:bodyPr/>
                    <a:lstStyle/>
                    <a:p>
                      <a:pPr>
                        <a:lnSpc>
                          <a:spcPct val="115000"/>
                        </a:lnSpc>
                        <a:spcAft>
                          <a:spcPts val="1000"/>
                        </a:spcAft>
                      </a:pPr>
                      <a:r>
                        <a:rPr lang="en-US" sz="1100" b="1" kern="100" dirty="0">
                          <a:latin typeface="Times New Roman"/>
                          <a:ea typeface="Calibri"/>
                          <a:cs typeface="Times New Roman"/>
                        </a:rPr>
                        <a:t>Email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50</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Pk</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User Email</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2876837555"/>
                  </a:ext>
                </a:extLst>
              </a:tr>
              <a:tr h="325809">
                <a:tc>
                  <a:txBody>
                    <a:bodyPr/>
                    <a:lstStyle/>
                    <a:p>
                      <a:pPr>
                        <a:lnSpc>
                          <a:spcPct val="115000"/>
                        </a:lnSpc>
                        <a:spcAft>
                          <a:spcPts val="1000"/>
                        </a:spcAft>
                      </a:pPr>
                      <a:r>
                        <a:rPr lang="en-US" sz="1100" b="1" kern="100" dirty="0">
                          <a:latin typeface="Times New Roman"/>
                          <a:ea typeface="Calibri"/>
                          <a:cs typeface="Times New Roman"/>
                        </a:rPr>
                        <a:t>Address</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255</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User Address</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51988810"/>
                  </a:ext>
                </a:extLst>
              </a:tr>
              <a:tr h="299515">
                <a:tc>
                  <a:txBody>
                    <a:bodyPr/>
                    <a:lstStyle/>
                    <a:p>
                      <a:pPr>
                        <a:lnSpc>
                          <a:spcPct val="115000"/>
                        </a:lnSpc>
                        <a:spcAft>
                          <a:spcPts val="1000"/>
                        </a:spcAft>
                      </a:pPr>
                      <a:r>
                        <a:rPr lang="en-US" sz="1100" b="1" kern="100" dirty="0">
                          <a:latin typeface="Times New Roman"/>
                          <a:ea typeface="Calibri"/>
                          <a:cs typeface="Times New Roman"/>
                        </a:rPr>
                        <a:t>Mobile_number</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10</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User mobile_number</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1523047125"/>
                  </a:ext>
                </a:extLst>
              </a:tr>
              <a:tr h="299515">
                <a:tc>
                  <a:txBody>
                    <a:bodyPr/>
                    <a:lstStyle/>
                    <a:p>
                      <a:pPr>
                        <a:lnSpc>
                          <a:spcPct val="115000"/>
                        </a:lnSpc>
                        <a:spcAft>
                          <a:spcPts val="1000"/>
                        </a:spcAft>
                      </a:pPr>
                      <a:r>
                        <a:rPr lang="en-US" sz="1100" b="1" kern="100" dirty="0">
                          <a:latin typeface="Times New Roman"/>
                          <a:ea typeface="Calibri"/>
                          <a:cs typeface="Times New Roman"/>
                        </a:rPr>
                        <a:t>Password</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50</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User password</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393278356"/>
                  </a:ext>
                </a:extLst>
              </a:tr>
              <a:tr h="299515">
                <a:tc>
                  <a:txBody>
                    <a:bodyPr/>
                    <a:lstStyle/>
                    <a:p>
                      <a:pPr>
                        <a:lnSpc>
                          <a:spcPct val="115000"/>
                        </a:lnSpc>
                        <a:spcAft>
                          <a:spcPts val="1000"/>
                        </a:spcAft>
                      </a:pPr>
                      <a:r>
                        <a:rPr lang="en-US" sz="1100" b="1" kern="100" dirty="0">
                          <a:latin typeface="Times New Roman"/>
                          <a:ea typeface="Calibri"/>
                          <a:cs typeface="Times New Roman"/>
                        </a:rPr>
                        <a:t>cPassword</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50</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Comparision between Password and Confirm Password</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1013885525"/>
                  </a:ext>
                </a:extLst>
              </a:tr>
            </a:tbl>
          </a:graphicData>
        </a:graphic>
      </p:graphicFrame>
    </p:spTree>
    <p:custDataLst>
      <p:tags r:id="rId1"/>
    </p:custDataLst>
    <p:extLst>
      <p:ext uri="{BB962C8B-B14F-4D97-AF65-F5344CB8AC3E}">
        <p14:creationId xmlns:p14="http://schemas.microsoft.com/office/powerpoint/2010/main" xmlns="" val="2066653460"/>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iterate type="lt">
                                    <p:tmPct val="5000"/>
                                  </p:iterate>
                                  <p:childTnLst>
                                    <p:set>
                                      <p:cBhvr>
                                        <p:cTn id="6" dur="1" fill="hold">
                                          <p:stCondLst>
                                            <p:cond delay="0"/>
                                          </p:stCondLst>
                                        </p:cTn>
                                        <p:tgtEl>
                                          <p:spTgt spid="70"/>
                                        </p:tgtEl>
                                        <p:attrNameLst>
                                          <p:attrName>style.visibility</p:attrName>
                                        </p:attrNameLst>
                                      </p:cBhvr>
                                      <p:to>
                                        <p:strVal val="visible"/>
                                      </p:to>
                                    </p:set>
                                    <p:anim calcmode="lin" valueType="num">
                                      <p:cBhvr additive="base">
                                        <p:cTn id="7" dur="1500" fill="hold"/>
                                        <p:tgtEl>
                                          <p:spTgt spid="70"/>
                                        </p:tgtEl>
                                        <p:attrNameLst>
                                          <p:attrName>ppt_x</p:attrName>
                                        </p:attrNameLst>
                                      </p:cBhvr>
                                      <p:tavLst>
                                        <p:tav tm="0">
                                          <p:val>
                                            <p:strVal val="#ppt_x"/>
                                          </p:val>
                                        </p:tav>
                                        <p:tav tm="100000">
                                          <p:val>
                                            <p:strVal val="#ppt_x"/>
                                          </p:val>
                                        </p:tav>
                                      </p:tavLst>
                                    </p:anim>
                                    <p:anim calcmode="lin" valueType="num">
                                      <p:cBhvr additive="base">
                                        <p:cTn id="8" dur="1500" fill="hold"/>
                                        <p:tgtEl>
                                          <p:spTgt spid="7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71" name="iśḻíḑè">
            <a:extLst>
              <a:ext uri="{FF2B5EF4-FFF2-40B4-BE49-F238E27FC236}">
                <a16:creationId xmlns:a16="http://schemas.microsoft.com/office/drawing/2014/main" xmlns="" id="{269FE6A2-BDFF-28C3-98A5-A4CF604810A2}"/>
              </a:ext>
            </a:extLst>
          </p:cNvPr>
          <p:cNvSpPr txBox="1"/>
          <p:nvPr/>
        </p:nvSpPr>
        <p:spPr>
          <a:xfrm>
            <a:off x="90209" y="305026"/>
            <a:ext cx="2461189" cy="581057"/>
          </a:xfrm>
          <a:prstGeom prst="rect">
            <a:avLst/>
          </a:prstGeom>
          <a:noFill/>
        </p:spPr>
        <p:txBody>
          <a:bodyPr wrap="square" lIns="91440" tIns="45720" rIns="91440" bIns="45720">
            <a:noAutofit/>
          </a:bodyPr>
          <a:lstStyle/>
          <a:p>
            <a:pPr>
              <a:lnSpc>
                <a:spcPct val="128000"/>
              </a:lnSpc>
            </a:pPr>
            <a:r>
              <a:rPr lang="en-US" altLang="en-US" sz="2800" u="sng" dirty="0">
                <a:ln w="18415" cmpd="sng">
                  <a:solidFill>
                    <a:srgbClr val="FFFFFF"/>
                  </a:solidFill>
                  <a:prstDash val="solid"/>
                </a:ln>
                <a:solidFill>
                  <a:srgbClr val="FFFFFF"/>
                </a:solidFill>
                <a:effectLst>
                  <a:outerShdw blurRad="63500" dir="3600000" algn="tl" rotWithShape="0">
                    <a:srgbClr val="000000">
                      <a:alpha val="70000"/>
                    </a:srgbClr>
                  </a:outerShdw>
                </a:effectLst>
              </a:rPr>
              <a:t>2.Admin Table</a:t>
            </a:r>
          </a:p>
          <a:p>
            <a:pPr>
              <a:lnSpc>
                <a:spcPct val="128000"/>
              </a:lnSpc>
            </a:pPr>
            <a:endParaRPr lang="en-US" altLang="en-US" sz="2000" b="1" i="1" dirty="0">
              <a:solidFill>
                <a:schemeClr val="tx1">
                  <a:lumMod val="75000"/>
                  <a:lumOff val="25000"/>
                </a:schemeClr>
              </a:solidFill>
            </a:endParaRPr>
          </a:p>
        </p:txBody>
      </p:sp>
      <p:graphicFrame>
        <p:nvGraphicFramePr>
          <p:cNvPr id="2" name="Table 1">
            <a:extLst>
              <a:ext uri="{FF2B5EF4-FFF2-40B4-BE49-F238E27FC236}">
                <a16:creationId xmlns:a16="http://schemas.microsoft.com/office/drawing/2014/main" xmlns="" id="{F6ACA10A-96E7-EAFE-BC5D-01CB5C01DAEE}"/>
              </a:ext>
            </a:extLst>
          </p:cNvPr>
          <p:cNvGraphicFramePr>
            <a:graphicFrameLocks noGrp="1"/>
          </p:cNvGraphicFramePr>
          <p:nvPr>
            <p:extLst>
              <p:ext uri="{D42A27DB-BD31-4B8C-83A1-F6EECF244321}">
                <p14:modId xmlns:p14="http://schemas.microsoft.com/office/powerpoint/2010/main" xmlns="" val="313414500"/>
              </p:ext>
            </p:extLst>
          </p:nvPr>
        </p:nvGraphicFramePr>
        <p:xfrm>
          <a:off x="2019300" y="1277503"/>
          <a:ext cx="6867526" cy="4605869"/>
        </p:xfrm>
        <a:graphic>
          <a:graphicData uri="http://schemas.openxmlformats.org/drawingml/2006/table">
            <a:tbl>
              <a:tblPr firstRow="1" firstCol="1" bandRow="1">
                <a:tableStyleId>{3C2FFA5D-87B4-456A-9821-1D502468CF0F}</a:tableStyleId>
              </a:tblPr>
              <a:tblGrid>
                <a:gridCol w="1155210">
                  <a:extLst>
                    <a:ext uri="{9D8B030D-6E8A-4147-A177-3AD203B41FA5}">
                      <a16:colId xmlns:a16="http://schemas.microsoft.com/office/drawing/2014/main" xmlns="" val="365203505"/>
                    </a:ext>
                  </a:extLst>
                </a:gridCol>
                <a:gridCol w="1372040">
                  <a:extLst>
                    <a:ext uri="{9D8B030D-6E8A-4147-A177-3AD203B41FA5}">
                      <a16:colId xmlns:a16="http://schemas.microsoft.com/office/drawing/2014/main" xmlns="" val="3887227461"/>
                    </a:ext>
                  </a:extLst>
                </a:gridCol>
                <a:gridCol w="457103">
                  <a:extLst>
                    <a:ext uri="{9D8B030D-6E8A-4147-A177-3AD203B41FA5}">
                      <a16:colId xmlns:a16="http://schemas.microsoft.com/office/drawing/2014/main" xmlns="" val="695393895"/>
                    </a:ext>
                  </a:extLst>
                </a:gridCol>
                <a:gridCol w="1024817">
                  <a:extLst>
                    <a:ext uri="{9D8B030D-6E8A-4147-A177-3AD203B41FA5}">
                      <a16:colId xmlns:a16="http://schemas.microsoft.com/office/drawing/2014/main" xmlns="" val="3419463403"/>
                    </a:ext>
                  </a:extLst>
                </a:gridCol>
                <a:gridCol w="2858356">
                  <a:extLst>
                    <a:ext uri="{9D8B030D-6E8A-4147-A177-3AD203B41FA5}">
                      <a16:colId xmlns:a16="http://schemas.microsoft.com/office/drawing/2014/main" xmlns="" val="2272734416"/>
                    </a:ext>
                  </a:extLst>
                </a:gridCol>
              </a:tblGrid>
              <a:tr h="601539">
                <a:tc gridSpan="5">
                  <a:txBody>
                    <a:bodyPr/>
                    <a:lstStyle/>
                    <a:p>
                      <a:pPr>
                        <a:lnSpc>
                          <a:spcPct val="115000"/>
                        </a:lnSpc>
                        <a:spcAft>
                          <a:spcPts val="1000"/>
                        </a:spcAft>
                      </a:pPr>
                      <a:r>
                        <a:rPr lang="en-US" sz="1100" b="1" kern="100" dirty="0">
                          <a:latin typeface="Times New Roman"/>
                          <a:ea typeface="Calibri"/>
                          <a:cs typeface="Times New Roman"/>
                        </a:rPr>
                        <a:t>Table Name : </a:t>
                      </a:r>
                      <a:r>
                        <a:rPr lang="en-US" sz="2000" b="1" kern="100" dirty="0">
                          <a:latin typeface="Times New Roman"/>
                          <a:ea typeface="Calibri"/>
                          <a:cs typeface="Times New Roman"/>
                        </a:rPr>
                        <a:t>admin_Login</a:t>
                      </a:r>
                      <a:endParaRPr lang="en-US" sz="20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561123099"/>
                  </a:ext>
                </a:extLst>
              </a:tr>
              <a:tr h="601539">
                <a:tc gridSpan="5">
                  <a:txBody>
                    <a:bodyPr/>
                    <a:lstStyle/>
                    <a:p>
                      <a:pPr>
                        <a:lnSpc>
                          <a:spcPct val="115000"/>
                        </a:lnSpc>
                        <a:spcAft>
                          <a:spcPts val="1000"/>
                        </a:spcAft>
                      </a:pPr>
                      <a:r>
                        <a:rPr lang="en-US" sz="1100" b="1" kern="100" dirty="0">
                          <a:latin typeface="Times New Roman"/>
                          <a:ea typeface="Calibri"/>
                          <a:cs typeface="Times New Roman"/>
                        </a:rPr>
                        <a:t>Primary Key : ID </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601539">
                <a:tc gridSpan="5">
                  <a:txBody>
                    <a:bodyPr/>
                    <a:lstStyle/>
                    <a:p>
                      <a:pPr>
                        <a:lnSpc>
                          <a:spcPct val="115000"/>
                        </a:lnSpc>
                        <a:spcAft>
                          <a:spcPts val="1000"/>
                        </a:spcAft>
                      </a:pPr>
                      <a:r>
                        <a:rPr lang="en-US" sz="1100" b="1" kern="100" dirty="0">
                          <a:latin typeface="Times New Roman"/>
                          <a:ea typeface="Calibri"/>
                          <a:cs typeface="Times New Roman"/>
                        </a:rPr>
                        <a:t>Foreign Key:  -</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749256">
                <a:tc gridSpan="5">
                  <a:txBody>
                    <a:bodyPr/>
                    <a:lstStyle/>
                    <a:p>
                      <a:pPr>
                        <a:lnSpc>
                          <a:spcPct val="115000"/>
                        </a:lnSpc>
                        <a:spcAft>
                          <a:spcPts val="1000"/>
                        </a:spcAft>
                      </a:pPr>
                      <a:r>
                        <a:rPr lang="en-US" sz="1100" b="1" kern="100" dirty="0">
                          <a:latin typeface="Times New Roman"/>
                          <a:ea typeface="Calibri"/>
                          <a:cs typeface="Times New Roman"/>
                        </a:rPr>
                        <a:t>Description : this table is use to store data of admin like id, </a:t>
                      </a:r>
                      <a:r>
                        <a:rPr lang="en-US" sz="1100" b="1" kern="100" dirty="0" smtClean="0">
                          <a:latin typeface="Times New Roman"/>
                          <a:ea typeface="Calibri"/>
                          <a:cs typeface="Times New Roman"/>
                        </a:rPr>
                        <a:t>adminname</a:t>
                      </a:r>
                      <a:r>
                        <a:rPr lang="en-US" sz="1100" b="1" kern="100" dirty="0">
                          <a:latin typeface="Times New Roman"/>
                          <a:ea typeface="Calibri"/>
                          <a:cs typeface="Times New Roman"/>
                        </a:rPr>
                        <a:t>, Password </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294505003"/>
                  </a:ext>
                </a:extLst>
              </a:tr>
              <a:tr h="612218">
                <a:tc>
                  <a:txBody>
                    <a:bodyPr/>
                    <a:lstStyle/>
                    <a:p>
                      <a:pPr>
                        <a:lnSpc>
                          <a:spcPct val="115000"/>
                        </a:lnSpc>
                        <a:spcAft>
                          <a:spcPts val="1000"/>
                        </a:spcAft>
                      </a:pPr>
                      <a:r>
                        <a:rPr lang="en-US" sz="1100" b="1" kern="100" dirty="0">
                          <a:latin typeface="Times New Roman"/>
                          <a:ea typeface="Calibri"/>
                          <a:cs typeface="Times New Roman"/>
                        </a:rPr>
                        <a:t>Field Name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Data Type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Size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Constraint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Description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3205850958"/>
                  </a:ext>
                </a:extLst>
              </a:tr>
              <a:tr h="507214">
                <a:tc>
                  <a:txBody>
                    <a:bodyPr/>
                    <a:lstStyle/>
                    <a:p>
                      <a:pPr>
                        <a:lnSpc>
                          <a:spcPct val="115000"/>
                        </a:lnSpc>
                        <a:spcAft>
                          <a:spcPts val="1000"/>
                        </a:spcAft>
                      </a:pPr>
                      <a:r>
                        <a:rPr lang="en-US" sz="1100" b="1" kern="100" dirty="0">
                          <a:latin typeface="Times New Roman"/>
                          <a:ea typeface="Calibri"/>
                          <a:cs typeface="Times New Roman"/>
                        </a:rPr>
                        <a:t>ID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Int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11</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PK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Admin Identification id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630386845"/>
                  </a:ext>
                </a:extLst>
              </a:tr>
              <a:tr h="466282">
                <a:tc>
                  <a:txBody>
                    <a:bodyPr/>
                    <a:lstStyle/>
                    <a:p>
                      <a:pPr>
                        <a:lnSpc>
                          <a:spcPct val="115000"/>
                        </a:lnSpc>
                        <a:spcAft>
                          <a:spcPts val="1000"/>
                        </a:spcAft>
                      </a:pPr>
                      <a:r>
                        <a:rPr lang="en-US" sz="1100" b="1" kern="100" dirty="0">
                          <a:latin typeface="Times New Roman"/>
                          <a:ea typeface="Calibri"/>
                          <a:cs typeface="Times New Roman"/>
                        </a:rPr>
                        <a:t>AdminName</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255</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Admin name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1150753803"/>
                  </a:ext>
                </a:extLst>
              </a:tr>
              <a:tr h="466282">
                <a:tc>
                  <a:txBody>
                    <a:bodyPr/>
                    <a:lstStyle/>
                    <a:p>
                      <a:pPr>
                        <a:lnSpc>
                          <a:spcPct val="115000"/>
                        </a:lnSpc>
                        <a:spcAft>
                          <a:spcPts val="1000"/>
                        </a:spcAft>
                      </a:pPr>
                      <a:r>
                        <a:rPr lang="en-US" sz="1100" b="1" kern="100" dirty="0">
                          <a:latin typeface="Times New Roman"/>
                          <a:ea typeface="Calibri"/>
                          <a:cs typeface="Times New Roman"/>
                        </a:rPr>
                        <a:t>Password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255</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Admin password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1182716378"/>
                  </a:ext>
                </a:extLst>
              </a:tr>
            </a:tbl>
          </a:graphicData>
        </a:graphic>
      </p:graphicFrame>
    </p:spTree>
    <p:custDataLst>
      <p:tags r:id="rId1"/>
    </p:custDataLst>
    <p:extLst>
      <p:ext uri="{BB962C8B-B14F-4D97-AF65-F5344CB8AC3E}">
        <p14:creationId xmlns:p14="http://schemas.microsoft.com/office/powerpoint/2010/main" xmlns="" val="1950159144"/>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71" name="iśḻíḑè">
            <a:extLst>
              <a:ext uri="{FF2B5EF4-FFF2-40B4-BE49-F238E27FC236}">
                <a16:creationId xmlns:a16="http://schemas.microsoft.com/office/drawing/2014/main" xmlns="" id="{269FE6A2-BDFF-28C3-98A5-A4CF604810A2}"/>
              </a:ext>
            </a:extLst>
          </p:cNvPr>
          <p:cNvSpPr txBox="1"/>
          <p:nvPr/>
        </p:nvSpPr>
        <p:spPr>
          <a:xfrm>
            <a:off x="0" y="366872"/>
            <a:ext cx="3184696" cy="581057"/>
          </a:xfrm>
          <a:prstGeom prst="rect">
            <a:avLst/>
          </a:prstGeom>
          <a:noFill/>
        </p:spPr>
        <p:txBody>
          <a:bodyPr wrap="square" lIns="91440" tIns="45720" rIns="91440" bIns="45720">
            <a:noAutofit/>
          </a:bodyPr>
          <a:lstStyle/>
          <a:p>
            <a:pPr>
              <a:lnSpc>
                <a:spcPct val="128000"/>
              </a:lnSpc>
            </a:pPr>
            <a:r>
              <a:rPr lang="en-US" altLang="en-US" sz="2800" u="sng" dirty="0">
                <a:ln w="18415" cmpd="sng">
                  <a:solidFill>
                    <a:srgbClr val="FFFFFF"/>
                  </a:solidFill>
                  <a:prstDash val="solid"/>
                </a:ln>
                <a:solidFill>
                  <a:srgbClr val="FFFFFF"/>
                </a:solidFill>
                <a:effectLst>
                  <a:outerShdw blurRad="63500" dir="3600000" algn="tl" rotWithShape="0">
                    <a:srgbClr val="000000">
                      <a:alpha val="70000"/>
                    </a:srgbClr>
                  </a:outerShdw>
                </a:effectLst>
              </a:rPr>
              <a:t>3.Add To Cart Table</a:t>
            </a:r>
          </a:p>
          <a:p>
            <a:pPr>
              <a:lnSpc>
                <a:spcPct val="128000"/>
              </a:lnSpc>
            </a:pPr>
            <a:endParaRPr lang="en-US" altLang="en-US" sz="2000" b="1" i="1" dirty="0">
              <a:solidFill>
                <a:schemeClr val="tx1">
                  <a:lumMod val="75000"/>
                  <a:lumOff val="25000"/>
                </a:schemeClr>
              </a:solidFill>
            </a:endParaRPr>
          </a:p>
        </p:txBody>
      </p:sp>
      <p:graphicFrame>
        <p:nvGraphicFramePr>
          <p:cNvPr id="11" name="Table 10">
            <a:extLst>
              <a:ext uri="{FF2B5EF4-FFF2-40B4-BE49-F238E27FC236}">
                <a16:creationId xmlns:a16="http://schemas.microsoft.com/office/drawing/2014/main" xmlns="" id="{0D0F3671-6796-40AC-F2A6-EBC68AA06FE5}"/>
              </a:ext>
            </a:extLst>
          </p:cNvPr>
          <p:cNvGraphicFramePr>
            <a:graphicFrameLocks noGrp="1"/>
          </p:cNvGraphicFramePr>
          <p:nvPr>
            <p:extLst>
              <p:ext uri="{D42A27DB-BD31-4B8C-83A1-F6EECF244321}">
                <p14:modId xmlns:p14="http://schemas.microsoft.com/office/powerpoint/2010/main" xmlns="" val="4222976814"/>
              </p:ext>
            </p:extLst>
          </p:nvPr>
        </p:nvGraphicFramePr>
        <p:xfrm>
          <a:off x="2152029" y="1440306"/>
          <a:ext cx="6948844" cy="4584211"/>
        </p:xfrm>
        <a:graphic>
          <a:graphicData uri="http://schemas.openxmlformats.org/drawingml/2006/table">
            <a:tbl>
              <a:tblPr firstRow="1" firstCol="1" bandRow="1">
                <a:tableStyleId>{3C2FFA5D-87B4-456A-9821-1D502468CF0F}</a:tableStyleId>
              </a:tblPr>
              <a:tblGrid>
                <a:gridCol w="1168889">
                  <a:extLst>
                    <a:ext uri="{9D8B030D-6E8A-4147-A177-3AD203B41FA5}">
                      <a16:colId xmlns:a16="http://schemas.microsoft.com/office/drawing/2014/main" xmlns="" val="4251308888"/>
                    </a:ext>
                  </a:extLst>
                </a:gridCol>
                <a:gridCol w="1388286">
                  <a:extLst>
                    <a:ext uri="{9D8B030D-6E8A-4147-A177-3AD203B41FA5}">
                      <a16:colId xmlns:a16="http://schemas.microsoft.com/office/drawing/2014/main" xmlns="" val="4210076319"/>
                    </a:ext>
                  </a:extLst>
                </a:gridCol>
                <a:gridCol w="462514">
                  <a:extLst>
                    <a:ext uri="{9D8B030D-6E8A-4147-A177-3AD203B41FA5}">
                      <a16:colId xmlns:a16="http://schemas.microsoft.com/office/drawing/2014/main" xmlns="" val="4171084131"/>
                    </a:ext>
                  </a:extLst>
                </a:gridCol>
                <a:gridCol w="1036953">
                  <a:extLst>
                    <a:ext uri="{9D8B030D-6E8A-4147-A177-3AD203B41FA5}">
                      <a16:colId xmlns:a16="http://schemas.microsoft.com/office/drawing/2014/main" xmlns="" val="1172007103"/>
                    </a:ext>
                  </a:extLst>
                </a:gridCol>
                <a:gridCol w="2892202">
                  <a:extLst>
                    <a:ext uri="{9D8B030D-6E8A-4147-A177-3AD203B41FA5}">
                      <a16:colId xmlns:a16="http://schemas.microsoft.com/office/drawing/2014/main" xmlns="" val="1654483268"/>
                    </a:ext>
                  </a:extLst>
                </a:gridCol>
              </a:tblGrid>
              <a:tr h="286132">
                <a:tc gridSpan="5">
                  <a:txBody>
                    <a:bodyPr/>
                    <a:lstStyle/>
                    <a:p>
                      <a:pPr>
                        <a:lnSpc>
                          <a:spcPct val="115000"/>
                        </a:lnSpc>
                        <a:spcAft>
                          <a:spcPts val="1000"/>
                        </a:spcAft>
                      </a:pPr>
                      <a:r>
                        <a:rPr lang="en-US" sz="1100" b="1" kern="100" dirty="0">
                          <a:latin typeface="Times New Roman"/>
                          <a:ea typeface="Calibri"/>
                          <a:cs typeface="Times New Roman"/>
                        </a:rPr>
                        <a:t>Table Name : </a:t>
                      </a:r>
                      <a:r>
                        <a:rPr lang="en-US" sz="2000" b="1" kern="100" dirty="0">
                          <a:latin typeface="Times New Roman"/>
                          <a:ea typeface="Calibri"/>
                          <a:cs typeface="Times New Roman"/>
                        </a:rPr>
                        <a:t>add_cart</a:t>
                      </a:r>
                      <a:endParaRPr lang="en-US" sz="20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216091166"/>
                  </a:ext>
                </a:extLst>
              </a:tr>
              <a:tr h="286132">
                <a:tc gridSpan="5">
                  <a:txBody>
                    <a:bodyPr/>
                    <a:lstStyle/>
                    <a:p>
                      <a:pPr>
                        <a:lnSpc>
                          <a:spcPct val="115000"/>
                        </a:lnSpc>
                        <a:spcAft>
                          <a:spcPts val="1000"/>
                        </a:spcAft>
                      </a:pPr>
                      <a:r>
                        <a:rPr lang="en-US" sz="1100" b="1" kern="100" dirty="0">
                          <a:latin typeface="Times New Roman"/>
                          <a:ea typeface="Calibri"/>
                          <a:cs typeface="Times New Roman"/>
                        </a:rPr>
                        <a:t>Primary Key : ID </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86132">
                <a:tc gridSpan="5">
                  <a:txBody>
                    <a:bodyPr/>
                    <a:lstStyle/>
                    <a:p>
                      <a:pPr>
                        <a:lnSpc>
                          <a:spcPct val="115000"/>
                        </a:lnSpc>
                        <a:spcAft>
                          <a:spcPts val="1000"/>
                        </a:spcAft>
                      </a:pPr>
                      <a:r>
                        <a:rPr lang="en-US" sz="1100" b="1" kern="100" dirty="0">
                          <a:latin typeface="Times New Roman"/>
                          <a:ea typeface="Calibri"/>
                          <a:cs typeface="Times New Roman"/>
                        </a:rPr>
                        <a:t>Foreign Key:  menu_id</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86132">
                <a:tc gridSpan="5">
                  <a:txBody>
                    <a:bodyPr/>
                    <a:lstStyle/>
                    <a:p>
                      <a:pPr>
                        <a:lnSpc>
                          <a:spcPct val="115000"/>
                        </a:lnSpc>
                        <a:spcAft>
                          <a:spcPts val="1000"/>
                        </a:spcAft>
                      </a:pPr>
                      <a:r>
                        <a:rPr lang="en-US" sz="1100" b="1" kern="100" dirty="0">
                          <a:latin typeface="Times New Roman"/>
                          <a:ea typeface="Calibri"/>
                          <a:cs typeface="Times New Roman"/>
                        </a:rPr>
                        <a:t>Description : This table is use to store the cart detail like  id, menu_id, menu_name, price, image, quantity ,user_email etc.</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593019">
                <a:tc>
                  <a:txBody>
                    <a:bodyPr/>
                    <a:lstStyle/>
                    <a:p>
                      <a:pPr>
                        <a:lnSpc>
                          <a:spcPct val="115000"/>
                        </a:lnSpc>
                        <a:spcAft>
                          <a:spcPts val="1000"/>
                        </a:spcAft>
                      </a:pPr>
                      <a:r>
                        <a:rPr lang="en-US" sz="1100" b="1" kern="100" dirty="0">
                          <a:latin typeface="Times New Roman"/>
                          <a:ea typeface="Calibri"/>
                          <a:cs typeface="Times New Roman"/>
                        </a:rPr>
                        <a:t>Field Name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Data Type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Size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Constraint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Description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800560834"/>
                  </a:ext>
                </a:extLst>
              </a:tr>
              <a:tr h="475965">
                <a:tc>
                  <a:txBody>
                    <a:bodyPr/>
                    <a:lstStyle/>
                    <a:p>
                      <a:pPr>
                        <a:lnSpc>
                          <a:spcPct val="115000"/>
                        </a:lnSpc>
                        <a:spcAft>
                          <a:spcPts val="1000"/>
                        </a:spcAft>
                      </a:pPr>
                      <a:r>
                        <a:rPr lang="en-US" sz="1100" b="1" kern="100" dirty="0">
                          <a:latin typeface="Times New Roman"/>
                          <a:ea typeface="Calibri"/>
                          <a:cs typeface="Times New Roman"/>
                        </a:rPr>
                        <a:t>ID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Int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11</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PK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Cart id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4035106834"/>
                  </a:ext>
                </a:extLst>
              </a:tr>
              <a:tr h="394331">
                <a:tc>
                  <a:txBody>
                    <a:bodyPr/>
                    <a:lstStyle/>
                    <a:p>
                      <a:pPr>
                        <a:lnSpc>
                          <a:spcPct val="115000"/>
                        </a:lnSpc>
                        <a:spcAft>
                          <a:spcPts val="1000"/>
                        </a:spcAft>
                      </a:pPr>
                      <a:r>
                        <a:rPr lang="en-US" sz="1100" b="1" kern="100" dirty="0">
                          <a:latin typeface="Times New Roman"/>
                          <a:ea typeface="Calibri"/>
                          <a:cs typeface="Times New Roman"/>
                        </a:rPr>
                        <a:t>Menu_ ID</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Int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11</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FK</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 Menu Id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1321320043"/>
                  </a:ext>
                </a:extLst>
              </a:tr>
              <a:tr h="362508">
                <a:tc>
                  <a:txBody>
                    <a:bodyPr/>
                    <a:lstStyle/>
                    <a:p>
                      <a:pPr>
                        <a:lnSpc>
                          <a:spcPct val="115000"/>
                        </a:lnSpc>
                        <a:spcAft>
                          <a:spcPts val="1000"/>
                        </a:spcAft>
                      </a:pPr>
                      <a:r>
                        <a:rPr lang="en-US" sz="1100" b="1" kern="100" dirty="0">
                          <a:latin typeface="Times New Roman"/>
                          <a:ea typeface="Calibri"/>
                          <a:cs typeface="Times New Roman"/>
                        </a:rPr>
                        <a:t>Menu_Name</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255</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Cart Item Name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858424445"/>
                  </a:ext>
                </a:extLst>
              </a:tr>
              <a:tr h="362508">
                <a:tc>
                  <a:txBody>
                    <a:bodyPr/>
                    <a:lstStyle/>
                    <a:p>
                      <a:pPr>
                        <a:lnSpc>
                          <a:spcPct val="115000"/>
                        </a:lnSpc>
                        <a:spcAft>
                          <a:spcPts val="1000"/>
                        </a:spcAft>
                      </a:pPr>
                      <a:r>
                        <a:rPr lang="en-US" sz="1100" b="1" kern="100" dirty="0">
                          <a:latin typeface="Times New Roman"/>
                          <a:ea typeface="Calibri"/>
                          <a:cs typeface="Times New Roman"/>
                        </a:rPr>
                        <a:t>Price</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Decimal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10,2</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Item Price</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3591056946"/>
                  </a:ext>
                </a:extLst>
              </a:tr>
              <a:tr h="362508">
                <a:tc>
                  <a:txBody>
                    <a:bodyPr/>
                    <a:lstStyle/>
                    <a:p>
                      <a:pPr>
                        <a:lnSpc>
                          <a:spcPct val="115000"/>
                        </a:lnSpc>
                        <a:spcAft>
                          <a:spcPts val="1000"/>
                        </a:spcAft>
                      </a:pPr>
                      <a:r>
                        <a:rPr lang="en-US" sz="1100" b="1" kern="100" dirty="0">
                          <a:latin typeface="Times New Roman"/>
                          <a:ea typeface="Calibri"/>
                          <a:cs typeface="Times New Roman"/>
                        </a:rPr>
                        <a:t>Image</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255</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Item Image</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484743618"/>
                  </a:ext>
                </a:extLst>
              </a:tr>
              <a:tr h="362508">
                <a:tc>
                  <a:txBody>
                    <a:bodyPr/>
                    <a:lstStyle/>
                    <a:p>
                      <a:pPr>
                        <a:lnSpc>
                          <a:spcPct val="115000"/>
                        </a:lnSpc>
                        <a:spcAft>
                          <a:spcPts val="1000"/>
                        </a:spcAft>
                      </a:pPr>
                      <a:r>
                        <a:rPr lang="en-US" sz="1100" b="1" kern="100" dirty="0">
                          <a:latin typeface="Times New Roman"/>
                          <a:ea typeface="Calibri"/>
                          <a:cs typeface="Times New Roman"/>
                        </a:rPr>
                        <a:t>Quantity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Int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11</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Item Quantity</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1942012576"/>
                  </a:ext>
                </a:extLst>
              </a:tr>
              <a:tr h="362508">
                <a:tc>
                  <a:txBody>
                    <a:bodyPr/>
                    <a:lstStyle/>
                    <a:p>
                      <a:pPr>
                        <a:lnSpc>
                          <a:spcPct val="115000"/>
                        </a:lnSpc>
                        <a:spcAft>
                          <a:spcPts val="1000"/>
                        </a:spcAft>
                      </a:pPr>
                      <a:r>
                        <a:rPr lang="en-US" sz="1100" b="1" kern="100" dirty="0">
                          <a:latin typeface="Times New Roman"/>
                          <a:ea typeface="Calibri"/>
                          <a:cs typeface="Times New Roman"/>
                        </a:rPr>
                        <a:t>User_email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255</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User email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3453356006"/>
                  </a:ext>
                </a:extLst>
              </a:tr>
            </a:tbl>
          </a:graphicData>
        </a:graphic>
      </p:graphicFrame>
    </p:spTree>
    <p:custDataLst>
      <p:tags r:id="rId1"/>
    </p:custDataLst>
    <p:extLst>
      <p:ext uri="{BB962C8B-B14F-4D97-AF65-F5344CB8AC3E}">
        <p14:creationId xmlns:p14="http://schemas.microsoft.com/office/powerpoint/2010/main" xmlns="" val="2180207147"/>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71" name="iśḻíḑè">
            <a:extLst>
              <a:ext uri="{FF2B5EF4-FFF2-40B4-BE49-F238E27FC236}">
                <a16:creationId xmlns:a16="http://schemas.microsoft.com/office/drawing/2014/main" xmlns="" id="{269FE6A2-BDFF-28C3-98A5-A4CF604810A2}"/>
              </a:ext>
            </a:extLst>
          </p:cNvPr>
          <p:cNvSpPr txBox="1"/>
          <p:nvPr/>
        </p:nvSpPr>
        <p:spPr>
          <a:xfrm>
            <a:off x="17805" y="457628"/>
            <a:ext cx="3184696" cy="581057"/>
          </a:xfrm>
          <a:prstGeom prst="rect">
            <a:avLst/>
          </a:prstGeom>
          <a:noFill/>
        </p:spPr>
        <p:txBody>
          <a:bodyPr wrap="square" lIns="91440" tIns="45720" rIns="91440" bIns="45720">
            <a:noAutofit/>
          </a:bodyPr>
          <a:lstStyle/>
          <a:p>
            <a:pPr>
              <a:lnSpc>
                <a:spcPct val="128000"/>
              </a:lnSpc>
            </a:pPr>
            <a:r>
              <a:rPr lang="en-US" altLang="en-US" sz="2800" u="sng" dirty="0">
                <a:ln w="18415" cmpd="sng">
                  <a:solidFill>
                    <a:srgbClr val="FFFFFF"/>
                  </a:solidFill>
                  <a:prstDash val="solid"/>
                </a:ln>
                <a:solidFill>
                  <a:srgbClr val="FFFFFF"/>
                </a:solidFill>
                <a:effectLst>
                  <a:outerShdw blurRad="63500" dir="3600000" algn="tl" rotWithShape="0">
                    <a:srgbClr val="000000">
                      <a:alpha val="70000"/>
                    </a:srgbClr>
                  </a:outerShdw>
                </a:effectLst>
              </a:rPr>
              <a:t>4.Order </a:t>
            </a:r>
            <a:r>
              <a:rPr lang="en-US" altLang="en-US" sz="2800"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t>
            </a:r>
            <a:r>
              <a:rPr lang="en-US" altLang="en-US" sz="2800" u="sng" dirty="0">
                <a:ln w="18415" cmpd="sng">
                  <a:solidFill>
                    <a:srgbClr val="FFFFFF"/>
                  </a:solidFill>
                  <a:prstDash val="solid"/>
                </a:ln>
                <a:solidFill>
                  <a:srgbClr val="FFFFFF"/>
                </a:solidFill>
                <a:effectLst>
                  <a:outerShdw blurRad="63500" dir="3600000" algn="tl" rotWithShape="0">
                    <a:srgbClr val="000000">
                      <a:alpha val="70000"/>
                    </a:srgbClr>
                  </a:outerShdw>
                </a:effectLst>
              </a:rPr>
              <a:t>Table</a:t>
            </a:r>
          </a:p>
          <a:p>
            <a:pPr>
              <a:lnSpc>
                <a:spcPct val="128000"/>
              </a:lnSpc>
            </a:pPr>
            <a:endParaRPr lang="en-US" altLang="en-US" sz="2000" b="1" i="1" dirty="0">
              <a:solidFill>
                <a:schemeClr val="tx1">
                  <a:lumMod val="75000"/>
                  <a:lumOff val="25000"/>
                </a:schemeClr>
              </a:solidFill>
            </a:endParaRPr>
          </a:p>
        </p:txBody>
      </p:sp>
      <p:graphicFrame>
        <p:nvGraphicFramePr>
          <p:cNvPr id="150" name="Table 149">
            <a:extLst>
              <a:ext uri="{FF2B5EF4-FFF2-40B4-BE49-F238E27FC236}">
                <a16:creationId xmlns:a16="http://schemas.microsoft.com/office/drawing/2014/main" xmlns="" id="{C9BF088E-A428-8A30-52F9-35895A6BA5DF}"/>
              </a:ext>
            </a:extLst>
          </p:cNvPr>
          <p:cNvGraphicFramePr>
            <a:graphicFrameLocks noGrp="1"/>
          </p:cNvGraphicFramePr>
          <p:nvPr>
            <p:extLst>
              <p:ext uri="{D42A27DB-BD31-4B8C-83A1-F6EECF244321}">
                <p14:modId xmlns:p14="http://schemas.microsoft.com/office/powerpoint/2010/main" xmlns="" val="1875344527"/>
              </p:ext>
            </p:extLst>
          </p:nvPr>
        </p:nvGraphicFramePr>
        <p:xfrm>
          <a:off x="1788161" y="1269995"/>
          <a:ext cx="7670799" cy="5366243"/>
        </p:xfrm>
        <a:graphic>
          <a:graphicData uri="http://schemas.openxmlformats.org/drawingml/2006/table">
            <a:tbl>
              <a:tblPr firstRow="1" firstCol="1" bandRow="1">
                <a:tableStyleId>{3C2FFA5D-87B4-456A-9821-1D502468CF0F}</a:tableStyleId>
              </a:tblPr>
              <a:tblGrid>
                <a:gridCol w="1288730">
                  <a:extLst>
                    <a:ext uri="{9D8B030D-6E8A-4147-A177-3AD203B41FA5}">
                      <a16:colId xmlns:a16="http://schemas.microsoft.com/office/drawing/2014/main" xmlns="" val="1318300602"/>
                    </a:ext>
                  </a:extLst>
                </a:gridCol>
                <a:gridCol w="1530622">
                  <a:extLst>
                    <a:ext uri="{9D8B030D-6E8A-4147-A177-3AD203B41FA5}">
                      <a16:colId xmlns:a16="http://schemas.microsoft.com/office/drawing/2014/main" xmlns="" val="152638900"/>
                    </a:ext>
                  </a:extLst>
                </a:gridCol>
                <a:gridCol w="509935">
                  <a:extLst>
                    <a:ext uri="{9D8B030D-6E8A-4147-A177-3AD203B41FA5}">
                      <a16:colId xmlns:a16="http://schemas.microsoft.com/office/drawing/2014/main" xmlns="" val="946920080"/>
                    </a:ext>
                  </a:extLst>
                </a:gridCol>
                <a:gridCol w="1143268">
                  <a:extLst>
                    <a:ext uri="{9D8B030D-6E8A-4147-A177-3AD203B41FA5}">
                      <a16:colId xmlns:a16="http://schemas.microsoft.com/office/drawing/2014/main" xmlns="" val="4218134279"/>
                    </a:ext>
                  </a:extLst>
                </a:gridCol>
                <a:gridCol w="3198244">
                  <a:extLst>
                    <a:ext uri="{9D8B030D-6E8A-4147-A177-3AD203B41FA5}">
                      <a16:colId xmlns:a16="http://schemas.microsoft.com/office/drawing/2014/main" xmlns="" val="21640695"/>
                    </a:ext>
                  </a:extLst>
                </a:gridCol>
              </a:tblGrid>
              <a:tr h="155709">
                <a:tc gridSpan="5">
                  <a:txBody>
                    <a:bodyPr/>
                    <a:lstStyle/>
                    <a:p>
                      <a:pPr>
                        <a:lnSpc>
                          <a:spcPct val="115000"/>
                        </a:lnSpc>
                        <a:spcAft>
                          <a:spcPts val="1000"/>
                        </a:spcAft>
                      </a:pPr>
                      <a:r>
                        <a:rPr lang="en-US" sz="1100" b="1" kern="100" dirty="0">
                          <a:latin typeface="Times New Roman"/>
                          <a:ea typeface="Calibri"/>
                          <a:cs typeface="Times New Roman"/>
                        </a:rPr>
                        <a:t>Table Name : Order </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484937365"/>
                  </a:ext>
                </a:extLst>
              </a:tr>
              <a:tr h="155709">
                <a:tc gridSpan="5">
                  <a:txBody>
                    <a:bodyPr/>
                    <a:lstStyle/>
                    <a:p>
                      <a:pPr>
                        <a:lnSpc>
                          <a:spcPct val="115000"/>
                        </a:lnSpc>
                        <a:spcAft>
                          <a:spcPts val="1000"/>
                        </a:spcAft>
                      </a:pPr>
                      <a:r>
                        <a:rPr lang="en-US" sz="1100" b="1" kern="100" dirty="0">
                          <a:latin typeface="Times New Roman"/>
                          <a:ea typeface="Calibri"/>
                          <a:cs typeface="Times New Roman"/>
                        </a:rPr>
                        <a:t>Primary Key : Id</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55709">
                <a:tc gridSpan="5">
                  <a:txBody>
                    <a:bodyPr/>
                    <a:lstStyle/>
                    <a:p>
                      <a:pPr>
                        <a:lnSpc>
                          <a:spcPct val="115000"/>
                        </a:lnSpc>
                        <a:spcAft>
                          <a:spcPts val="1000"/>
                        </a:spcAft>
                      </a:pPr>
                      <a:r>
                        <a:rPr lang="en-US" sz="1100" b="1" kern="100" dirty="0">
                          <a:latin typeface="Times New Roman"/>
                          <a:ea typeface="Calibri"/>
                          <a:cs typeface="Times New Roman"/>
                        </a:rPr>
                        <a:t>Foreign Key:  -user_Email,menu_id</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4741">
                <a:tc gridSpan="5">
                  <a:txBody>
                    <a:bodyPr/>
                    <a:lstStyle/>
                    <a:p>
                      <a:pPr>
                        <a:lnSpc>
                          <a:spcPct val="115000"/>
                        </a:lnSpc>
                        <a:spcAft>
                          <a:spcPts val="1000"/>
                        </a:spcAft>
                      </a:pPr>
                      <a:r>
                        <a:rPr lang="en-US" sz="1100" b="1" kern="100" dirty="0">
                          <a:latin typeface="Times New Roman"/>
                          <a:ea typeface="Calibri"/>
                          <a:cs typeface="Times New Roman"/>
                        </a:rPr>
                        <a:t>Description : This table is use to store data of which user order’s the Furniture like order id, User Email, Menu id, Menu Name, price, Quantity,Total_Price,Img,Address,Mobile_Number,Order_status,Order_Date etc. </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776220330"/>
                  </a:ext>
                </a:extLst>
              </a:tr>
              <a:tr h="206873">
                <a:tc>
                  <a:txBody>
                    <a:bodyPr/>
                    <a:lstStyle/>
                    <a:p>
                      <a:pPr>
                        <a:lnSpc>
                          <a:spcPct val="115000"/>
                        </a:lnSpc>
                        <a:spcAft>
                          <a:spcPts val="1000"/>
                        </a:spcAft>
                      </a:pPr>
                      <a:r>
                        <a:rPr lang="en-US" sz="1100" b="1" kern="100" dirty="0">
                          <a:latin typeface="Times New Roman"/>
                          <a:ea typeface="Calibri"/>
                          <a:cs typeface="Times New Roman"/>
                        </a:rPr>
                        <a:t>Field Name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Data Type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Size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Constraint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Description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1332158911"/>
                  </a:ext>
                </a:extLst>
              </a:tr>
              <a:tr h="321961">
                <a:tc>
                  <a:txBody>
                    <a:bodyPr/>
                    <a:lstStyle/>
                    <a:p>
                      <a:pPr>
                        <a:lnSpc>
                          <a:spcPct val="115000"/>
                        </a:lnSpc>
                        <a:spcAft>
                          <a:spcPts val="1000"/>
                        </a:spcAft>
                      </a:pPr>
                      <a:r>
                        <a:rPr lang="en-US" sz="1100" b="1" kern="100" dirty="0">
                          <a:latin typeface="Times New Roman"/>
                          <a:ea typeface="Calibri"/>
                          <a:cs typeface="Times New Roman"/>
                        </a:rPr>
                        <a:t>id</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Int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11</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PK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Order id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2366250693"/>
                  </a:ext>
                </a:extLst>
              </a:tr>
              <a:tr h="210545">
                <a:tc>
                  <a:txBody>
                    <a:bodyPr/>
                    <a:lstStyle/>
                    <a:p>
                      <a:pPr>
                        <a:lnSpc>
                          <a:spcPct val="115000"/>
                        </a:lnSpc>
                        <a:spcAft>
                          <a:spcPts val="1000"/>
                        </a:spcAft>
                      </a:pPr>
                      <a:r>
                        <a:rPr lang="en-US" sz="1100" b="1" kern="100" dirty="0">
                          <a:latin typeface="Times New Roman"/>
                          <a:ea typeface="Calibri"/>
                          <a:cs typeface="Times New Roman"/>
                        </a:rPr>
                        <a:t>User_email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255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FK</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User Email</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3877236593"/>
                  </a:ext>
                </a:extLst>
              </a:tr>
              <a:tr h="174434">
                <a:tc>
                  <a:txBody>
                    <a:bodyPr/>
                    <a:lstStyle/>
                    <a:p>
                      <a:pPr>
                        <a:lnSpc>
                          <a:spcPct val="115000"/>
                        </a:lnSpc>
                        <a:spcAft>
                          <a:spcPts val="1000"/>
                        </a:spcAft>
                      </a:pPr>
                      <a:r>
                        <a:rPr lang="en-US" sz="1100" b="1" kern="100" dirty="0">
                          <a:latin typeface="Times New Roman"/>
                          <a:ea typeface="Calibri"/>
                          <a:cs typeface="Times New Roman"/>
                        </a:rPr>
                        <a:t>Menu_id</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Int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11</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FK</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Menu Id</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126910591"/>
                  </a:ext>
                </a:extLst>
              </a:tr>
              <a:tr h="160358">
                <a:tc>
                  <a:txBody>
                    <a:bodyPr/>
                    <a:lstStyle/>
                    <a:p>
                      <a:pPr>
                        <a:lnSpc>
                          <a:spcPct val="115000"/>
                        </a:lnSpc>
                        <a:spcAft>
                          <a:spcPts val="1000"/>
                        </a:spcAft>
                      </a:pPr>
                      <a:r>
                        <a:rPr lang="en-US" sz="1100" b="1" kern="100" dirty="0">
                          <a:latin typeface="Times New Roman"/>
                          <a:ea typeface="Calibri"/>
                          <a:cs typeface="Times New Roman"/>
                        </a:rPr>
                        <a:t>Menu_Name</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255</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Menu Name</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2597505232"/>
                  </a:ext>
                </a:extLst>
              </a:tr>
              <a:tr h="160358">
                <a:tc>
                  <a:txBody>
                    <a:bodyPr/>
                    <a:lstStyle/>
                    <a:p>
                      <a:pPr>
                        <a:lnSpc>
                          <a:spcPct val="115000"/>
                        </a:lnSpc>
                        <a:spcAft>
                          <a:spcPts val="1000"/>
                        </a:spcAft>
                      </a:pPr>
                      <a:r>
                        <a:rPr lang="en-US" sz="1100" b="1" kern="100" dirty="0">
                          <a:latin typeface="Times New Roman"/>
                          <a:ea typeface="Calibri"/>
                          <a:cs typeface="Times New Roman"/>
                        </a:rPr>
                        <a:t>Price</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Decimal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10,2</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Price of items</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476172419"/>
                  </a:ext>
                </a:extLst>
              </a:tr>
              <a:tr h="160358">
                <a:tc>
                  <a:txBody>
                    <a:bodyPr/>
                    <a:lstStyle/>
                    <a:p>
                      <a:pPr>
                        <a:lnSpc>
                          <a:spcPct val="115000"/>
                        </a:lnSpc>
                        <a:spcAft>
                          <a:spcPts val="1000"/>
                        </a:spcAft>
                      </a:pPr>
                      <a:r>
                        <a:rPr lang="en-US" sz="1100" b="1" kern="100" dirty="0">
                          <a:latin typeface="Times New Roman"/>
                          <a:ea typeface="Calibri"/>
                          <a:cs typeface="Times New Roman"/>
                        </a:rPr>
                        <a:t>Quantity</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Int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11</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Quantity Of  items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919541596"/>
                  </a:ext>
                </a:extLst>
              </a:tr>
              <a:tr h="160358">
                <a:tc>
                  <a:txBody>
                    <a:bodyPr/>
                    <a:lstStyle/>
                    <a:p>
                      <a:pPr>
                        <a:lnSpc>
                          <a:spcPct val="115000"/>
                        </a:lnSpc>
                        <a:spcAft>
                          <a:spcPts val="1000"/>
                        </a:spcAft>
                      </a:pPr>
                      <a:r>
                        <a:rPr lang="en-US" sz="1100" b="1" kern="100" dirty="0">
                          <a:latin typeface="Times New Roman"/>
                          <a:ea typeface="Calibri"/>
                          <a:cs typeface="Times New Roman"/>
                        </a:rPr>
                        <a:t>Total_price</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Int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255</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Total price of the Items</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3873243216"/>
                  </a:ext>
                </a:extLst>
              </a:tr>
              <a:tr h="160358">
                <a:tc>
                  <a:txBody>
                    <a:bodyPr/>
                    <a:lstStyle/>
                    <a:p>
                      <a:pPr>
                        <a:lnSpc>
                          <a:spcPct val="115000"/>
                        </a:lnSpc>
                        <a:spcAft>
                          <a:spcPts val="1000"/>
                        </a:spcAft>
                      </a:pPr>
                      <a:r>
                        <a:rPr lang="en-US" sz="1100" b="1" kern="100" dirty="0">
                          <a:latin typeface="Times New Roman"/>
                          <a:ea typeface="Calibri"/>
                          <a:cs typeface="Times New Roman"/>
                        </a:rPr>
                        <a:t>img</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255</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Product Imges</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3557921288"/>
                  </a:ext>
                </a:extLst>
              </a:tr>
              <a:tr h="160358">
                <a:tc>
                  <a:txBody>
                    <a:bodyPr/>
                    <a:lstStyle/>
                    <a:p>
                      <a:pPr>
                        <a:lnSpc>
                          <a:spcPct val="115000"/>
                        </a:lnSpc>
                        <a:spcAft>
                          <a:spcPts val="1000"/>
                        </a:spcAft>
                      </a:pPr>
                      <a:r>
                        <a:rPr lang="en-US" sz="1100" b="1" kern="100" dirty="0">
                          <a:latin typeface="Times New Roman"/>
                          <a:ea typeface="Calibri"/>
                          <a:cs typeface="Times New Roman"/>
                        </a:rPr>
                        <a:t>Address</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255</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User Address</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1756235487"/>
                  </a:ext>
                </a:extLst>
              </a:tr>
              <a:tr h="160358">
                <a:tc>
                  <a:txBody>
                    <a:bodyPr/>
                    <a:lstStyle/>
                    <a:p>
                      <a:pPr>
                        <a:lnSpc>
                          <a:spcPct val="115000"/>
                        </a:lnSpc>
                        <a:spcAft>
                          <a:spcPts val="1000"/>
                        </a:spcAft>
                      </a:pPr>
                      <a:r>
                        <a:rPr lang="en-US" sz="1100" b="1" kern="100" dirty="0">
                          <a:latin typeface="Times New Roman"/>
                          <a:ea typeface="Calibri"/>
                          <a:cs typeface="Times New Roman"/>
                        </a:rPr>
                        <a:t>Mobile_Number</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10</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User Mobile number</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355811208"/>
                  </a:ext>
                </a:extLst>
              </a:tr>
              <a:tr h="1073703">
                <a:tc>
                  <a:txBody>
                    <a:bodyPr/>
                    <a:lstStyle/>
                    <a:p>
                      <a:pPr>
                        <a:lnSpc>
                          <a:spcPct val="115000"/>
                        </a:lnSpc>
                        <a:spcAft>
                          <a:spcPts val="1000"/>
                        </a:spcAft>
                      </a:pPr>
                      <a:r>
                        <a:rPr lang="en-US" sz="1100" b="1" kern="100" dirty="0">
                          <a:latin typeface="Times New Roman"/>
                          <a:ea typeface="Calibri"/>
                          <a:cs typeface="Times New Roman"/>
                        </a:rPr>
                        <a:t>Order_Status</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Enum</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'Pending','Cancelled' ,'Complete','shipped',</a:t>
                      </a:r>
                      <a:r>
                        <a:rPr lang="en-US" sz="1100" kern="100" dirty="0">
                          <a:latin typeface="Times New Roman"/>
                          <a:ea typeface="Calibri"/>
                          <a:cs typeface="Times New Roman"/>
                        </a:rPr>
                        <a:t> </a:t>
                      </a:r>
                      <a:r>
                        <a:rPr lang="en-US" sz="1100" b="1" kern="100" dirty="0">
                          <a:latin typeface="Times New Roman"/>
                          <a:ea typeface="Calibri"/>
                          <a:cs typeface="Times New Roman"/>
                        </a:rPr>
                        <a:t>'delivered'</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Orders Status</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1890062379"/>
                  </a:ext>
                </a:extLst>
              </a:tr>
              <a:tr h="160358">
                <a:tc>
                  <a:txBody>
                    <a:bodyPr/>
                    <a:lstStyle/>
                    <a:p>
                      <a:pPr>
                        <a:lnSpc>
                          <a:spcPct val="115000"/>
                        </a:lnSpc>
                        <a:spcAft>
                          <a:spcPts val="1000"/>
                        </a:spcAft>
                      </a:pPr>
                      <a:r>
                        <a:rPr lang="en-US" sz="1100" b="1" kern="100" dirty="0">
                          <a:latin typeface="Times New Roman"/>
                          <a:ea typeface="Calibri"/>
                          <a:cs typeface="Times New Roman"/>
                        </a:rPr>
                        <a:t>Order_Date</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timeStamp</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Order date</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3038844749"/>
                  </a:ext>
                </a:extLst>
              </a:tr>
            </a:tbl>
          </a:graphicData>
        </a:graphic>
      </p:graphicFrame>
    </p:spTree>
    <p:custDataLst>
      <p:tags r:id="rId1"/>
    </p:custDataLst>
    <p:extLst>
      <p:ext uri="{BB962C8B-B14F-4D97-AF65-F5344CB8AC3E}">
        <p14:creationId xmlns:p14="http://schemas.microsoft.com/office/powerpoint/2010/main" xmlns="" val="2718617480"/>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71" name="iśḻíḑè">
            <a:extLst>
              <a:ext uri="{FF2B5EF4-FFF2-40B4-BE49-F238E27FC236}">
                <a16:creationId xmlns:a16="http://schemas.microsoft.com/office/drawing/2014/main" xmlns="" id="{269FE6A2-BDFF-28C3-98A5-A4CF604810A2}"/>
              </a:ext>
            </a:extLst>
          </p:cNvPr>
          <p:cNvSpPr txBox="1"/>
          <p:nvPr/>
        </p:nvSpPr>
        <p:spPr>
          <a:xfrm>
            <a:off x="36421" y="387950"/>
            <a:ext cx="3184696" cy="581057"/>
          </a:xfrm>
          <a:prstGeom prst="rect">
            <a:avLst/>
          </a:prstGeom>
          <a:noFill/>
        </p:spPr>
        <p:txBody>
          <a:bodyPr wrap="square" lIns="91440" tIns="45720" rIns="91440" bIns="45720">
            <a:noAutofit/>
          </a:bodyPr>
          <a:lstStyle/>
          <a:p>
            <a:pPr>
              <a:lnSpc>
                <a:spcPct val="128000"/>
              </a:lnSpc>
            </a:pPr>
            <a:r>
              <a:rPr lang="en-US" altLang="en-US" sz="2800" i="1" u="sng" dirty="0">
                <a:ln w="18415" cmpd="sng">
                  <a:solidFill>
                    <a:srgbClr val="FFFFFF"/>
                  </a:solidFill>
                  <a:prstDash val="solid"/>
                </a:ln>
                <a:solidFill>
                  <a:srgbClr val="FFFFFF"/>
                </a:solidFill>
                <a:effectLst>
                  <a:outerShdw blurRad="63500" dir="3600000" algn="tl" rotWithShape="0">
                    <a:srgbClr val="000000">
                      <a:alpha val="70000"/>
                    </a:srgbClr>
                  </a:outerShdw>
                </a:effectLst>
              </a:rPr>
              <a:t>5.</a:t>
            </a:r>
            <a:r>
              <a:rPr lang="en-US" altLang="en-US" sz="2800" u="sng" dirty="0">
                <a:ln w="18415" cmpd="sng">
                  <a:solidFill>
                    <a:srgbClr val="FFFFFF"/>
                  </a:solidFill>
                  <a:prstDash val="solid"/>
                </a:ln>
                <a:solidFill>
                  <a:srgbClr val="FFFFFF"/>
                </a:solidFill>
                <a:effectLst>
                  <a:outerShdw blurRad="63500" dir="3600000" algn="tl" rotWithShape="0">
                    <a:srgbClr val="000000">
                      <a:alpha val="70000"/>
                    </a:srgbClr>
                  </a:outerShdw>
                </a:effectLst>
              </a:rPr>
              <a:t>Add </a:t>
            </a:r>
            <a:r>
              <a:rPr lang="en-US" altLang="en-US" sz="2800"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MenuTable</a:t>
            </a:r>
            <a:endParaRPr lang="en-US" altLang="en-US" sz="2800" u="sng"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nSpc>
                <a:spcPct val="128000"/>
              </a:lnSpc>
            </a:pPr>
            <a:endParaRPr lang="en-US" altLang="en-US" sz="2000" b="1" i="1" dirty="0">
              <a:solidFill>
                <a:schemeClr val="tx1">
                  <a:lumMod val="75000"/>
                  <a:lumOff val="25000"/>
                </a:schemeClr>
              </a:solidFill>
            </a:endParaRPr>
          </a:p>
        </p:txBody>
      </p:sp>
      <p:graphicFrame>
        <p:nvGraphicFramePr>
          <p:cNvPr id="57" name="Table 56">
            <a:extLst>
              <a:ext uri="{FF2B5EF4-FFF2-40B4-BE49-F238E27FC236}">
                <a16:creationId xmlns:a16="http://schemas.microsoft.com/office/drawing/2014/main" xmlns="" id="{5F5F8497-0B3F-19B6-163C-8984D9ECA509}"/>
              </a:ext>
            </a:extLst>
          </p:cNvPr>
          <p:cNvGraphicFramePr>
            <a:graphicFrameLocks noGrp="1"/>
          </p:cNvGraphicFramePr>
          <p:nvPr>
            <p:extLst>
              <p:ext uri="{D42A27DB-BD31-4B8C-83A1-F6EECF244321}">
                <p14:modId xmlns:p14="http://schemas.microsoft.com/office/powerpoint/2010/main" xmlns="" val="1053894549"/>
              </p:ext>
            </p:extLst>
          </p:nvPr>
        </p:nvGraphicFramePr>
        <p:xfrm>
          <a:off x="1920240" y="2133599"/>
          <a:ext cx="7396480" cy="3728719"/>
        </p:xfrm>
        <a:graphic>
          <a:graphicData uri="http://schemas.openxmlformats.org/drawingml/2006/table">
            <a:tbl>
              <a:tblPr firstRow="1" firstCol="1" bandRow="1">
                <a:tableStyleId>{3C2FFA5D-87B4-456A-9821-1D502468CF0F}</a:tableStyleId>
              </a:tblPr>
              <a:tblGrid>
                <a:gridCol w="1244188">
                  <a:extLst>
                    <a:ext uri="{9D8B030D-6E8A-4147-A177-3AD203B41FA5}">
                      <a16:colId xmlns:a16="http://schemas.microsoft.com/office/drawing/2014/main" xmlns="" val="1407489416"/>
                    </a:ext>
                  </a:extLst>
                </a:gridCol>
                <a:gridCol w="1477718">
                  <a:extLst>
                    <a:ext uri="{9D8B030D-6E8A-4147-A177-3AD203B41FA5}">
                      <a16:colId xmlns:a16="http://schemas.microsoft.com/office/drawing/2014/main" xmlns="" val="1166250008"/>
                    </a:ext>
                  </a:extLst>
                </a:gridCol>
                <a:gridCol w="492308">
                  <a:extLst>
                    <a:ext uri="{9D8B030D-6E8A-4147-A177-3AD203B41FA5}">
                      <a16:colId xmlns:a16="http://schemas.microsoft.com/office/drawing/2014/main" xmlns="" val="2248325337"/>
                    </a:ext>
                  </a:extLst>
                </a:gridCol>
                <a:gridCol w="1103752">
                  <a:extLst>
                    <a:ext uri="{9D8B030D-6E8A-4147-A177-3AD203B41FA5}">
                      <a16:colId xmlns:a16="http://schemas.microsoft.com/office/drawing/2014/main" xmlns="" val="1856909322"/>
                    </a:ext>
                  </a:extLst>
                </a:gridCol>
                <a:gridCol w="3078514">
                  <a:extLst>
                    <a:ext uri="{9D8B030D-6E8A-4147-A177-3AD203B41FA5}">
                      <a16:colId xmlns:a16="http://schemas.microsoft.com/office/drawing/2014/main" xmlns="" val="3181396383"/>
                    </a:ext>
                  </a:extLst>
                </a:gridCol>
              </a:tblGrid>
              <a:tr h="253436">
                <a:tc gridSpan="5">
                  <a:txBody>
                    <a:bodyPr/>
                    <a:lstStyle/>
                    <a:p>
                      <a:pPr algn="l">
                        <a:lnSpc>
                          <a:spcPct val="115000"/>
                        </a:lnSpc>
                        <a:spcAft>
                          <a:spcPts val="1000"/>
                        </a:spcAft>
                      </a:pPr>
                      <a:r>
                        <a:rPr lang="en-US" sz="1100" b="1" kern="100" dirty="0">
                          <a:latin typeface="Times New Roman"/>
                          <a:ea typeface="Calibri"/>
                          <a:cs typeface="Times New Roman"/>
                        </a:rPr>
                        <a:t>Table Name : Menu</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2516309072"/>
                  </a:ext>
                </a:extLst>
              </a:tr>
              <a:tr h="334987">
                <a:tc gridSpan="5">
                  <a:txBody>
                    <a:bodyPr/>
                    <a:lstStyle/>
                    <a:p>
                      <a:pPr algn="l">
                        <a:lnSpc>
                          <a:spcPct val="115000"/>
                        </a:lnSpc>
                        <a:spcAft>
                          <a:spcPts val="1000"/>
                        </a:spcAft>
                      </a:pPr>
                      <a:r>
                        <a:rPr lang="en-US" sz="1100" b="1" kern="100" dirty="0">
                          <a:latin typeface="Times New Roman"/>
                          <a:ea typeface="Calibri"/>
                          <a:cs typeface="Times New Roman"/>
                        </a:rPr>
                        <a:t>Primary Key : ID</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077039577"/>
                  </a:ext>
                </a:extLst>
              </a:tr>
              <a:tr h="424066">
                <a:tc gridSpan="5">
                  <a:txBody>
                    <a:bodyPr/>
                    <a:lstStyle/>
                    <a:p>
                      <a:pPr algn="l">
                        <a:lnSpc>
                          <a:spcPct val="115000"/>
                        </a:lnSpc>
                        <a:spcAft>
                          <a:spcPts val="1000"/>
                        </a:spcAft>
                      </a:pPr>
                      <a:r>
                        <a:rPr lang="en-US" sz="1100" b="1" kern="100" dirty="0">
                          <a:latin typeface="Times New Roman"/>
                          <a:ea typeface="Calibri"/>
                          <a:cs typeface="Times New Roman"/>
                        </a:rPr>
                        <a:t>Foreign Key:  -</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36430435"/>
                  </a:ext>
                </a:extLst>
              </a:tr>
              <a:tr h="528200">
                <a:tc gridSpan="5">
                  <a:txBody>
                    <a:bodyPr/>
                    <a:lstStyle/>
                    <a:p>
                      <a:pPr algn="l">
                        <a:lnSpc>
                          <a:spcPct val="115000"/>
                        </a:lnSpc>
                        <a:spcAft>
                          <a:spcPts val="1000"/>
                        </a:spcAft>
                      </a:pPr>
                      <a:r>
                        <a:rPr lang="en-US" sz="1100" b="1" kern="100" dirty="0">
                          <a:latin typeface="Times New Roman"/>
                          <a:ea typeface="Calibri"/>
                          <a:cs typeface="Times New Roman"/>
                        </a:rPr>
                        <a:t>Description : This table is use to Add data of Menu Like  id, menu_name, price, Imge, Menu, etc. </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458516169"/>
                  </a:ext>
                </a:extLst>
              </a:tr>
              <a:tr h="515608">
                <a:tc>
                  <a:txBody>
                    <a:bodyPr/>
                    <a:lstStyle/>
                    <a:p>
                      <a:pPr algn="l">
                        <a:lnSpc>
                          <a:spcPct val="115000"/>
                        </a:lnSpc>
                        <a:spcAft>
                          <a:spcPts val="1000"/>
                        </a:spcAft>
                      </a:pPr>
                      <a:r>
                        <a:rPr lang="en-US" sz="1100" b="1" kern="100" dirty="0">
                          <a:latin typeface="Times New Roman"/>
                          <a:ea typeface="Calibri"/>
                          <a:cs typeface="Times New Roman"/>
                        </a:rPr>
                        <a:t>Field Name </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Data Type </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Size </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Constraint </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Description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47999579"/>
                  </a:ext>
                </a:extLst>
              </a:tr>
              <a:tr h="357570">
                <a:tc>
                  <a:txBody>
                    <a:bodyPr/>
                    <a:lstStyle/>
                    <a:p>
                      <a:pPr algn="l">
                        <a:lnSpc>
                          <a:spcPct val="115000"/>
                        </a:lnSpc>
                        <a:spcAft>
                          <a:spcPts val="1000"/>
                        </a:spcAft>
                      </a:pPr>
                      <a:r>
                        <a:rPr lang="en-US" sz="1100" b="1" kern="100" dirty="0">
                          <a:latin typeface="Times New Roman"/>
                          <a:ea typeface="Calibri"/>
                          <a:cs typeface="Times New Roman"/>
                        </a:rPr>
                        <a:t>ID</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Int </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11</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PK </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 id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947031933"/>
                  </a:ext>
                </a:extLst>
              </a:tr>
              <a:tr h="328713">
                <a:tc>
                  <a:txBody>
                    <a:bodyPr/>
                    <a:lstStyle/>
                    <a:p>
                      <a:pPr algn="l">
                        <a:lnSpc>
                          <a:spcPct val="115000"/>
                        </a:lnSpc>
                        <a:spcAft>
                          <a:spcPts val="1000"/>
                        </a:spcAft>
                      </a:pPr>
                      <a:r>
                        <a:rPr lang="en-US" sz="1100" b="1" kern="100" dirty="0">
                          <a:latin typeface="Times New Roman"/>
                          <a:ea typeface="Calibri"/>
                          <a:cs typeface="Times New Roman"/>
                        </a:rPr>
                        <a:t>Menu_name</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Text</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Item name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2157930134"/>
                  </a:ext>
                </a:extLst>
              </a:tr>
              <a:tr h="328713">
                <a:tc>
                  <a:txBody>
                    <a:bodyPr/>
                    <a:lstStyle/>
                    <a:p>
                      <a:pPr algn="l">
                        <a:lnSpc>
                          <a:spcPct val="115000"/>
                        </a:lnSpc>
                        <a:spcAft>
                          <a:spcPts val="1000"/>
                        </a:spcAft>
                      </a:pPr>
                      <a:r>
                        <a:rPr lang="en-US" sz="1100" b="1" kern="100" dirty="0">
                          <a:latin typeface="Times New Roman"/>
                          <a:ea typeface="Calibri"/>
                          <a:cs typeface="Times New Roman"/>
                        </a:rPr>
                        <a:t>Price</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Float</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Item Price</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1125518439"/>
                  </a:ext>
                </a:extLst>
              </a:tr>
              <a:tr h="328713">
                <a:tc>
                  <a:txBody>
                    <a:bodyPr/>
                    <a:lstStyle/>
                    <a:p>
                      <a:pPr algn="l">
                        <a:lnSpc>
                          <a:spcPct val="115000"/>
                        </a:lnSpc>
                        <a:spcAft>
                          <a:spcPts val="1000"/>
                        </a:spcAft>
                      </a:pPr>
                      <a:r>
                        <a:rPr lang="en-US" sz="1100" b="1" kern="100" dirty="0">
                          <a:latin typeface="Times New Roman"/>
                          <a:ea typeface="Calibri"/>
                          <a:cs typeface="Times New Roman"/>
                        </a:rPr>
                        <a:t>Image</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Text</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Item Image</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518359775"/>
                  </a:ext>
                </a:extLst>
              </a:tr>
              <a:tr h="328713">
                <a:tc>
                  <a:txBody>
                    <a:bodyPr/>
                    <a:lstStyle/>
                    <a:p>
                      <a:pPr algn="l">
                        <a:lnSpc>
                          <a:spcPct val="115000"/>
                        </a:lnSpc>
                        <a:spcAft>
                          <a:spcPts val="1000"/>
                        </a:spcAft>
                      </a:pPr>
                      <a:r>
                        <a:rPr lang="en-US" sz="1100" b="1" kern="100" dirty="0">
                          <a:latin typeface="Times New Roman"/>
                          <a:ea typeface="Calibri"/>
                          <a:cs typeface="Times New Roman"/>
                        </a:rPr>
                        <a:t>Menu</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Text</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gn="l">
                        <a:lnSpc>
                          <a:spcPct val="115000"/>
                        </a:lnSpc>
                        <a:spcAft>
                          <a:spcPts val="1000"/>
                        </a:spcAft>
                      </a:pPr>
                      <a:r>
                        <a:rPr lang="en-US" sz="1100" b="1" kern="100" dirty="0">
                          <a:latin typeface="Times New Roman"/>
                          <a:ea typeface="Calibri"/>
                          <a:cs typeface="Times New Roman"/>
                        </a:rPr>
                        <a:t>Menu Name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3236285725"/>
                  </a:ext>
                </a:extLst>
              </a:tr>
            </a:tbl>
          </a:graphicData>
        </a:graphic>
      </p:graphicFrame>
    </p:spTree>
    <p:custDataLst>
      <p:tags r:id="rId1"/>
    </p:custDataLst>
    <p:extLst>
      <p:ext uri="{BB962C8B-B14F-4D97-AF65-F5344CB8AC3E}">
        <p14:creationId xmlns:p14="http://schemas.microsoft.com/office/powerpoint/2010/main" xmlns="" val="106789175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71" name="iśḻíḑè">
            <a:extLst>
              <a:ext uri="{FF2B5EF4-FFF2-40B4-BE49-F238E27FC236}">
                <a16:creationId xmlns:a16="http://schemas.microsoft.com/office/drawing/2014/main" xmlns="" id="{269FE6A2-BDFF-28C3-98A5-A4CF604810A2}"/>
              </a:ext>
            </a:extLst>
          </p:cNvPr>
          <p:cNvSpPr txBox="1"/>
          <p:nvPr/>
        </p:nvSpPr>
        <p:spPr>
          <a:xfrm>
            <a:off x="36421" y="387950"/>
            <a:ext cx="3184696" cy="581057"/>
          </a:xfrm>
          <a:prstGeom prst="rect">
            <a:avLst/>
          </a:prstGeom>
          <a:noFill/>
        </p:spPr>
        <p:txBody>
          <a:bodyPr wrap="square" lIns="91440" tIns="45720" rIns="91440" bIns="45720">
            <a:noAutofit/>
          </a:bodyPr>
          <a:lstStyle/>
          <a:p>
            <a:pPr>
              <a:lnSpc>
                <a:spcPct val="128000"/>
              </a:lnSpc>
            </a:pPr>
            <a:r>
              <a:rPr lang="en-US" altLang="en-US" sz="2800" i="1"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6.Contacts </a:t>
            </a:r>
            <a:r>
              <a:rPr lang="en-US" altLang="en-US" sz="2800"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Table</a:t>
            </a:r>
            <a:endParaRPr lang="en-US" altLang="en-US" sz="2800" u="sng"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nSpc>
                <a:spcPct val="128000"/>
              </a:lnSpc>
            </a:pPr>
            <a:endParaRPr lang="en-US" altLang="en-US" sz="2000" b="1" i="1" dirty="0">
              <a:solidFill>
                <a:schemeClr val="tx1">
                  <a:lumMod val="75000"/>
                  <a:lumOff val="25000"/>
                </a:schemeClr>
              </a:solidFill>
            </a:endParaRPr>
          </a:p>
        </p:txBody>
      </p:sp>
      <p:graphicFrame>
        <p:nvGraphicFramePr>
          <p:cNvPr id="57" name="Table 56">
            <a:extLst>
              <a:ext uri="{FF2B5EF4-FFF2-40B4-BE49-F238E27FC236}">
                <a16:creationId xmlns:a16="http://schemas.microsoft.com/office/drawing/2014/main" xmlns="" id="{5F5F8497-0B3F-19B6-163C-8984D9ECA509}"/>
              </a:ext>
            </a:extLst>
          </p:cNvPr>
          <p:cNvGraphicFramePr>
            <a:graphicFrameLocks noGrp="1"/>
          </p:cNvGraphicFramePr>
          <p:nvPr>
            <p:extLst>
              <p:ext uri="{D42A27DB-BD31-4B8C-83A1-F6EECF244321}">
                <p14:modId xmlns:p14="http://schemas.microsoft.com/office/powerpoint/2010/main" xmlns="" val="1053894549"/>
              </p:ext>
            </p:extLst>
          </p:nvPr>
        </p:nvGraphicFramePr>
        <p:xfrm>
          <a:off x="1920240" y="2092959"/>
          <a:ext cx="7396480" cy="3437064"/>
        </p:xfrm>
        <a:graphic>
          <a:graphicData uri="http://schemas.openxmlformats.org/drawingml/2006/table">
            <a:tbl>
              <a:tblPr firstRow="1" firstCol="1" bandRow="1">
                <a:tableStyleId>{3C2FFA5D-87B4-456A-9821-1D502468CF0F}</a:tableStyleId>
              </a:tblPr>
              <a:tblGrid>
                <a:gridCol w="1244188">
                  <a:extLst>
                    <a:ext uri="{9D8B030D-6E8A-4147-A177-3AD203B41FA5}">
                      <a16:colId xmlns:a16="http://schemas.microsoft.com/office/drawing/2014/main" xmlns="" val="1407489416"/>
                    </a:ext>
                  </a:extLst>
                </a:gridCol>
                <a:gridCol w="1477718">
                  <a:extLst>
                    <a:ext uri="{9D8B030D-6E8A-4147-A177-3AD203B41FA5}">
                      <a16:colId xmlns:a16="http://schemas.microsoft.com/office/drawing/2014/main" xmlns="" val="1166250008"/>
                    </a:ext>
                  </a:extLst>
                </a:gridCol>
                <a:gridCol w="492308">
                  <a:extLst>
                    <a:ext uri="{9D8B030D-6E8A-4147-A177-3AD203B41FA5}">
                      <a16:colId xmlns:a16="http://schemas.microsoft.com/office/drawing/2014/main" xmlns="" val="2248325337"/>
                    </a:ext>
                  </a:extLst>
                </a:gridCol>
                <a:gridCol w="1103752">
                  <a:extLst>
                    <a:ext uri="{9D8B030D-6E8A-4147-A177-3AD203B41FA5}">
                      <a16:colId xmlns:a16="http://schemas.microsoft.com/office/drawing/2014/main" xmlns="" val="1856909322"/>
                    </a:ext>
                  </a:extLst>
                </a:gridCol>
                <a:gridCol w="3078514">
                  <a:extLst>
                    <a:ext uri="{9D8B030D-6E8A-4147-A177-3AD203B41FA5}">
                      <a16:colId xmlns:a16="http://schemas.microsoft.com/office/drawing/2014/main" xmlns="" val="3181396383"/>
                    </a:ext>
                  </a:extLst>
                </a:gridCol>
              </a:tblGrid>
              <a:tr h="256198">
                <a:tc gridSpan="5">
                  <a:txBody>
                    <a:bodyPr/>
                    <a:lstStyle/>
                    <a:p>
                      <a:pPr>
                        <a:lnSpc>
                          <a:spcPct val="115000"/>
                        </a:lnSpc>
                        <a:spcAft>
                          <a:spcPts val="1000"/>
                        </a:spcAft>
                      </a:pPr>
                      <a:r>
                        <a:rPr lang="en-US" sz="1100" b="1" kern="100" dirty="0">
                          <a:latin typeface="Times New Roman"/>
                          <a:ea typeface="Calibri"/>
                          <a:cs typeface="Times New Roman"/>
                        </a:rPr>
                        <a:t>Table Name :Contacts</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2516309072"/>
                  </a:ext>
                </a:extLst>
              </a:tr>
              <a:tr h="338638">
                <a:tc gridSpan="5">
                  <a:txBody>
                    <a:bodyPr/>
                    <a:lstStyle/>
                    <a:p>
                      <a:pPr>
                        <a:lnSpc>
                          <a:spcPct val="115000"/>
                        </a:lnSpc>
                        <a:spcAft>
                          <a:spcPts val="1000"/>
                        </a:spcAft>
                      </a:pPr>
                      <a:r>
                        <a:rPr lang="en-US" sz="1100" b="1" kern="100" dirty="0">
                          <a:latin typeface="Times New Roman"/>
                          <a:ea typeface="Calibri"/>
                          <a:cs typeface="Times New Roman"/>
                        </a:rPr>
                        <a:t>Primary Key :ID</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077039577"/>
                  </a:ext>
                </a:extLst>
              </a:tr>
              <a:tr h="428688">
                <a:tc gridSpan="5">
                  <a:txBody>
                    <a:bodyPr/>
                    <a:lstStyle/>
                    <a:p>
                      <a:pPr>
                        <a:lnSpc>
                          <a:spcPct val="115000"/>
                        </a:lnSpc>
                        <a:spcAft>
                          <a:spcPts val="1000"/>
                        </a:spcAft>
                      </a:pPr>
                      <a:r>
                        <a:rPr lang="en-US" sz="1100" b="1" kern="100" dirty="0">
                          <a:latin typeface="Times New Roman"/>
                          <a:ea typeface="Calibri"/>
                          <a:cs typeface="Times New Roman"/>
                        </a:rPr>
                        <a:t>Foreign Key:  -</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36430435"/>
                  </a:ext>
                </a:extLst>
              </a:tr>
              <a:tr h="533957">
                <a:tc gridSpan="5">
                  <a:txBody>
                    <a:bodyPr/>
                    <a:lstStyle/>
                    <a:p>
                      <a:pPr>
                        <a:lnSpc>
                          <a:spcPct val="115000"/>
                        </a:lnSpc>
                        <a:spcAft>
                          <a:spcPts val="1000"/>
                        </a:spcAft>
                      </a:pPr>
                      <a:r>
                        <a:rPr lang="en-US" sz="1100" b="1" kern="100" dirty="0">
                          <a:latin typeface="Times New Roman"/>
                          <a:ea typeface="Calibri"/>
                          <a:cs typeface="Times New Roman"/>
                        </a:rPr>
                        <a:t>Description : This table is use to store data of users like id, name, email,Message</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458516169"/>
                  </a:ext>
                </a:extLst>
              </a:tr>
              <a:tr h="521228">
                <a:tc>
                  <a:txBody>
                    <a:bodyPr/>
                    <a:lstStyle/>
                    <a:p>
                      <a:pPr>
                        <a:lnSpc>
                          <a:spcPct val="115000"/>
                        </a:lnSpc>
                        <a:spcAft>
                          <a:spcPts val="1000"/>
                        </a:spcAft>
                      </a:pPr>
                      <a:r>
                        <a:rPr lang="en-US" sz="1100" b="1" kern="100" dirty="0">
                          <a:latin typeface="Times New Roman"/>
                          <a:ea typeface="Calibri"/>
                          <a:cs typeface="Times New Roman"/>
                        </a:rPr>
                        <a:t>Field Name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Data Type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Size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Constraint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Description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47999579"/>
                  </a:ext>
                </a:extLst>
              </a:tr>
              <a:tr h="361467">
                <a:tc>
                  <a:txBody>
                    <a:bodyPr/>
                    <a:lstStyle/>
                    <a:p>
                      <a:pPr>
                        <a:lnSpc>
                          <a:spcPct val="115000"/>
                        </a:lnSpc>
                        <a:spcAft>
                          <a:spcPts val="1000"/>
                        </a:spcAft>
                      </a:pPr>
                      <a:r>
                        <a:rPr lang="en-US" sz="1100" b="1" kern="100" dirty="0">
                          <a:latin typeface="Times New Roman"/>
                          <a:ea typeface="Calibri"/>
                          <a:cs typeface="Times New Roman"/>
                        </a:rPr>
                        <a:t>ID</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Int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11</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Pk</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ID</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947031933"/>
                  </a:ext>
                </a:extLst>
              </a:tr>
              <a:tr h="332296">
                <a:tc>
                  <a:txBody>
                    <a:bodyPr/>
                    <a:lstStyle/>
                    <a:p>
                      <a:pPr>
                        <a:lnSpc>
                          <a:spcPct val="115000"/>
                        </a:lnSpc>
                        <a:spcAft>
                          <a:spcPts val="1000"/>
                        </a:spcAft>
                      </a:pPr>
                      <a:r>
                        <a:rPr lang="en-US" sz="1100" b="1" kern="100" dirty="0">
                          <a:latin typeface="Times New Roman"/>
                          <a:ea typeface="Calibri"/>
                          <a:cs typeface="Times New Roman"/>
                        </a:rPr>
                        <a:t>Name</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50</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User Name</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2157930134"/>
                  </a:ext>
                </a:extLst>
              </a:tr>
              <a:tr h="332296">
                <a:tc>
                  <a:txBody>
                    <a:bodyPr/>
                    <a:lstStyle/>
                    <a:p>
                      <a:pPr>
                        <a:lnSpc>
                          <a:spcPct val="115000"/>
                        </a:lnSpc>
                        <a:spcAft>
                          <a:spcPts val="1000"/>
                        </a:spcAft>
                      </a:pPr>
                      <a:r>
                        <a:rPr lang="en-US" sz="1100" b="1" kern="100" dirty="0">
                          <a:latin typeface="Times New Roman"/>
                          <a:ea typeface="Calibri"/>
                          <a:cs typeface="Times New Roman"/>
                        </a:rPr>
                        <a:t>Email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50</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User Email</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1125518439"/>
                  </a:ext>
                </a:extLst>
              </a:tr>
              <a:tr h="332296">
                <a:tc>
                  <a:txBody>
                    <a:bodyPr/>
                    <a:lstStyle/>
                    <a:p>
                      <a:pPr>
                        <a:lnSpc>
                          <a:spcPct val="115000"/>
                        </a:lnSpc>
                        <a:spcAft>
                          <a:spcPts val="1000"/>
                        </a:spcAft>
                      </a:pPr>
                      <a:r>
                        <a:rPr lang="en-US" sz="1100" b="1" kern="100" dirty="0">
                          <a:latin typeface="Times New Roman"/>
                          <a:ea typeface="Calibri"/>
                          <a:cs typeface="Times New Roman"/>
                        </a:rPr>
                        <a:t>Message</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Varchar</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50</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User Message</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518359775"/>
                  </a:ext>
                </a:extLst>
              </a:tr>
            </a:tbl>
          </a:graphicData>
        </a:graphic>
      </p:graphicFrame>
    </p:spTree>
    <p:custDataLst>
      <p:tags r:id="rId1"/>
    </p:custDataLst>
    <p:extLst>
      <p:ext uri="{BB962C8B-B14F-4D97-AF65-F5344CB8AC3E}">
        <p14:creationId xmlns:p14="http://schemas.microsoft.com/office/powerpoint/2010/main" xmlns="" val="106789175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71" name="iśḻíḑè">
            <a:extLst>
              <a:ext uri="{FF2B5EF4-FFF2-40B4-BE49-F238E27FC236}">
                <a16:creationId xmlns:a16="http://schemas.microsoft.com/office/drawing/2014/main" xmlns="" id="{269FE6A2-BDFF-28C3-98A5-A4CF604810A2}"/>
              </a:ext>
            </a:extLst>
          </p:cNvPr>
          <p:cNvSpPr txBox="1"/>
          <p:nvPr/>
        </p:nvSpPr>
        <p:spPr>
          <a:xfrm>
            <a:off x="36421" y="387950"/>
            <a:ext cx="3184696" cy="581057"/>
          </a:xfrm>
          <a:prstGeom prst="rect">
            <a:avLst/>
          </a:prstGeom>
          <a:noFill/>
        </p:spPr>
        <p:txBody>
          <a:bodyPr wrap="square" lIns="91440" tIns="45720" rIns="91440" bIns="45720">
            <a:noAutofit/>
          </a:bodyPr>
          <a:lstStyle/>
          <a:p>
            <a:pPr>
              <a:lnSpc>
                <a:spcPct val="128000"/>
              </a:lnSpc>
            </a:pPr>
            <a:r>
              <a:rPr lang="en-US" altLang="en-US" sz="2800" i="1"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7.Gallery </a:t>
            </a:r>
            <a:r>
              <a:rPr lang="en-US" altLang="en-US" sz="2800"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Table</a:t>
            </a:r>
            <a:endParaRPr lang="en-US" altLang="en-US" sz="2800" u="sng"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nSpc>
                <a:spcPct val="128000"/>
              </a:lnSpc>
            </a:pPr>
            <a:endParaRPr lang="en-US" altLang="en-US" sz="2000" b="1" i="1" dirty="0">
              <a:solidFill>
                <a:schemeClr val="tx1">
                  <a:lumMod val="75000"/>
                  <a:lumOff val="25000"/>
                </a:schemeClr>
              </a:solidFill>
            </a:endParaRPr>
          </a:p>
        </p:txBody>
      </p:sp>
      <p:graphicFrame>
        <p:nvGraphicFramePr>
          <p:cNvPr id="57" name="Table 56">
            <a:extLst>
              <a:ext uri="{FF2B5EF4-FFF2-40B4-BE49-F238E27FC236}">
                <a16:creationId xmlns:a16="http://schemas.microsoft.com/office/drawing/2014/main" xmlns="" id="{5F5F8497-0B3F-19B6-163C-8984D9ECA509}"/>
              </a:ext>
            </a:extLst>
          </p:cNvPr>
          <p:cNvGraphicFramePr>
            <a:graphicFrameLocks noGrp="1"/>
          </p:cNvGraphicFramePr>
          <p:nvPr>
            <p:extLst>
              <p:ext uri="{D42A27DB-BD31-4B8C-83A1-F6EECF244321}">
                <p14:modId xmlns:p14="http://schemas.microsoft.com/office/powerpoint/2010/main" xmlns="" val="1053894549"/>
              </p:ext>
            </p:extLst>
          </p:nvPr>
        </p:nvGraphicFramePr>
        <p:xfrm>
          <a:off x="1920240" y="2092959"/>
          <a:ext cx="7396480" cy="2772472"/>
        </p:xfrm>
        <a:graphic>
          <a:graphicData uri="http://schemas.openxmlformats.org/drawingml/2006/table">
            <a:tbl>
              <a:tblPr firstRow="1" firstCol="1" bandRow="1">
                <a:tableStyleId>{3C2FFA5D-87B4-456A-9821-1D502468CF0F}</a:tableStyleId>
              </a:tblPr>
              <a:tblGrid>
                <a:gridCol w="1244188">
                  <a:extLst>
                    <a:ext uri="{9D8B030D-6E8A-4147-A177-3AD203B41FA5}">
                      <a16:colId xmlns:a16="http://schemas.microsoft.com/office/drawing/2014/main" xmlns="" val="1407489416"/>
                    </a:ext>
                  </a:extLst>
                </a:gridCol>
                <a:gridCol w="1477718">
                  <a:extLst>
                    <a:ext uri="{9D8B030D-6E8A-4147-A177-3AD203B41FA5}">
                      <a16:colId xmlns:a16="http://schemas.microsoft.com/office/drawing/2014/main" xmlns="" val="1166250008"/>
                    </a:ext>
                  </a:extLst>
                </a:gridCol>
                <a:gridCol w="492308">
                  <a:extLst>
                    <a:ext uri="{9D8B030D-6E8A-4147-A177-3AD203B41FA5}">
                      <a16:colId xmlns:a16="http://schemas.microsoft.com/office/drawing/2014/main" xmlns="" val="2248325337"/>
                    </a:ext>
                  </a:extLst>
                </a:gridCol>
                <a:gridCol w="1103752">
                  <a:extLst>
                    <a:ext uri="{9D8B030D-6E8A-4147-A177-3AD203B41FA5}">
                      <a16:colId xmlns:a16="http://schemas.microsoft.com/office/drawing/2014/main" xmlns="" val="1856909322"/>
                    </a:ext>
                  </a:extLst>
                </a:gridCol>
                <a:gridCol w="3078514">
                  <a:extLst>
                    <a:ext uri="{9D8B030D-6E8A-4147-A177-3AD203B41FA5}">
                      <a16:colId xmlns:a16="http://schemas.microsoft.com/office/drawing/2014/main" xmlns="" val="3181396383"/>
                    </a:ext>
                  </a:extLst>
                </a:gridCol>
              </a:tblGrid>
              <a:tr h="256198">
                <a:tc gridSpan="5">
                  <a:txBody>
                    <a:bodyPr/>
                    <a:lstStyle/>
                    <a:p>
                      <a:pPr>
                        <a:lnSpc>
                          <a:spcPct val="115000"/>
                        </a:lnSpc>
                        <a:spcAft>
                          <a:spcPts val="1000"/>
                        </a:spcAft>
                      </a:pPr>
                      <a:r>
                        <a:rPr lang="en-US" sz="1100" b="1" kern="100" dirty="0">
                          <a:latin typeface="Times New Roman"/>
                          <a:ea typeface="Calibri"/>
                          <a:cs typeface="Times New Roman"/>
                        </a:rPr>
                        <a:t>Table Name </a:t>
                      </a:r>
                      <a:r>
                        <a:rPr lang="en-US" sz="1100" b="1" kern="100" dirty="0" smtClean="0">
                          <a:latin typeface="Times New Roman"/>
                          <a:ea typeface="Calibri"/>
                          <a:cs typeface="Times New Roman"/>
                        </a:rPr>
                        <a:t>:Gallery</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2516309072"/>
                  </a:ext>
                </a:extLst>
              </a:tr>
              <a:tr h="338638">
                <a:tc gridSpan="5">
                  <a:txBody>
                    <a:bodyPr/>
                    <a:lstStyle/>
                    <a:p>
                      <a:pPr>
                        <a:lnSpc>
                          <a:spcPct val="115000"/>
                        </a:lnSpc>
                        <a:spcAft>
                          <a:spcPts val="1000"/>
                        </a:spcAft>
                      </a:pPr>
                      <a:r>
                        <a:rPr lang="en-US" sz="1100" b="1" kern="100" dirty="0">
                          <a:latin typeface="Times New Roman"/>
                          <a:ea typeface="Calibri"/>
                          <a:cs typeface="Times New Roman"/>
                        </a:rPr>
                        <a:t>Primary Key :ID</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077039577"/>
                  </a:ext>
                </a:extLst>
              </a:tr>
              <a:tr h="428688">
                <a:tc gridSpan="5">
                  <a:txBody>
                    <a:bodyPr/>
                    <a:lstStyle/>
                    <a:p>
                      <a:pPr>
                        <a:lnSpc>
                          <a:spcPct val="115000"/>
                        </a:lnSpc>
                        <a:spcAft>
                          <a:spcPts val="1000"/>
                        </a:spcAft>
                      </a:pPr>
                      <a:r>
                        <a:rPr lang="en-US" sz="1100" b="1" kern="100" dirty="0">
                          <a:latin typeface="Times New Roman"/>
                          <a:ea typeface="Calibri"/>
                          <a:cs typeface="Times New Roman"/>
                        </a:rPr>
                        <a:t>Foreign Key:  -</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36430435"/>
                  </a:ext>
                </a:extLst>
              </a:tr>
              <a:tr h="533957">
                <a:tc gridSpan="5">
                  <a:txBody>
                    <a:bodyPr/>
                    <a:lstStyle/>
                    <a:p>
                      <a:pPr>
                        <a:lnSpc>
                          <a:spcPct val="115000"/>
                        </a:lnSpc>
                        <a:spcAft>
                          <a:spcPts val="1000"/>
                        </a:spcAft>
                      </a:pPr>
                      <a:r>
                        <a:rPr lang="en-US" sz="1100" b="1" kern="100" dirty="0">
                          <a:latin typeface="Times New Roman"/>
                          <a:ea typeface="Calibri"/>
                          <a:cs typeface="Times New Roman"/>
                        </a:rPr>
                        <a:t>Description : This table is use to store data </a:t>
                      </a:r>
                      <a:r>
                        <a:rPr lang="en-US" sz="1100" b="1" kern="100" dirty="0" smtClean="0">
                          <a:latin typeface="Times New Roman"/>
                          <a:ea typeface="Calibri"/>
                          <a:cs typeface="Times New Roman"/>
                        </a:rPr>
                        <a:t>of</a:t>
                      </a:r>
                      <a:r>
                        <a:rPr lang="en-US" sz="1100" b="1" kern="100" baseline="0" dirty="0" smtClean="0">
                          <a:latin typeface="Times New Roman"/>
                          <a:ea typeface="Calibri"/>
                          <a:cs typeface="Times New Roman"/>
                        </a:rPr>
                        <a:t> Product imges</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458516169"/>
                  </a:ext>
                </a:extLst>
              </a:tr>
              <a:tr h="521228">
                <a:tc>
                  <a:txBody>
                    <a:bodyPr/>
                    <a:lstStyle/>
                    <a:p>
                      <a:pPr>
                        <a:lnSpc>
                          <a:spcPct val="115000"/>
                        </a:lnSpc>
                        <a:spcAft>
                          <a:spcPts val="1000"/>
                        </a:spcAft>
                      </a:pPr>
                      <a:r>
                        <a:rPr lang="en-US" sz="1100" b="1" kern="100" dirty="0">
                          <a:latin typeface="Times New Roman"/>
                          <a:ea typeface="Calibri"/>
                          <a:cs typeface="Times New Roman"/>
                        </a:rPr>
                        <a:t>Field Name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Data Type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Size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Constraint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Description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47999579"/>
                  </a:ext>
                </a:extLst>
              </a:tr>
              <a:tr h="361467">
                <a:tc>
                  <a:txBody>
                    <a:bodyPr/>
                    <a:lstStyle/>
                    <a:p>
                      <a:pPr>
                        <a:lnSpc>
                          <a:spcPct val="115000"/>
                        </a:lnSpc>
                        <a:spcAft>
                          <a:spcPts val="1000"/>
                        </a:spcAft>
                      </a:pPr>
                      <a:r>
                        <a:rPr lang="en-US" sz="1100" b="1" kern="100" dirty="0">
                          <a:latin typeface="Times New Roman"/>
                          <a:ea typeface="Calibri"/>
                          <a:cs typeface="Times New Roman"/>
                        </a:rPr>
                        <a:t>ID</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Int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11</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Pk</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ID</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947031933"/>
                  </a:ext>
                </a:extLst>
              </a:tr>
              <a:tr h="332296">
                <a:tc>
                  <a:txBody>
                    <a:bodyPr/>
                    <a:lstStyle/>
                    <a:p>
                      <a:pPr>
                        <a:lnSpc>
                          <a:spcPct val="115000"/>
                        </a:lnSpc>
                        <a:spcAft>
                          <a:spcPts val="1000"/>
                        </a:spcAft>
                      </a:pPr>
                      <a:r>
                        <a:rPr lang="en-US" sz="1100" b="1" kern="100" dirty="0" smtClean="0">
                          <a:latin typeface="Times New Roman"/>
                          <a:ea typeface="Calibri"/>
                          <a:cs typeface="Times New Roman"/>
                        </a:rPr>
                        <a:t>img</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smtClean="0">
                          <a:latin typeface="Times New Roman"/>
                          <a:ea typeface="Calibri"/>
                          <a:cs typeface="Times New Roman"/>
                        </a:rPr>
                        <a:t>Text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smtClean="0">
                          <a:latin typeface="Times New Roman"/>
                          <a:ea typeface="Calibri"/>
                          <a:cs typeface="Times New Roman"/>
                        </a:rPr>
                        <a: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smtClean="0">
                          <a:latin typeface="Times New Roman"/>
                          <a:ea typeface="Calibri"/>
                          <a:cs typeface="Times New Roman"/>
                        </a:rPr>
                        <a:t>Product</a:t>
                      </a:r>
                      <a:r>
                        <a:rPr lang="en-US" sz="1100" b="1" kern="100" baseline="0" dirty="0" smtClean="0">
                          <a:latin typeface="Times New Roman"/>
                          <a:ea typeface="Calibri"/>
                          <a:cs typeface="Times New Roman"/>
                        </a:rPr>
                        <a:t> img</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2157930134"/>
                  </a:ext>
                </a:extLst>
              </a:tr>
            </a:tbl>
          </a:graphicData>
        </a:graphic>
      </p:graphicFrame>
    </p:spTree>
    <p:custDataLst>
      <p:tags r:id="rId1"/>
    </p:custDataLst>
    <p:extLst>
      <p:ext uri="{BB962C8B-B14F-4D97-AF65-F5344CB8AC3E}">
        <p14:creationId xmlns:p14="http://schemas.microsoft.com/office/powerpoint/2010/main" xmlns="" val="106789175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71" name="iśḻíḑè">
            <a:extLst>
              <a:ext uri="{FF2B5EF4-FFF2-40B4-BE49-F238E27FC236}">
                <a16:creationId xmlns:a16="http://schemas.microsoft.com/office/drawing/2014/main" xmlns="" id="{269FE6A2-BDFF-28C3-98A5-A4CF604810A2}"/>
              </a:ext>
            </a:extLst>
          </p:cNvPr>
          <p:cNvSpPr txBox="1"/>
          <p:nvPr/>
        </p:nvSpPr>
        <p:spPr>
          <a:xfrm>
            <a:off x="36421" y="387950"/>
            <a:ext cx="3184696" cy="581057"/>
          </a:xfrm>
          <a:prstGeom prst="rect">
            <a:avLst/>
          </a:prstGeom>
          <a:noFill/>
        </p:spPr>
        <p:txBody>
          <a:bodyPr wrap="square" lIns="91440" tIns="45720" rIns="91440" bIns="45720">
            <a:noAutofit/>
          </a:bodyPr>
          <a:lstStyle/>
          <a:p>
            <a:pPr>
              <a:lnSpc>
                <a:spcPct val="128000"/>
              </a:lnSpc>
            </a:pPr>
            <a:r>
              <a:rPr lang="en-US" altLang="en-US" sz="2800" i="1"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8.Hero section </a:t>
            </a:r>
            <a:r>
              <a:rPr lang="en-US" altLang="en-US" sz="2800"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Table</a:t>
            </a:r>
            <a:endParaRPr lang="en-US" altLang="en-US" sz="2800" u="sng"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nSpc>
                <a:spcPct val="128000"/>
              </a:lnSpc>
            </a:pPr>
            <a:endParaRPr lang="en-US" altLang="en-US" sz="2000" b="1" i="1" dirty="0">
              <a:solidFill>
                <a:schemeClr val="tx1">
                  <a:lumMod val="75000"/>
                  <a:lumOff val="25000"/>
                </a:schemeClr>
              </a:solidFill>
            </a:endParaRPr>
          </a:p>
        </p:txBody>
      </p:sp>
      <p:graphicFrame>
        <p:nvGraphicFramePr>
          <p:cNvPr id="57" name="Table 56">
            <a:extLst>
              <a:ext uri="{FF2B5EF4-FFF2-40B4-BE49-F238E27FC236}">
                <a16:creationId xmlns:a16="http://schemas.microsoft.com/office/drawing/2014/main" xmlns="" id="{5F5F8497-0B3F-19B6-163C-8984D9ECA509}"/>
              </a:ext>
            </a:extLst>
          </p:cNvPr>
          <p:cNvGraphicFramePr>
            <a:graphicFrameLocks noGrp="1"/>
          </p:cNvGraphicFramePr>
          <p:nvPr>
            <p:extLst>
              <p:ext uri="{D42A27DB-BD31-4B8C-83A1-F6EECF244321}">
                <p14:modId xmlns:p14="http://schemas.microsoft.com/office/powerpoint/2010/main" xmlns="" val="1053894549"/>
              </p:ext>
            </p:extLst>
          </p:nvPr>
        </p:nvGraphicFramePr>
        <p:xfrm>
          <a:off x="1920240" y="2092959"/>
          <a:ext cx="7396480" cy="3284868"/>
        </p:xfrm>
        <a:graphic>
          <a:graphicData uri="http://schemas.openxmlformats.org/drawingml/2006/table">
            <a:tbl>
              <a:tblPr firstRow="1" firstCol="1" bandRow="1">
                <a:tableStyleId>{3C2FFA5D-87B4-456A-9821-1D502468CF0F}</a:tableStyleId>
              </a:tblPr>
              <a:tblGrid>
                <a:gridCol w="1244188">
                  <a:extLst>
                    <a:ext uri="{9D8B030D-6E8A-4147-A177-3AD203B41FA5}">
                      <a16:colId xmlns:a16="http://schemas.microsoft.com/office/drawing/2014/main" xmlns="" val="1407489416"/>
                    </a:ext>
                  </a:extLst>
                </a:gridCol>
                <a:gridCol w="1477718">
                  <a:extLst>
                    <a:ext uri="{9D8B030D-6E8A-4147-A177-3AD203B41FA5}">
                      <a16:colId xmlns:a16="http://schemas.microsoft.com/office/drawing/2014/main" xmlns="" val="1166250008"/>
                    </a:ext>
                  </a:extLst>
                </a:gridCol>
                <a:gridCol w="492308">
                  <a:extLst>
                    <a:ext uri="{9D8B030D-6E8A-4147-A177-3AD203B41FA5}">
                      <a16:colId xmlns:a16="http://schemas.microsoft.com/office/drawing/2014/main" xmlns="" val="2248325337"/>
                    </a:ext>
                  </a:extLst>
                </a:gridCol>
                <a:gridCol w="1103752">
                  <a:extLst>
                    <a:ext uri="{9D8B030D-6E8A-4147-A177-3AD203B41FA5}">
                      <a16:colId xmlns:a16="http://schemas.microsoft.com/office/drawing/2014/main" xmlns="" val="1856909322"/>
                    </a:ext>
                  </a:extLst>
                </a:gridCol>
                <a:gridCol w="3078514">
                  <a:extLst>
                    <a:ext uri="{9D8B030D-6E8A-4147-A177-3AD203B41FA5}">
                      <a16:colId xmlns:a16="http://schemas.microsoft.com/office/drawing/2014/main" xmlns="" val="3181396383"/>
                    </a:ext>
                  </a:extLst>
                </a:gridCol>
              </a:tblGrid>
              <a:tr h="256198">
                <a:tc gridSpan="5">
                  <a:txBody>
                    <a:bodyPr/>
                    <a:lstStyle/>
                    <a:p>
                      <a:pPr>
                        <a:lnSpc>
                          <a:spcPct val="115000"/>
                        </a:lnSpc>
                        <a:spcAft>
                          <a:spcPts val="1000"/>
                        </a:spcAft>
                      </a:pPr>
                      <a:r>
                        <a:rPr lang="en-US" sz="1100" b="1" kern="100" dirty="0">
                          <a:latin typeface="Times New Roman"/>
                          <a:ea typeface="Calibri"/>
                          <a:cs typeface="Times New Roman"/>
                        </a:rPr>
                        <a:t>Table Name :Hero Section</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2516309072"/>
                  </a:ext>
                </a:extLst>
              </a:tr>
              <a:tr h="256198">
                <a:tc gridSpan="5">
                  <a:txBody>
                    <a:bodyPr/>
                    <a:lstStyle/>
                    <a:p>
                      <a:pPr>
                        <a:lnSpc>
                          <a:spcPct val="115000"/>
                        </a:lnSpc>
                        <a:spcAft>
                          <a:spcPts val="1000"/>
                        </a:spcAft>
                      </a:pPr>
                      <a:r>
                        <a:rPr lang="en-US" sz="1100" b="1" kern="100" dirty="0">
                          <a:latin typeface="Times New Roman"/>
                          <a:ea typeface="Calibri"/>
                          <a:cs typeface="Times New Roman"/>
                        </a:rPr>
                        <a:t>Primary Key :ID</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56198">
                <a:tc gridSpan="5">
                  <a:txBody>
                    <a:bodyPr/>
                    <a:lstStyle/>
                    <a:p>
                      <a:pPr>
                        <a:lnSpc>
                          <a:spcPct val="115000"/>
                        </a:lnSpc>
                        <a:spcAft>
                          <a:spcPts val="1000"/>
                        </a:spcAft>
                      </a:pPr>
                      <a:r>
                        <a:rPr lang="en-US" sz="1100" b="1" kern="100" dirty="0">
                          <a:latin typeface="Times New Roman"/>
                          <a:ea typeface="Calibri"/>
                          <a:cs typeface="Times New Roman"/>
                        </a:rPr>
                        <a:t>Foreign Key:  -</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38638">
                <a:tc gridSpan="5">
                  <a:txBody>
                    <a:bodyPr/>
                    <a:lstStyle/>
                    <a:p>
                      <a:pPr>
                        <a:lnSpc>
                          <a:spcPct val="115000"/>
                        </a:lnSpc>
                        <a:spcAft>
                          <a:spcPts val="1000"/>
                        </a:spcAft>
                      </a:pPr>
                      <a:r>
                        <a:rPr lang="en-US" sz="1100" b="1" kern="100" dirty="0">
                          <a:latin typeface="Times New Roman"/>
                          <a:ea typeface="Calibri"/>
                          <a:cs typeface="Times New Roman"/>
                        </a:rPr>
                        <a:t>Description : This table is use to store data of product Imges (Slide bar)</a:t>
                      </a:r>
                      <a:endParaRPr lang="en-US" sz="1200" kern="100" dirty="0">
                        <a:latin typeface="Times New Roman"/>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077039577"/>
                  </a:ext>
                </a:extLst>
              </a:tr>
              <a:tr h="428688">
                <a:tc>
                  <a:txBody>
                    <a:bodyPr/>
                    <a:lstStyle/>
                    <a:p>
                      <a:pPr>
                        <a:lnSpc>
                          <a:spcPct val="115000"/>
                        </a:lnSpc>
                        <a:spcAft>
                          <a:spcPts val="1000"/>
                        </a:spcAft>
                      </a:pPr>
                      <a:r>
                        <a:rPr lang="en-US" sz="1100" b="1" kern="100" dirty="0">
                          <a:latin typeface="Times New Roman"/>
                          <a:ea typeface="Calibri"/>
                          <a:cs typeface="Times New Roman"/>
                        </a:rPr>
                        <a:t>Field Name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Data Type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Size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Constraint </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Description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336430435"/>
                  </a:ext>
                </a:extLst>
              </a:tr>
              <a:tr h="533957">
                <a:tc>
                  <a:txBody>
                    <a:bodyPr/>
                    <a:lstStyle/>
                    <a:p>
                      <a:pPr>
                        <a:lnSpc>
                          <a:spcPct val="115000"/>
                        </a:lnSpc>
                        <a:spcAft>
                          <a:spcPts val="1000"/>
                        </a:spcAft>
                      </a:pPr>
                      <a:r>
                        <a:rPr lang="en-US" sz="1100" b="1" kern="100" dirty="0">
                          <a:latin typeface="Times New Roman"/>
                          <a:ea typeface="Calibri"/>
                          <a:cs typeface="Times New Roman"/>
                        </a:rPr>
                        <a:t>ID</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Int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11</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Pk</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ID</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3458516169"/>
                  </a:ext>
                </a:extLst>
              </a:tr>
              <a:tr h="521228">
                <a:tc>
                  <a:txBody>
                    <a:bodyPr/>
                    <a:lstStyle/>
                    <a:p>
                      <a:pPr>
                        <a:lnSpc>
                          <a:spcPct val="115000"/>
                        </a:lnSpc>
                        <a:spcAft>
                          <a:spcPts val="1000"/>
                        </a:spcAft>
                      </a:pPr>
                      <a:r>
                        <a:rPr lang="en-US" sz="1100" b="1" kern="100" dirty="0">
                          <a:latin typeface="Times New Roman"/>
                          <a:ea typeface="Calibri"/>
                          <a:cs typeface="Times New Roman"/>
                        </a:rPr>
                        <a:t>Name</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Text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Name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47999579"/>
                  </a:ext>
                </a:extLst>
              </a:tr>
              <a:tr h="361467">
                <a:tc>
                  <a:txBody>
                    <a:bodyPr/>
                    <a:lstStyle/>
                    <a:p>
                      <a:pPr>
                        <a:lnSpc>
                          <a:spcPct val="115000"/>
                        </a:lnSpc>
                        <a:spcAft>
                          <a:spcPts val="1000"/>
                        </a:spcAft>
                      </a:pPr>
                      <a:r>
                        <a:rPr lang="en-US" sz="1100" b="1" kern="100" dirty="0">
                          <a:latin typeface="Times New Roman"/>
                          <a:ea typeface="Calibri"/>
                          <a:cs typeface="Times New Roman"/>
                        </a:rPr>
                        <a:t>Img</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Text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Product Imge</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947031933"/>
                  </a:ext>
                </a:extLst>
              </a:tr>
              <a:tr h="332296">
                <a:tc>
                  <a:txBody>
                    <a:bodyPr/>
                    <a:lstStyle/>
                    <a:p>
                      <a:pPr>
                        <a:lnSpc>
                          <a:spcPct val="115000"/>
                        </a:lnSpc>
                        <a:spcAft>
                          <a:spcPts val="1000"/>
                        </a:spcAft>
                      </a:pPr>
                      <a:r>
                        <a:rPr lang="en-US" sz="1100" b="1" kern="100" dirty="0">
                          <a:latin typeface="Times New Roman"/>
                          <a:ea typeface="Calibri"/>
                          <a:cs typeface="Times New Roman"/>
                        </a:rPr>
                        <a:t>Description</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Long Text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Not null</a:t>
                      </a:r>
                      <a:endParaRPr lang="en-US" sz="1200" kern="100" dirty="0">
                        <a:latin typeface="Times New Roman"/>
                        <a:ea typeface="Calibri"/>
                        <a:cs typeface="Times New Roman"/>
                      </a:endParaRPr>
                    </a:p>
                  </a:txBody>
                  <a:tcPr marL="68580" marR="68580" marT="0" marB="0"/>
                </a:tc>
                <a:tc>
                  <a:txBody>
                    <a:bodyPr/>
                    <a:lstStyle/>
                    <a:p>
                      <a:pPr>
                        <a:lnSpc>
                          <a:spcPct val="115000"/>
                        </a:lnSpc>
                        <a:spcAft>
                          <a:spcPts val="1000"/>
                        </a:spcAft>
                      </a:pPr>
                      <a:r>
                        <a:rPr lang="en-US" sz="1100" b="1" kern="100" dirty="0">
                          <a:latin typeface="Times New Roman"/>
                          <a:ea typeface="Calibri"/>
                          <a:cs typeface="Times New Roman"/>
                        </a:rPr>
                        <a:t>Description </a:t>
                      </a:r>
                      <a:endParaRPr lang="en-US" sz="1200" kern="100" dirty="0">
                        <a:latin typeface="Times New Roman"/>
                        <a:ea typeface="Calibri"/>
                        <a:cs typeface="Times New Roman"/>
                      </a:endParaRPr>
                    </a:p>
                  </a:txBody>
                  <a:tcPr marL="68580" marR="68580" marT="0" marB="0"/>
                </a:tc>
                <a:extLst>
                  <a:ext uri="{0D108BD9-81ED-4DB2-BD59-A6C34878D82A}">
                    <a16:rowId xmlns:a16="http://schemas.microsoft.com/office/drawing/2014/main" xmlns="" val="2157930134"/>
                  </a:ext>
                </a:extLst>
              </a:tr>
            </a:tbl>
          </a:graphicData>
        </a:graphic>
      </p:graphicFrame>
    </p:spTree>
    <p:custDataLst>
      <p:tags r:id="rId1"/>
    </p:custDataLst>
    <p:extLst>
      <p:ext uri="{BB962C8B-B14F-4D97-AF65-F5344CB8AC3E}">
        <p14:creationId xmlns:p14="http://schemas.microsoft.com/office/powerpoint/2010/main" xmlns="" val="106789175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4" name="iṡḻiḑe">
            <a:extLst>
              <a:ext uri="{FF2B5EF4-FFF2-40B4-BE49-F238E27FC236}">
                <a16:creationId xmlns:a16="http://schemas.microsoft.com/office/drawing/2014/main" xmlns="" id="{37B3AA45-E69B-402D-A189-7C486BD46E31}"/>
              </a:ext>
            </a:extLst>
          </p:cNvPr>
          <p:cNvSpPr/>
          <p:nvPr/>
        </p:nvSpPr>
        <p:spPr>
          <a:xfrm>
            <a:off x="-112462" y="3026948"/>
            <a:ext cx="4128509" cy="1278480"/>
          </a:xfrm>
          <a:prstGeom prst="rect">
            <a:avLst/>
          </a:prstGeom>
        </p:spPr>
        <p:txBody>
          <a:bodyPr>
            <a:noAutofit/>
          </a:bodyPr>
          <a:lstStyle/>
          <a:p>
            <a:pPr>
              <a:buSzPct val="25000"/>
            </a:pPr>
            <a:r>
              <a:rPr lang="en-US" altLang="zh-CN" sz="4000" b="1" dirty="0"/>
              <a:t> </a:t>
            </a:r>
            <a:r>
              <a:rPr lang="en-US" altLang="zh-CN" sz="3200" b="1" dirty="0"/>
              <a:t>INPUT &amp; OUTPUT</a:t>
            </a:r>
            <a:r>
              <a:rPr lang="en-US" altLang="zh-CN" sz="4000" b="1" dirty="0"/>
              <a:t> </a:t>
            </a:r>
            <a:endParaRPr lang="en-US" altLang="zh-CN" sz="4800" b="1" dirty="0"/>
          </a:p>
        </p:txBody>
      </p:sp>
      <p:sp>
        <p:nvSpPr>
          <p:cNvPr id="2" name="iṡḻiḑe">
            <a:extLst>
              <a:ext uri="{FF2B5EF4-FFF2-40B4-BE49-F238E27FC236}">
                <a16:creationId xmlns:a16="http://schemas.microsoft.com/office/drawing/2014/main" xmlns="" id="{5ECF20CF-A98E-F2B4-E672-08254E9F80ED}"/>
              </a:ext>
            </a:extLst>
          </p:cNvPr>
          <p:cNvSpPr/>
          <p:nvPr/>
        </p:nvSpPr>
        <p:spPr>
          <a:xfrm>
            <a:off x="546098" y="2847469"/>
            <a:ext cx="5549901" cy="1278480"/>
          </a:xfrm>
          <a:prstGeom prst="rect">
            <a:avLst/>
          </a:prstGeom>
        </p:spPr>
        <p:txBody>
          <a:bodyPr>
            <a:noAutofit/>
          </a:bodyPr>
          <a:lstStyle/>
          <a:p>
            <a:pPr>
              <a:buSzPct val="25000"/>
            </a:pPr>
            <a:endParaRPr lang="en-US" altLang="zh-CN" sz="4000" b="1" dirty="0"/>
          </a:p>
        </p:txBody>
      </p:sp>
      <p:sp>
        <p:nvSpPr>
          <p:cNvPr id="3" name="iṡḻiḑe">
            <a:extLst>
              <a:ext uri="{FF2B5EF4-FFF2-40B4-BE49-F238E27FC236}">
                <a16:creationId xmlns:a16="http://schemas.microsoft.com/office/drawing/2014/main" xmlns="" id="{330BC5EB-C99A-D3EF-3031-C6CEDA5F6241}"/>
              </a:ext>
            </a:extLst>
          </p:cNvPr>
          <p:cNvSpPr/>
          <p:nvPr/>
        </p:nvSpPr>
        <p:spPr>
          <a:xfrm>
            <a:off x="321769" y="3666188"/>
            <a:ext cx="2359163" cy="639240"/>
          </a:xfrm>
          <a:prstGeom prst="rect">
            <a:avLst/>
          </a:prstGeom>
        </p:spPr>
        <p:txBody>
          <a:bodyPr>
            <a:noAutofit/>
          </a:bodyPr>
          <a:lstStyle/>
          <a:p>
            <a:pPr>
              <a:buSzPct val="25000"/>
            </a:pPr>
            <a:r>
              <a:rPr lang="en-US" altLang="zh-CN" sz="2400" b="1" dirty="0"/>
              <a:t>        </a:t>
            </a:r>
            <a:r>
              <a:rPr lang="en-US" altLang="zh-CN" sz="2800" dirty="0"/>
              <a:t>DESIGN </a:t>
            </a:r>
          </a:p>
        </p:txBody>
      </p:sp>
      <p:sp>
        <p:nvSpPr>
          <p:cNvPr id="5" name="ï$ľiḍè">
            <a:extLst>
              <a:ext uri="{FF2B5EF4-FFF2-40B4-BE49-F238E27FC236}">
                <a16:creationId xmlns:a16="http://schemas.microsoft.com/office/drawing/2014/main" xmlns="" id="{7C04F637-A65B-EA29-3194-03AA96BE9B2F}"/>
              </a:ext>
            </a:extLst>
          </p:cNvPr>
          <p:cNvSpPr/>
          <p:nvPr/>
        </p:nvSpPr>
        <p:spPr>
          <a:xfrm>
            <a:off x="1009058" y="1714704"/>
            <a:ext cx="1097280" cy="1097280"/>
          </a:xfrm>
          <a:prstGeom prst="ellipse">
            <a:avLst/>
          </a:prstGeom>
          <a:solidFill>
            <a:srgbClr val="FFCF37"/>
          </a:solidFill>
          <a:ln w="15875"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endParaRPr lang="en-US" altLang="zh-CN" sz="2400" b="1" dirty="0">
              <a:solidFill>
                <a:schemeClr val="tx1"/>
              </a:solidFill>
              <a:cs typeface="+mn-ea"/>
              <a:sym typeface="+mn-lt"/>
            </a:endParaRPr>
          </a:p>
        </p:txBody>
      </p:sp>
      <p:sp>
        <p:nvSpPr>
          <p:cNvPr id="7" name="iṡḻíde">
            <a:extLst>
              <a:ext uri="{FF2B5EF4-FFF2-40B4-BE49-F238E27FC236}">
                <a16:creationId xmlns:a16="http://schemas.microsoft.com/office/drawing/2014/main" xmlns="" id="{4FE27E5E-E722-C962-8C72-477D990BB2FD}"/>
              </a:ext>
            </a:extLst>
          </p:cNvPr>
          <p:cNvSpPr/>
          <p:nvPr/>
        </p:nvSpPr>
        <p:spPr>
          <a:xfrm>
            <a:off x="1128833" y="1861448"/>
            <a:ext cx="822960" cy="822960"/>
          </a:xfrm>
          <a:prstGeom prst="ellipse">
            <a:avLst/>
          </a:prstGeom>
          <a:solidFill>
            <a:schemeClr val="accent2"/>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r>
              <a:rPr lang="en-US" altLang="zh-CN" sz="2400" b="1" dirty="0">
                <a:solidFill>
                  <a:schemeClr val="tx1"/>
                </a:solidFill>
                <a:cs typeface="+mn-ea"/>
                <a:sym typeface="+mn-lt"/>
              </a:rPr>
              <a:t>4</a:t>
            </a:r>
          </a:p>
        </p:txBody>
      </p:sp>
      <p:pic>
        <p:nvPicPr>
          <p:cNvPr id="1026" name="Picture 2" descr="C:\Users\chirag_jani\Desktop\Best-Furniture-Brands-In-India-2-1024x576.jpg"/>
          <p:cNvPicPr>
            <a:picLocks noChangeAspect="1" noChangeArrowheads="1"/>
          </p:cNvPicPr>
          <p:nvPr/>
        </p:nvPicPr>
        <p:blipFill>
          <a:blip r:embed="rId3" cstate="print"/>
          <a:srcRect/>
          <a:stretch>
            <a:fillRect/>
          </a:stretch>
        </p:blipFill>
        <p:spPr bwMode="auto">
          <a:xfrm>
            <a:off x="4133850" y="711734"/>
            <a:ext cx="7219949" cy="5460465"/>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9" name="Rectangle 8"/>
          <p:cNvSpPr/>
          <p:nvPr/>
        </p:nvSpPr>
        <p:spPr>
          <a:xfrm>
            <a:off x="228600" y="314325"/>
            <a:ext cx="1943100" cy="1323439"/>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ONLINE FURNITURE</a:t>
            </a:r>
          </a:p>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ORDERING SYSTEM</a:t>
            </a:r>
            <a:endParaRPr lang="en-US" altLang="en-U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endParaRPr>
          </a:p>
        </p:txBody>
      </p:sp>
    </p:spTree>
    <p:custDataLst>
      <p:tags r:id="rId1"/>
    </p:custDataLst>
    <p:extLst>
      <p:ext uri="{BB962C8B-B14F-4D97-AF65-F5344CB8AC3E}">
        <p14:creationId xmlns:p14="http://schemas.microsoft.com/office/powerpoint/2010/main" xmlns="" val="3124194086"/>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4107063" y="5881009"/>
            <a:ext cx="3114619"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1.SIGNUP PAGE </a:t>
            </a:r>
          </a:p>
        </p:txBody>
      </p:sp>
      <p:pic>
        <p:nvPicPr>
          <p:cNvPr id="10" name="Picture 9">
            <a:extLst>
              <a:ext uri="{FF2B5EF4-FFF2-40B4-BE49-F238E27FC236}">
                <a16:creationId xmlns:a16="http://schemas.microsoft.com/office/drawing/2014/main" xmlns="" id="{DF51F4F1-7CC6-868A-13A4-629578D7C751}"/>
              </a:ext>
            </a:extLst>
          </p:cNvPr>
          <p:cNvPicPr>
            <a:picLocks noChangeAspect="1"/>
          </p:cNvPicPr>
          <p:nvPr/>
        </p:nvPicPr>
        <p:blipFill>
          <a:blip r:embed="rId2" cstate="print"/>
          <a:stretch>
            <a:fillRect/>
          </a:stretch>
        </p:blipFill>
        <p:spPr>
          <a:xfrm>
            <a:off x="4084320" y="528320"/>
            <a:ext cx="3921759" cy="5115932"/>
          </a:xfrm>
          <a:prstGeom prst="rect">
            <a:avLst/>
          </a:prstGeom>
        </p:spPr>
      </p:pic>
    </p:spTree>
    <p:extLst>
      <p:ext uri="{BB962C8B-B14F-4D97-AF65-F5344CB8AC3E}">
        <p14:creationId xmlns:p14="http://schemas.microsoft.com/office/powerpoint/2010/main" xmlns="" val="282528960"/>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4240413" y="5881009"/>
            <a:ext cx="3114619"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2.LOGIN PAGE </a:t>
            </a:r>
          </a:p>
        </p:txBody>
      </p:sp>
      <p:pic>
        <p:nvPicPr>
          <p:cNvPr id="4" name="Picture 3">
            <a:extLst>
              <a:ext uri="{FF2B5EF4-FFF2-40B4-BE49-F238E27FC236}">
                <a16:creationId xmlns:a16="http://schemas.microsoft.com/office/drawing/2014/main" xmlns="" id="{1E384A23-B54E-8017-B17F-02566ACD6688}"/>
              </a:ext>
            </a:extLst>
          </p:cNvPr>
          <p:cNvPicPr>
            <a:picLocks noChangeAspect="1"/>
          </p:cNvPicPr>
          <p:nvPr/>
        </p:nvPicPr>
        <p:blipFill>
          <a:blip r:embed="rId2" cstate="print"/>
          <a:stretch>
            <a:fillRect/>
          </a:stretch>
        </p:blipFill>
        <p:spPr>
          <a:xfrm>
            <a:off x="3678509" y="769619"/>
            <a:ext cx="4496926" cy="507172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xmlns="" val="1936144416"/>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4488063" y="5881009"/>
            <a:ext cx="3114619"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3.HOME PAGE </a:t>
            </a:r>
          </a:p>
        </p:txBody>
      </p:sp>
      <p:pic>
        <p:nvPicPr>
          <p:cNvPr id="2" name="Picture 1">
            <a:extLst>
              <a:ext uri="{FF2B5EF4-FFF2-40B4-BE49-F238E27FC236}">
                <a16:creationId xmlns:a16="http://schemas.microsoft.com/office/drawing/2014/main" xmlns="" id="{19B88319-A2B2-1123-4A66-A55C0FE966F2}"/>
              </a:ext>
            </a:extLst>
          </p:cNvPr>
          <p:cNvPicPr>
            <a:picLocks noChangeAspect="1"/>
          </p:cNvPicPr>
          <p:nvPr/>
        </p:nvPicPr>
        <p:blipFill>
          <a:blip r:embed="rId2" cstate="print"/>
          <a:stretch>
            <a:fillRect/>
          </a:stretch>
        </p:blipFill>
        <p:spPr bwMode="auto">
          <a:xfrm>
            <a:off x="1691640" y="1223362"/>
            <a:ext cx="8680380" cy="4125238"/>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xmlns=""/>
            </a:ext>
          </a:extLst>
        </p:spPr>
      </p:pic>
    </p:spTree>
    <p:extLst>
      <p:ext uri="{BB962C8B-B14F-4D97-AF65-F5344CB8AC3E}">
        <p14:creationId xmlns:p14="http://schemas.microsoft.com/office/powerpoint/2010/main" xmlns="" val="521008439"/>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4497823" y="5680984"/>
            <a:ext cx="3196352"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4.FOOTER PAGE</a:t>
            </a:r>
          </a:p>
        </p:txBody>
      </p:sp>
      <p:pic>
        <p:nvPicPr>
          <p:cNvPr id="3" name="Picture 2">
            <a:extLst>
              <a:ext uri="{FF2B5EF4-FFF2-40B4-BE49-F238E27FC236}">
                <a16:creationId xmlns:a16="http://schemas.microsoft.com/office/drawing/2014/main" xmlns="" id="{6B802958-E5FE-5FF9-8EF8-A62223618123}"/>
              </a:ext>
            </a:extLst>
          </p:cNvPr>
          <p:cNvPicPr>
            <a:picLocks noChangeAspect="1"/>
          </p:cNvPicPr>
          <p:nvPr/>
        </p:nvPicPr>
        <p:blipFill>
          <a:blip r:embed="rId2" cstate="print"/>
          <a:stretch>
            <a:fillRect/>
          </a:stretch>
        </p:blipFill>
        <p:spPr bwMode="auto">
          <a:xfrm>
            <a:off x="1807777" y="1057276"/>
            <a:ext cx="9113159" cy="4073524"/>
          </a:xfrm>
          <a:prstGeom prst="rect">
            <a:avLst/>
          </a:prstGeom>
          <a:noFill/>
          <a:ln>
            <a:noFill/>
          </a:ln>
          <a:extLst>
            <a:ext uri="{53640926-AAD7-44D8-BBD7-CCE9431645EC}">
              <a14:shadowObscured xmlns:a14="http://schemas.microsoft.com/office/drawing/2010/main" xmlns=""/>
            </a:ext>
          </a:extLst>
        </p:spPr>
      </p:pic>
    </p:spTree>
    <p:extLst>
      <p:ext uri="{BB962C8B-B14F-4D97-AF65-F5344CB8AC3E}">
        <p14:creationId xmlns:p14="http://schemas.microsoft.com/office/powerpoint/2010/main" xmlns="" val="2712612963"/>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3551258" y="5876859"/>
            <a:ext cx="2774315"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5.MENU </a:t>
            </a:r>
            <a:r>
              <a:rPr lang="en-US" alt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PAGE (Sofa)</a:t>
            </a:r>
            <a:endPar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endParaRPr>
          </a:p>
        </p:txBody>
      </p:sp>
      <p:pic>
        <p:nvPicPr>
          <p:cNvPr id="5" name="Picture 4">
            <a:extLst>
              <a:ext uri="{FF2B5EF4-FFF2-40B4-BE49-F238E27FC236}">
                <a16:creationId xmlns:a16="http://schemas.microsoft.com/office/drawing/2014/main" xmlns="" id="{FD3DC3AB-7824-9B95-4DFB-F2E94D5B29A7}"/>
              </a:ext>
            </a:extLst>
          </p:cNvPr>
          <p:cNvPicPr>
            <a:picLocks noChangeAspect="1"/>
          </p:cNvPicPr>
          <p:nvPr/>
        </p:nvPicPr>
        <p:blipFill>
          <a:blip r:embed="rId2" cstate="print"/>
          <a:stretch>
            <a:fillRect/>
          </a:stretch>
        </p:blipFill>
        <p:spPr>
          <a:xfrm>
            <a:off x="1392396" y="1162706"/>
            <a:ext cx="9429331" cy="4313534"/>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xmlns="" val="67078502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3469343" y="5953182"/>
            <a:ext cx="2774315"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6</a:t>
            </a:r>
            <a:r>
              <a:rPr lang="en-US" alt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.MENU PAGE (Dining tables)</a:t>
            </a:r>
            <a:endPar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endParaRPr>
          </a:p>
        </p:txBody>
      </p:sp>
      <p:pic>
        <p:nvPicPr>
          <p:cNvPr id="5" name="Picture 4">
            <a:extLst>
              <a:ext uri="{FF2B5EF4-FFF2-40B4-BE49-F238E27FC236}">
                <a16:creationId xmlns:a16="http://schemas.microsoft.com/office/drawing/2014/main" xmlns="" id="{FD3DC3AB-7824-9B95-4DFB-F2E94D5B29A7}"/>
              </a:ext>
            </a:extLst>
          </p:cNvPr>
          <p:cNvPicPr>
            <a:picLocks noChangeAspect="1"/>
          </p:cNvPicPr>
          <p:nvPr/>
        </p:nvPicPr>
        <p:blipFill>
          <a:blip r:embed="rId2" cstate="print"/>
          <a:stretch>
            <a:fillRect/>
          </a:stretch>
        </p:blipFill>
        <p:spPr>
          <a:xfrm>
            <a:off x="1392396" y="1227642"/>
            <a:ext cx="9429331" cy="41836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xmlns="" val="67078502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3469343" y="5953182"/>
            <a:ext cx="2774315"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7.MENU PAGE (Wardrobes)</a:t>
            </a:r>
            <a:endPar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endParaRPr>
          </a:p>
        </p:txBody>
      </p:sp>
      <p:pic>
        <p:nvPicPr>
          <p:cNvPr id="5" name="Picture 4">
            <a:extLst>
              <a:ext uri="{FF2B5EF4-FFF2-40B4-BE49-F238E27FC236}">
                <a16:creationId xmlns:a16="http://schemas.microsoft.com/office/drawing/2014/main" xmlns="" id="{FD3DC3AB-7824-9B95-4DFB-F2E94D5B29A7}"/>
              </a:ext>
            </a:extLst>
          </p:cNvPr>
          <p:cNvPicPr>
            <a:picLocks noChangeAspect="1"/>
          </p:cNvPicPr>
          <p:nvPr/>
        </p:nvPicPr>
        <p:blipFill>
          <a:blip r:embed="rId2" cstate="print"/>
          <a:stretch>
            <a:fillRect/>
          </a:stretch>
        </p:blipFill>
        <p:spPr>
          <a:xfrm>
            <a:off x="1392396" y="1234664"/>
            <a:ext cx="9429331" cy="416961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xmlns="" val="67078502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3469343" y="5953182"/>
            <a:ext cx="2774315"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8.MENU PAGE (Tv unit)</a:t>
            </a:r>
            <a:endPar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endParaRPr>
          </a:p>
        </p:txBody>
      </p:sp>
      <p:pic>
        <p:nvPicPr>
          <p:cNvPr id="5" name="Picture 4">
            <a:extLst>
              <a:ext uri="{FF2B5EF4-FFF2-40B4-BE49-F238E27FC236}">
                <a16:creationId xmlns:a16="http://schemas.microsoft.com/office/drawing/2014/main" xmlns="" id="{FD3DC3AB-7824-9B95-4DFB-F2E94D5B29A7}"/>
              </a:ext>
            </a:extLst>
          </p:cNvPr>
          <p:cNvPicPr>
            <a:picLocks noChangeAspect="1"/>
          </p:cNvPicPr>
          <p:nvPr/>
        </p:nvPicPr>
        <p:blipFill>
          <a:blip r:embed="rId2" cstate="print"/>
          <a:stretch>
            <a:fillRect/>
          </a:stretch>
        </p:blipFill>
        <p:spPr>
          <a:xfrm>
            <a:off x="1394899" y="1234664"/>
            <a:ext cx="9424325" cy="4169617"/>
          </a:xfrm>
          <a:prstGeom prst="rect">
            <a:avLst/>
          </a:prstGeom>
        </p:spPr>
      </p:pic>
    </p:spTree>
    <p:extLst>
      <p:ext uri="{BB962C8B-B14F-4D97-AF65-F5344CB8AC3E}">
        <p14:creationId xmlns:p14="http://schemas.microsoft.com/office/powerpoint/2010/main" xmlns="" val="67078502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3663844" y="5877351"/>
            <a:ext cx="3652454"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9</a:t>
            </a:r>
            <a:r>
              <a:rPr lang="en-US" alt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.ABOUT </a:t>
            </a:r>
            <a:r>
              <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US PAGE</a:t>
            </a:r>
          </a:p>
        </p:txBody>
      </p:sp>
      <p:pic>
        <p:nvPicPr>
          <p:cNvPr id="3" name="Picture 2" descr="Delicious Food - Google Chrome">
            <a:extLst>
              <a:ext uri="{FF2B5EF4-FFF2-40B4-BE49-F238E27FC236}">
                <a16:creationId xmlns:a16="http://schemas.microsoft.com/office/drawing/2014/main" xmlns="" id="{9D89270F-8C24-5212-FAF0-F0051229BCC4}"/>
              </a:ext>
            </a:extLst>
          </p:cNvPr>
          <p:cNvPicPr>
            <a:picLocks noChangeAspect="1"/>
          </p:cNvPicPr>
          <p:nvPr/>
        </p:nvPicPr>
        <p:blipFill>
          <a:blip r:embed="rId2" cstate="print"/>
          <a:stretch>
            <a:fillRect/>
          </a:stretch>
        </p:blipFill>
        <p:spPr bwMode="auto">
          <a:xfrm>
            <a:off x="2316259" y="1114426"/>
            <a:ext cx="7147724" cy="4472710"/>
          </a:xfrm>
          <a:prstGeom prst="rect">
            <a:avLst/>
          </a:prstGeom>
          <a:ln>
            <a:noFill/>
          </a:ln>
          <a:extLst>
            <a:ext uri="{53640926-AAD7-44D8-BBD7-CCE9431645EC}">
              <a14:shadowObscured xmlns:a14="http://schemas.microsoft.com/office/drawing/2010/main" xmlns=""/>
            </a:ext>
          </a:extLst>
        </p:spPr>
      </p:pic>
    </p:spTree>
    <p:extLst>
      <p:ext uri="{BB962C8B-B14F-4D97-AF65-F5344CB8AC3E}">
        <p14:creationId xmlns:p14="http://schemas.microsoft.com/office/powerpoint/2010/main" xmlns="" val="4260299625"/>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4234466" y="5710115"/>
            <a:ext cx="3248374"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10.ORDER </a:t>
            </a:r>
            <a:r>
              <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PAGE</a:t>
            </a:r>
          </a:p>
        </p:txBody>
      </p:sp>
      <p:pic>
        <p:nvPicPr>
          <p:cNvPr id="3" name="Picture 2" descr="Delicious Food - Google Chrome">
            <a:extLst>
              <a:ext uri="{FF2B5EF4-FFF2-40B4-BE49-F238E27FC236}">
                <a16:creationId xmlns:a16="http://schemas.microsoft.com/office/drawing/2014/main" xmlns="" id="{1E3F6757-91C6-FC80-B199-944DF7932E8D}"/>
              </a:ext>
            </a:extLst>
          </p:cNvPr>
          <p:cNvPicPr>
            <a:picLocks noChangeAspect="1"/>
          </p:cNvPicPr>
          <p:nvPr/>
        </p:nvPicPr>
        <p:blipFill>
          <a:blip r:embed="rId2" cstate="print"/>
          <a:stretch>
            <a:fillRect/>
          </a:stretch>
        </p:blipFill>
        <p:spPr bwMode="auto">
          <a:xfrm>
            <a:off x="1625380" y="1727200"/>
            <a:ext cx="9029959" cy="3332480"/>
          </a:xfrm>
          <a:prstGeom prst="rect">
            <a:avLst/>
          </a:prstGeom>
          <a:ln>
            <a:noFill/>
          </a:ln>
          <a:extLst>
            <a:ext uri="{53640926-AAD7-44D8-BBD7-CCE9431645EC}">
              <a14:shadowObscured xmlns:a14="http://schemas.microsoft.com/office/drawing/2010/main" xmlns=""/>
            </a:ext>
          </a:extLst>
        </p:spPr>
      </p:pic>
    </p:spTree>
    <p:extLst>
      <p:ext uri="{BB962C8B-B14F-4D97-AF65-F5344CB8AC3E}">
        <p14:creationId xmlns:p14="http://schemas.microsoft.com/office/powerpoint/2010/main" xmlns="" val="2401363202"/>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3959938" y="5690846"/>
            <a:ext cx="3497977"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11.ADD </a:t>
            </a:r>
            <a:r>
              <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CART PAGE</a:t>
            </a:r>
          </a:p>
        </p:txBody>
      </p:sp>
      <p:pic>
        <p:nvPicPr>
          <p:cNvPr id="3" name="Picture 2" descr="Delicious Food - Google Chrome">
            <a:extLst>
              <a:ext uri="{FF2B5EF4-FFF2-40B4-BE49-F238E27FC236}">
                <a16:creationId xmlns:a16="http://schemas.microsoft.com/office/drawing/2014/main" xmlns="" id="{47578AAF-4CC1-584E-51D6-065CC38CA39F}"/>
              </a:ext>
            </a:extLst>
          </p:cNvPr>
          <p:cNvPicPr>
            <a:picLocks noChangeAspect="1"/>
          </p:cNvPicPr>
          <p:nvPr/>
        </p:nvPicPr>
        <p:blipFill>
          <a:blip r:embed="rId2" cstate="print"/>
          <a:stretch>
            <a:fillRect/>
          </a:stretch>
        </p:blipFill>
        <p:spPr bwMode="auto">
          <a:xfrm>
            <a:off x="1330960" y="1350645"/>
            <a:ext cx="9809647" cy="3875404"/>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xmlns=""/>
            </a:ext>
          </a:extLst>
        </p:spPr>
      </p:pic>
    </p:spTree>
    <p:extLst>
      <p:ext uri="{BB962C8B-B14F-4D97-AF65-F5344CB8AC3E}">
        <p14:creationId xmlns:p14="http://schemas.microsoft.com/office/powerpoint/2010/main" xmlns="" val="334999611"/>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2586597" y="5219757"/>
            <a:ext cx="6080530"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12.ADMIN </a:t>
            </a:r>
            <a:r>
              <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DASHBOARD PAGE</a:t>
            </a:r>
          </a:p>
        </p:txBody>
      </p:sp>
      <p:pic>
        <p:nvPicPr>
          <p:cNvPr id="3" name="Picture 2">
            <a:extLst>
              <a:ext uri="{FF2B5EF4-FFF2-40B4-BE49-F238E27FC236}">
                <a16:creationId xmlns:a16="http://schemas.microsoft.com/office/drawing/2014/main" xmlns="" id="{D613AD2D-A40E-424E-2166-822689E25CFB}"/>
              </a:ext>
            </a:extLst>
          </p:cNvPr>
          <p:cNvPicPr>
            <a:picLocks noChangeAspect="1"/>
          </p:cNvPicPr>
          <p:nvPr/>
        </p:nvPicPr>
        <p:blipFill>
          <a:blip r:embed="rId2" cstate="print"/>
          <a:stretch>
            <a:fillRect/>
          </a:stretch>
        </p:blipFill>
        <p:spPr bwMode="auto">
          <a:xfrm>
            <a:off x="1747520" y="1329690"/>
            <a:ext cx="8564879" cy="336295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xmlns="" val="2098839234"/>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3416972" y="5457902"/>
            <a:ext cx="5014671"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13.MANAGE </a:t>
            </a:r>
            <a:r>
              <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CATEGORY </a:t>
            </a:r>
          </a:p>
        </p:txBody>
      </p:sp>
      <p:pic>
        <p:nvPicPr>
          <p:cNvPr id="3" name="Picture 2">
            <a:extLst>
              <a:ext uri="{FF2B5EF4-FFF2-40B4-BE49-F238E27FC236}">
                <a16:creationId xmlns:a16="http://schemas.microsoft.com/office/drawing/2014/main" xmlns="" id="{0B978107-97FC-AB9C-48D7-8FAB764F7BC7}"/>
              </a:ext>
            </a:extLst>
          </p:cNvPr>
          <p:cNvPicPr>
            <a:picLocks noChangeAspect="1"/>
          </p:cNvPicPr>
          <p:nvPr/>
        </p:nvPicPr>
        <p:blipFill>
          <a:blip r:embed="rId2" cstate="print"/>
          <a:stretch>
            <a:fillRect/>
          </a:stretch>
        </p:blipFill>
        <p:spPr bwMode="auto">
          <a:xfrm>
            <a:off x="1930401" y="1044576"/>
            <a:ext cx="8727440" cy="4037224"/>
          </a:xfrm>
          <a:prstGeom prst="rect">
            <a:avLst/>
          </a:prstGeom>
          <a:ln w="889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xmlns=""/>
            </a:ext>
          </a:extLst>
        </p:spPr>
      </p:pic>
    </p:spTree>
    <p:extLst>
      <p:ext uri="{BB962C8B-B14F-4D97-AF65-F5344CB8AC3E}">
        <p14:creationId xmlns:p14="http://schemas.microsoft.com/office/powerpoint/2010/main" xmlns="" val="1021951962"/>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4616292" y="5276907"/>
            <a:ext cx="3434390"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smtClean="0">
                <a:solidFill>
                  <a:schemeClr val="bg1"/>
                </a:solidFill>
                <a:effectLst>
                  <a:reflection blurRad="6350" stA="50000" endA="300" endPos="50000" dist="60007" dir="5400000" sy="-100000" algn="bl" rotWithShape="0"/>
                </a:effectLst>
                <a:latin typeface="Source Han Sans SC"/>
                <a:ea typeface="Source Han Sans SC"/>
                <a:cs typeface="+mn-ea"/>
                <a:sym typeface="+mn-lt"/>
              </a:rPr>
              <a:t>14.USER </a:t>
            </a:r>
            <a:r>
              <a:rPr lang="en-US" altLang="en-US" sz="4000" dirty="0">
                <a:solidFill>
                  <a:schemeClr val="bg1"/>
                </a:solidFill>
                <a:effectLst>
                  <a:reflection blurRad="6350" stA="50000" endA="300" endPos="50000" dist="60007" dir="5400000" sy="-100000" algn="bl" rotWithShape="0"/>
                </a:effectLst>
                <a:latin typeface="Source Han Sans SC"/>
                <a:ea typeface="Source Han Sans SC"/>
                <a:cs typeface="+mn-ea"/>
                <a:sym typeface="+mn-lt"/>
              </a:rPr>
              <a:t>LIST PAGE</a:t>
            </a:r>
          </a:p>
        </p:txBody>
      </p:sp>
      <p:pic>
        <p:nvPicPr>
          <p:cNvPr id="3" name="Picture 2">
            <a:extLst>
              <a:ext uri="{FF2B5EF4-FFF2-40B4-BE49-F238E27FC236}">
                <a16:creationId xmlns:a16="http://schemas.microsoft.com/office/drawing/2014/main" xmlns="" id="{4C56733B-1202-666F-8924-54B4763BD4EA}"/>
              </a:ext>
            </a:extLst>
          </p:cNvPr>
          <p:cNvPicPr>
            <a:picLocks noChangeAspect="1"/>
          </p:cNvPicPr>
          <p:nvPr/>
        </p:nvPicPr>
        <p:blipFill>
          <a:blip r:embed="rId2" cstate="print"/>
          <a:stretch>
            <a:fillRect/>
          </a:stretch>
        </p:blipFill>
        <p:spPr bwMode="auto">
          <a:xfrm>
            <a:off x="1761760" y="2072640"/>
            <a:ext cx="9742169" cy="2468880"/>
          </a:xfrm>
          <a:prstGeom prst="rect">
            <a:avLst/>
          </a:prstGeom>
          <a:ln w="2286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xmlns=""/>
            </a:ext>
          </a:extLst>
        </p:spPr>
      </p:pic>
    </p:spTree>
    <p:extLst>
      <p:ext uri="{BB962C8B-B14F-4D97-AF65-F5344CB8AC3E}">
        <p14:creationId xmlns:p14="http://schemas.microsoft.com/office/powerpoint/2010/main" xmlns="" val="3239989889"/>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3261956" y="5820872"/>
            <a:ext cx="4769897"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38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15.ADMIN </a:t>
            </a:r>
            <a:r>
              <a:rPr lang="en-US" altLang="en-US" sz="38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PROFILE PAGE</a:t>
            </a:r>
          </a:p>
        </p:txBody>
      </p:sp>
      <p:pic>
        <p:nvPicPr>
          <p:cNvPr id="2" name="Picture 1">
            <a:extLst>
              <a:ext uri="{FF2B5EF4-FFF2-40B4-BE49-F238E27FC236}">
                <a16:creationId xmlns:a16="http://schemas.microsoft.com/office/drawing/2014/main" xmlns="" id="{F143E7D0-747F-58B4-E4AD-A11F65C2195C}"/>
              </a:ext>
            </a:extLst>
          </p:cNvPr>
          <p:cNvPicPr>
            <a:picLocks noChangeAspect="1"/>
          </p:cNvPicPr>
          <p:nvPr/>
        </p:nvPicPr>
        <p:blipFill>
          <a:blip r:embed="rId2" cstate="print"/>
          <a:stretch>
            <a:fillRect/>
          </a:stretch>
        </p:blipFill>
        <p:spPr bwMode="auto">
          <a:xfrm>
            <a:off x="3880395" y="355869"/>
            <a:ext cx="4464339" cy="5120860"/>
          </a:xfrm>
          <a:prstGeom prst="rect">
            <a:avLst/>
          </a:prstGeom>
          <a:noFill/>
          <a:ln>
            <a:noFill/>
          </a:ln>
          <a:extLst>
            <a:ext uri="{53640926-AAD7-44D8-BBD7-CCE9431645EC}">
              <a14:shadowObscured xmlns:a14="http://schemas.microsoft.com/office/drawing/2010/main" xmlns=""/>
            </a:ext>
          </a:extLst>
        </p:spPr>
      </p:pic>
    </p:spTree>
    <p:extLst>
      <p:ext uri="{BB962C8B-B14F-4D97-AF65-F5344CB8AC3E}">
        <p14:creationId xmlns:p14="http://schemas.microsoft.com/office/powerpoint/2010/main" xmlns="" val="2504037796"/>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xmlns="" id="{E86F0383-C7F0-F798-E26B-599162D6A3C0}"/>
              </a:ext>
            </a:extLst>
          </p:cNvPr>
          <p:cNvSpPr txBox="1"/>
          <p:nvPr/>
        </p:nvSpPr>
        <p:spPr>
          <a:xfrm>
            <a:off x="3166706" y="5849447"/>
            <a:ext cx="4769897" cy="904818"/>
          </a:xfrm>
          <a:prstGeom prst="rect">
            <a:avLst/>
          </a:prstGeom>
          <a:noFill/>
          <a:effectLst>
            <a:reflection blurRad="6350" stA="50000" endA="275" endPos="40000" dist="101600" dir="5400000" sy="-100000" algn="bl" rotWithShape="0"/>
          </a:effectLst>
        </p:spPr>
        <p:txBody>
          <a:bodyPr wrap="none" rtlCol="0">
            <a:noAutofit/>
          </a:bodyPr>
          <a:lstStyle/>
          <a:p>
            <a:pPr algn="dist"/>
            <a:r>
              <a:rPr lang="en-US" alt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16.MANAGE ORDERS </a:t>
            </a:r>
            <a:r>
              <a:rPr lang="en-US"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Source Han Sans SC"/>
                <a:ea typeface="Source Han Sans SC"/>
                <a:cs typeface="+mn-ea"/>
                <a:sym typeface="+mn-lt"/>
              </a:rPr>
              <a:t>PAGE</a:t>
            </a:r>
          </a:p>
        </p:txBody>
      </p:sp>
      <p:pic>
        <p:nvPicPr>
          <p:cNvPr id="2" name="Picture 1">
            <a:extLst>
              <a:ext uri="{FF2B5EF4-FFF2-40B4-BE49-F238E27FC236}">
                <a16:creationId xmlns:a16="http://schemas.microsoft.com/office/drawing/2014/main" xmlns="" id="{F143E7D0-747F-58B4-E4AD-A11F65C2195C}"/>
              </a:ext>
            </a:extLst>
          </p:cNvPr>
          <p:cNvPicPr>
            <a:picLocks noChangeAspect="1"/>
          </p:cNvPicPr>
          <p:nvPr/>
        </p:nvPicPr>
        <p:blipFill>
          <a:blip r:embed="rId2" cstate="print"/>
          <a:stretch>
            <a:fillRect/>
          </a:stretch>
        </p:blipFill>
        <p:spPr bwMode="auto">
          <a:xfrm>
            <a:off x="2194560" y="1727200"/>
            <a:ext cx="8067040" cy="31800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53640926-AAD7-44D8-BBD7-CCE9431645EC}">
              <a14:shadowObscured xmlns:a14="http://schemas.microsoft.com/office/drawing/2010/main" xmlns=""/>
            </a:ext>
          </a:extLst>
        </p:spPr>
      </p:pic>
    </p:spTree>
    <p:extLst>
      <p:ext uri="{BB962C8B-B14F-4D97-AF65-F5344CB8AC3E}">
        <p14:creationId xmlns:p14="http://schemas.microsoft.com/office/powerpoint/2010/main" xmlns="" val="2504037796"/>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4" name="iṡḻiḑe">
            <a:extLst>
              <a:ext uri="{FF2B5EF4-FFF2-40B4-BE49-F238E27FC236}">
                <a16:creationId xmlns:a16="http://schemas.microsoft.com/office/drawing/2014/main" xmlns="" id="{37B3AA45-E69B-402D-A189-7C486BD46E31}"/>
              </a:ext>
            </a:extLst>
          </p:cNvPr>
          <p:cNvSpPr/>
          <p:nvPr/>
        </p:nvSpPr>
        <p:spPr>
          <a:xfrm>
            <a:off x="336757" y="2977570"/>
            <a:ext cx="1857804" cy="1278480"/>
          </a:xfrm>
          <a:prstGeom prst="rect">
            <a:avLst/>
          </a:prstGeom>
        </p:spPr>
        <p:txBody>
          <a:bodyPr>
            <a:noAutofit/>
          </a:bodyPr>
          <a:lstStyle/>
          <a:p>
            <a:pPr>
              <a:buSzPct val="25000"/>
            </a:pPr>
            <a:r>
              <a:rPr lang="en-US" altLang="zh-CN" sz="4000" b="1" dirty="0"/>
              <a:t>  </a:t>
            </a:r>
            <a:r>
              <a:rPr lang="en-US" altLang="zh-CN" sz="3200" b="1" dirty="0"/>
              <a:t>TESTING</a:t>
            </a:r>
          </a:p>
          <a:p>
            <a:pPr>
              <a:buSzPct val="25000"/>
            </a:pPr>
            <a:r>
              <a:rPr lang="en-US" altLang="zh-CN" sz="3200" b="1" dirty="0"/>
              <a:t>        &amp;  </a:t>
            </a:r>
            <a:endParaRPr lang="en-US" altLang="zh-CN" sz="4800" b="1" dirty="0"/>
          </a:p>
        </p:txBody>
      </p:sp>
      <p:sp>
        <p:nvSpPr>
          <p:cNvPr id="2" name="iṡḻiḑe">
            <a:extLst>
              <a:ext uri="{FF2B5EF4-FFF2-40B4-BE49-F238E27FC236}">
                <a16:creationId xmlns:a16="http://schemas.microsoft.com/office/drawing/2014/main" xmlns="" id="{5ECF20CF-A98E-F2B4-E672-08254E9F80ED}"/>
              </a:ext>
            </a:extLst>
          </p:cNvPr>
          <p:cNvSpPr/>
          <p:nvPr/>
        </p:nvSpPr>
        <p:spPr>
          <a:xfrm>
            <a:off x="546098" y="2847469"/>
            <a:ext cx="5549901" cy="1278480"/>
          </a:xfrm>
          <a:prstGeom prst="rect">
            <a:avLst/>
          </a:prstGeom>
        </p:spPr>
        <p:txBody>
          <a:bodyPr>
            <a:noAutofit/>
          </a:bodyPr>
          <a:lstStyle/>
          <a:p>
            <a:pPr>
              <a:buSzPct val="25000"/>
            </a:pPr>
            <a:endParaRPr lang="en-US" altLang="zh-CN" sz="4000" b="1" dirty="0"/>
          </a:p>
        </p:txBody>
      </p:sp>
      <p:sp>
        <p:nvSpPr>
          <p:cNvPr id="5" name="ï$ľiḍè">
            <a:extLst>
              <a:ext uri="{FF2B5EF4-FFF2-40B4-BE49-F238E27FC236}">
                <a16:creationId xmlns:a16="http://schemas.microsoft.com/office/drawing/2014/main" xmlns="" id="{7C04F637-A65B-EA29-3194-03AA96BE9B2F}"/>
              </a:ext>
            </a:extLst>
          </p:cNvPr>
          <p:cNvSpPr/>
          <p:nvPr/>
        </p:nvSpPr>
        <p:spPr>
          <a:xfrm>
            <a:off x="1009058" y="1714704"/>
            <a:ext cx="1097280" cy="1097280"/>
          </a:xfrm>
          <a:prstGeom prst="ellipse">
            <a:avLst/>
          </a:prstGeom>
          <a:solidFill>
            <a:srgbClr val="FFCF37"/>
          </a:solidFill>
          <a:ln w="15875"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endParaRPr lang="en-US" altLang="zh-CN" sz="2400" b="1" dirty="0">
              <a:solidFill>
                <a:schemeClr val="tx1"/>
              </a:solidFill>
              <a:cs typeface="+mn-ea"/>
              <a:sym typeface="+mn-lt"/>
            </a:endParaRPr>
          </a:p>
        </p:txBody>
      </p:sp>
      <p:sp>
        <p:nvSpPr>
          <p:cNvPr id="7" name="iṡḻíde">
            <a:extLst>
              <a:ext uri="{FF2B5EF4-FFF2-40B4-BE49-F238E27FC236}">
                <a16:creationId xmlns:a16="http://schemas.microsoft.com/office/drawing/2014/main" xmlns="" id="{4FE27E5E-E722-C962-8C72-477D990BB2FD}"/>
              </a:ext>
            </a:extLst>
          </p:cNvPr>
          <p:cNvSpPr/>
          <p:nvPr/>
        </p:nvSpPr>
        <p:spPr>
          <a:xfrm>
            <a:off x="1128833" y="1861448"/>
            <a:ext cx="822960" cy="822960"/>
          </a:xfrm>
          <a:prstGeom prst="ellipse">
            <a:avLst/>
          </a:prstGeom>
          <a:solidFill>
            <a:schemeClr val="accent2"/>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r>
              <a:rPr lang="en-US" altLang="zh-CN" sz="2400" b="1" dirty="0">
                <a:solidFill>
                  <a:schemeClr val="tx1"/>
                </a:solidFill>
                <a:cs typeface="+mn-ea"/>
                <a:sym typeface="+mn-lt"/>
              </a:rPr>
              <a:t>5</a:t>
            </a:r>
          </a:p>
        </p:txBody>
      </p:sp>
      <p:sp>
        <p:nvSpPr>
          <p:cNvPr id="9" name="iṡḻiḑe">
            <a:extLst>
              <a:ext uri="{FF2B5EF4-FFF2-40B4-BE49-F238E27FC236}">
                <a16:creationId xmlns:a16="http://schemas.microsoft.com/office/drawing/2014/main" xmlns="" id="{83C16F49-34CA-FCE9-EAAA-DA1FEBAB0394}"/>
              </a:ext>
            </a:extLst>
          </p:cNvPr>
          <p:cNvSpPr/>
          <p:nvPr/>
        </p:nvSpPr>
        <p:spPr>
          <a:xfrm>
            <a:off x="-33716" y="3410917"/>
            <a:ext cx="3304323" cy="1278480"/>
          </a:xfrm>
          <a:prstGeom prst="rect">
            <a:avLst/>
          </a:prstGeom>
        </p:spPr>
        <p:txBody>
          <a:bodyPr>
            <a:noAutofit/>
          </a:bodyPr>
          <a:lstStyle/>
          <a:p>
            <a:pPr>
              <a:buSzPct val="25000"/>
            </a:pPr>
            <a:r>
              <a:rPr lang="en-US" altLang="zh-CN" sz="4000" dirty="0"/>
              <a:t> </a:t>
            </a:r>
            <a:r>
              <a:rPr lang="en-US" altLang="zh-CN" sz="3200" dirty="0"/>
              <a:t>IMPLEMENTATION </a:t>
            </a:r>
          </a:p>
        </p:txBody>
      </p:sp>
      <p:pic>
        <p:nvPicPr>
          <p:cNvPr id="2050" name="Picture 2" descr="C:\Users\chirag_jani\Desktop\luxury-furniture-design-in-pakistan-1024x721.png"/>
          <p:cNvPicPr>
            <a:picLocks noChangeAspect="1" noChangeArrowheads="1"/>
          </p:cNvPicPr>
          <p:nvPr/>
        </p:nvPicPr>
        <p:blipFill>
          <a:blip r:embed="rId3" cstate="print"/>
          <a:srcRect/>
          <a:stretch>
            <a:fillRect/>
          </a:stretch>
        </p:blipFill>
        <p:spPr bwMode="auto">
          <a:xfrm>
            <a:off x="3914775" y="606298"/>
            <a:ext cx="7058025" cy="579450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0" name="Rectangle 9"/>
          <p:cNvSpPr/>
          <p:nvPr/>
        </p:nvSpPr>
        <p:spPr>
          <a:xfrm>
            <a:off x="228600" y="314325"/>
            <a:ext cx="1943100" cy="1323439"/>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ONLINE FURNITURE</a:t>
            </a:r>
          </a:p>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ORDERING SYSTEM</a:t>
            </a:r>
            <a:endParaRPr lang="en-US" altLang="en-U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endParaRPr>
          </a:p>
        </p:txBody>
      </p:sp>
    </p:spTree>
    <p:custDataLst>
      <p:tags r:id="rId1"/>
    </p:custDataLst>
    <p:extLst>
      <p:ext uri="{BB962C8B-B14F-4D97-AF65-F5344CB8AC3E}">
        <p14:creationId xmlns:p14="http://schemas.microsoft.com/office/powerpoint/2010/main" xmlns="" val="3037086436"/>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xmlns="" id="{35348DEF-65B3-469B-A50C-DC63CB46FD21}"/>
              </a:ext>
            </a:extLst>
          </p:cNvPr>
          <p:cNvGrpSpPr/>
          <p:nvPr/>
        </p:nvGrpSpPr>
        <p:grpSpPr>
          <a:xfrm>
            <a:off x="7256456" y="1998123"/>
            <a:ext cx="3257420" cy="3612438"/>
            <a:chOff x="7250106" y="1963399"/>
            <a:chExt cx="3257420" cy="3612438"/>
          </a:xfrm>
        </p:grpSpPr>
        <p:grpSp>
          <p:nvGrpSpPr>
            <p:cNvPr id="4" name="组合 3">
              <a:extLst>
                <a:ext uri="{FF2B5EF4-FFF2-40B4-BE49-F238E27FC236}">
                  <a16:creationId xmlns:a16="http://schemas.microsoft.com/office/drawing/2014/main" xmlns="" id="{A6DE0895-AD10-4062-930B-5383D0C35F43}"/>
                </a:ext>
              </a:extLst>
            </p:cNvPr>
            <p:cNvGrpSpPr/>
            <p:nvPr/>
          </p:nvGrpSpPr>
          <p:grpSpPr>
            <a:xfrm>
              <a:off x="7250106" y="1963399"/>
              <a:ext cx="3257420" cy="3612438"/>
              <a:chOff x="6985381" y="1982159"/>
              <a:chExt cx="2859737" cy="3171413"/>
            </a:xfrm>
          </p:grpSpPr>
          <p:grpSp>
            <p:nvGrpSpPr>
              <p:cNvPr id="15" name="组合 14">
                <a:extLst>
                  <a:ext uri="{FF2B5EF4-FFF2-40B4-BE49-F238E27FC236}">
                    <a16:creationId xmlns:a16="http://schemas.microsoft.com/office/drawing/2014/main" xmlns="" id="{DB4D67A9-3E5A-476D-B334-1E3179120900}"/>
                  </a:ext>
                </a:extLst>
              </p:cNvPr>
              <p:cNvGrpSpPr/>
              <p:nvPr/>
            </p:nvGrpSpPr>
            <p:grpSpPr>
              <a:xfrm>
                <a:off x="7019487" y="1982159"/>
                <a:ext cx="2799303" cy="2615988"/>
                <a:chOff x="7132493" y="2162595"/>
                <a:chExt cx="2573680" cy="2405140"/>
              </a:xfrm>
            </p:grpSpPr>
            <p:sp>
              <p:nvSpPr>
                <p:cNvPr id="30" name="任意多边形 22">
                  <a:extLst>
                    <a:ext uri="{FF2B5EF4-FFF2-40B4-BE49-F238E27FC236}">
                      <a16:creationId xmlns:a16="http://schemas.microsoft.com/office/drawing/2014/main" xmlns="" id="{11F790EB-2929-45D1-908C-07B0920F1344}"/>
                    </a:ext>
                  </a:extLst>
                </p:cNvPr>
                <p:cNvSpPr/>
                <p:nvPr/>
              </p:nvSpPr>
              <p:spPr>
                <a:xfrm>
                  <a:off x="8224805" y="2162595"/>
                  <a:ext cx="393415" cy="520699"/>
                </a:xfrm>
                <a:custGeom>
                  <a:avLst/>
                  <a:gdLst>
                    <a:gd name="connsiteX0" fmla="*/ 176544 w 299565"/>
                    <a:gd name="connsiteY0" fmla="*/ 6151 h 396485"/>
                    <a:gd name="connsiteX1" fmla="*/ 172163 w 299565"/>
                    <a:gd name="connsiteY1" fmla="*/ 245 h 396485"/>
                    <a:gd name="connsiteX2" fmla="*/ 165305 w 299565"/>
                    <a:gd name="connsiteY2" fmla="*/ 2912 h 396485"/>
                    <a:gd name="connsiteX3" fmla="*/ 150255 w 299565"/>
                    <a:gd name="connsiteY3" fmla="*/ 23391 h 396485"/>
                    <a:gd name="connsiteX4" fmla="*/ 99868 w 299565"/>
                    <a:gd name="connsiteY4" fmla="*/ 108259 h 396485"/>
                    <a:gd name="connsiteX5" fmla="*/ 86343 w 299565"/>
                    <a:gd name="connsiteY5" fmla="*/ 94543 h 396485"/>
                    <a:gd name="connsiteX6" fmla="*/ 67959 w 299565"/>
                    <a:gd name="connsiteY6" fmla="*/ 75112 h 396485"/>
                    <a:gd name="connsiteX7" fmla="*/ 60911 w 299565"/>
                    <a:gd name="connsiteY7" fmla="*/ 73302 h 396485"/>
                    <a:gd name="connsiteX8" fmla="*/ 57196 w 299565"/>
                    <a:gd name="connsiteY8" fmla="*/ 79493 h 396485"/>
                    <a:gd name="connsiteX9" fmla="*/ 57958 w 299565"/>
                    <a:gd name="connsiteY9" fmla="*/ 86256 h 396485"/>
                    <a:gd name="connsiteX10" fmla="*/ 59292 w 299565"/>
                    <a:gd name="connsiteY10" fmla="*/ 142835 h 396485"/>
                    <a:gd name="connsiteX11" fmla="*/ 31193 w 299565"/>
                    <a:gd name="connsiteY11" fmla="*/ 195413 h 396485"/>
                    <a:gd name="connsiteX12" fmla="*/ 7571 w 299565"/>
                    <a:gd name="connsiteY12" fmla="*/ 232560 h 396485"/>
                    <a:gd name="connsiteX13" fmla="*/ 72055 w 299565"/>
                    <a:gd name="connsiteY13" fmla="*/ 361052 h 396485"/>
                    <a:gd name="connsiteX14" fmla="*/ 74722 w 299565"/>
                    <a:gd name="connsiteY14" fmla="*/ 362100 h 396485"/>
                    <a:gd name="connsiteX15" fmla="*/ 69959 w 299565"/>
                    <a:gd name="connsiteY15" fmla="*/ 367910 h 396485"/>
                    <a:gd name="connsiteX16" fmla="*/ 69959 w 299565"/>
                    <a:gd name="connsiteY16" fmla="*/ 390389 h 396485"/>
                    <a:gd name="connsiteX17" fmla="*/ 76056 w 299565"/>
                    <a:gd name="connsiteY17" fmla="*/ 396485 h 396485"/>
                    <a:gd name="connsiteX18" fmla="*/ 239314 w 299565"/>
                    <a:gd name="connsiteY18" fmla="*/ 396485 h 396485"/>
                    <a:gd name="connsiteX19" fmla="*/ 245410 w 299565"/>
                    <a:gd name="connsiteY19" fmla="*/ 390389 h 396485"/>
                    <a:gd name="connsiteX20" fmla="*/ 245410 w 299565"/>
                    <a:gd name="connsiteY20" fmla="*/ 367910 h 396485"/>
                    <a:gd name="connsiteX21" fmla="*/ 240267 w 299565"/>
                    <a:gd name="connsiteY21" fmla="*/ 362005 h 396485"/>
                    <a:gd name="connsiteX22" fmla="*/ 242457 w 299565"/>
                    <a:gd name="connsiteY22" fmla="*/ 361052 h 396485"/>
                    <a:gd name="connsiteX23" fmla="*/ 291892 w 299565"/>
                    <a:gd name="connsiteY23" fmla="*/ 249515 h 396485"/>
                    <a:gd name="connsiteX24" fmla="*/ 289130 w 299565"/>
                    <a:gd name="connsiteY24" fmla="*/ 243704 h 396485"/>
                    <a:gd name="connsiteX25" fmla="*/ 260936 w 299565"/>
                    <a:gd name="connsiteY25" fmla="*/ 169409 h 396485"/>
                    <a:gd name="connsiteX26" fmla="*/ 262174 w 299565"/>
                    <a:gd name="connsiteY26" fmla="*/ 119022 h 396485"/>
                    <a:gd name="connsiteX27" fmla="*/ 262841 w 299565"/>
                    <a:gd name="connsiteY27" fmla="*/ 113021 h 396485"/>
                    <a:gd name="connsiteX28" fmla="*/ 259126 w 299565"/>
                    <a:gd name="connsiteY28" fmla="*/ 106830 h 396485"/>
                    <a:gd name="connsiteX29" fmla="*/ 252078 w 299565"/>
                    <a:gd name="connsiteY29" fmla="*/ 108640 h 396485"/>
                    <a:gd name="connsiteX30" fmla="*/ 235599 w 299565"/>
                    <a:gd name="connsiteY30" fmla="*/ 125975 h 396485"/>
                    <a:gd name="connsiteX31" fmla="*/ 226741 w 299565"/>
                    <a:gd name="connsiteY31" fmla="*/ 134929 h 396485"/>
                    <a:gd name="connsiteX32" fmla="*/ 211406 w 299565"/>
                    <a:gd name="connsiteY32" fmla="*/ 117784 h 396485"/>
                    <a:gd name="connsiteX33" fmla="*/ 179211 w 299565"/>
                    <a:gd name="connsiteY33" fmla="*/ 69778 h 396485"/>
                    <a:gd name="connsiteX34" fmla="*/ 176354 w 299565"/>
                    <a:gd name="connsiteY34" fmla="*/ 13009 h 396485"/>
                    <a:gd name="connsiteX35" fmla="*/ 176544 w 299565"/>
                    <a:gd name="connsiteY35" fmla="*/ 6151 h 396485"/>
                    <a:gd name="connsiteX36" fmla="*/ 233313 w 299565"/>
                    <a:gd name="connsiteY36" fmla="*/ 384293 h 396485"/>
                    <a:gd name="connsiteX37" fmla="*/ 82151 w 299565"/>
                    <a:gd name="connsiteY37" fmla="*/ 384293 h 396485"/>
                    <a:gd name="connsiteX38" fmla="*/ 82151 w 299565"/>
                    <a:gd name="connsiteY38" fmla="*/ 374006 h 396485"/>
                    <a:gd name="connsiteX39" fmla="*/ 233218 w 299565"/>
                    <a:gd name="connsiteY39" fmla="*/ 374006 h 396485"/>
                    <a:gd name="connsiteX40" fmla="*/ 233218 w 299565"/>
                    <a:gd name="connsiteY40" fmla="*/ 384293 h 396485"/>
                    <a:gd name="connsiteX41" fmla="*/ 202547 w 299565"/>
                    <a:gd name="connsiteY41" fmla="*/ 125975 h 396485"/>
                    <a:gd name="connsiteX42" fmla="*/ 221312 w 299565"/>
                    <a:gd name="connsiteY42" fmla="*/ 147692 h 396485"/>
                    <a:gd name="connsiteX43" fmla="*/ 225789 w 299565"/>
                    <a:gd name="connsiteY43" fmla="*/ 150169 h 396485"/>
                    <a:gd name="connsiteX44" fmla="*/ 230551 w 299565"/>
                    <a:gd name="connsiteY44" fmla="*/ 148264 h 396485"/>
                    <a:gd name="connsiteX45" fmla="*/ 244076 w 299565"/>
                    <a:gd name="connsiteY45" fmla="*/ 134548 h 396485"/>
                    <a:gd name="connsiteX46" fmla="*/ 248744 w 299565"/>
                    <a:gd name="connsiteY46" fmla="*/ 129881 h 396485"/>
                    <a:gd name="connsiteX47" fmla="*/ 249030 w 299565"/>
                    <a:gd name="connsiteY47" fmla="*/ 172362 h 396485"/>
                    <a:gd name="connsiteX48" fmla="*/ 278081 w 299565"/>
                    <a:gd name="connsiteY48" fmla="*/ 248943 h 396485"/>
                    <a:gd name="connsiteX49" fmla="*/ 280843 w 299565"/>
                    <a:gd name="connsiteY49" fmla="*/ 254753 h 396485"/>
                    <a:gd name="connsiteX50" fmla="*/ 236838 w 299565"/>
                    <a:gd name="connsiteY50" fmla="*/ 350099 h 396485"/>
                    <a:gd name="connsiteX51" fmla="*/ 77675 w 299565"/>
                    <a:gd name="connsiteY51" fmla="*/ 350099 h 396485"/>
                    <a:gd name="connsiteX52" fmla="*/ 18620 w 299565"/>
                    <a:gd name="connsiteY52" fmla="*/ 237799 h 396485"/>
                    <a:gd name="connsiteX53" fmla="*/ 41004 w 299565"/>
                    <a:gd name="connsiteY53" fmla="*/ 202556 h 396485"/>
                    <a:gd name="connsiteX54" fmla="*/ 71103 w 299565"/>
                    <a:gd name="connsiteY54" fmla="*/ 145692 h 396485"/>
                    <a:gd name="connsiteX55" fmla="*/ 71198 w 299565"/>
                    <a:gd name="connsiteY55" fmla="*/ 96353 h 396485"/>
                    <a:gd name="connsiteX56" fmla="*/ 77770 w 299565"/>
                    <a:gd name="connsiteY56" fmla="*/ 102925 h 396485"/>
                    <a:gd name="connsiteX57" fmla="*/ 98153 w 299565"/>
                    <a:gd name="connsiteY57" fmla="*/ 123880 h 396485"/>
                    <a:gd name="connsiteX58" fmla="*/ 104059 w 299565"/>
                    <a:gd name="connsiteY58" fmla="*/ 125690 h 396485"/>
                    <a:gd name="connsiteX59" fmla="*/ 108441 w 299565"/>
                    <a:gd name="connsiteY59" fmla="*/ 121403 h 396485"/>
                    <a:gd name="connsiteX60" fmla="*/ 159876 w 299565"/>
                    <a:gd name="connsiteY60" fmla="*/ 30630 h 396485"/>
                    <a:gd name="connsiteX61" fmla="*/ 163971 w 299565"/>
                    <a:gd name="connsiteY61" fmla="*/ 25296 h 396485"/>
                    <a:gd name="connsiteX62" fmla="*/ 167591 w 299565"/>
                    <a:gd name="connsiteY62" fmla="*/ 73016 h 396485"/>
                    <a:gd name="connsiteX63" fmla="*/ 202547 w 299565"/>
                    <a:gd name="connsiteY63" fmla="*/ 125975 h 396485"/>
                    <a:gd name="connsiteX64" fmla="*/ 158828 w 299565"/>
                    <a:gd name="connsiteY64" fmla="*/ 97305 h 396485"/>
                    <a:gd name="connsiteX65" fmla="*/ 148636 w 299565"/>
                    <a:gd name="connsiteY65" fmla="*/ 111116 h 396485"/>
                    <a:gd name="connsiteX66" fmla="*/ 114918 w 299565"/>
                    <a:gd name="connsiteY66" fmla="*/ 166838 h 396485"/>
                    <a:gd name="connsiteX67" fmla="*/ 107774 w 299565"/>
                    <a:gd name="connsiteY67" fmla="*/ 159694 h 396485"/>
                    <a:gd name="connsiteX68" fmla="*/ 95296 w 299565"/>
                    <a:gd name="connsiteY68" fmla="*/ 146549 h 396485"/>
                    <a:gd name="connsiteX69" fmla="*/ 88247 w 299565"/>
                    <a:gd name="connsiteY69" fmla="*/ 144740 h 396485"/>
                    <a:gd name="connsiteX70" fmla="*/ 84533 w 299565"/>
                    <a:gd name="connsiteY70" fmla="*/ 150931 h 396485"/>
                    <a:gd name="connsiteX71" fmla="*/ 85009 w 299565"/>
                    <a:gd name="connsiteY71" fmla="*/ 155598 h 396485"/>
                    <a:gd name="connsiteX72" fmla="*/ 85962 w 299565"/>
                    <a:gd name="connsiteY72" fmla="*/ 193698 h 396485"/>
                    <a:gd name="connsiteX73" fmla="*/ 67102 w 299565"/>
                    <a:gd name="connsiteY73" fmla="*/ 229036 h 396485"/>
                    <a:gd name="connsiteX74" fmla="*/ 50814 w 299565"/>
                    <a:gd name="connsiteY74" fmla="*/ 254753 h 396485"/>
                    <a:gd name="connsiteX75" fmla="*/ 95582 w 299565"/>
                    <a:gd name="connsiteY75" fmla="*/ 345050 h 396485"/>
                    <a:gd name="connsiteX76" fmla="*/ 99106 w 299565"/>
                    <a:gd name="connsiteY76" fmla="*/ 346193 h 396485"/>
                    <a:gd name="connsiteX77" fmla="*/ 210834 w 299565"/>
                    <a:gd name="connsiteY77" fmla="*/ 346193 h 396485"/>
                    <a:gd name="connsiteX78" fmla="*/ 214359 w 299565"/>
                    <a:gd name="connsiteY78" fmla="*/ 345050 h 396485"/>
                    <a:gd name="connsiteX79" fmla="*/ 248744 w 299565"/>
                    <a:gd name="connsiteY79" fmla="*/ 266374 h 396485"/>
                    <a:gd name="connsiteX80" fmla="*/ 246839 w 299565"/>
                    <a:gd name="connsiteY80" fmla="*/ 262469 h 396485"/>
                    <a:gd name="connsiteX81" fmla="*/ 227598 w 299565"/>
                    <a:gd name="connsiteY81" fmla="*/ 211986 h 396485"/>
                    <a:gd name="connsiteX82" fmla="*/ 228455 w 299565"/>
                    <a:gd name="connsiteY82" fmla="*/ 178077 h 396485"/>
                    <a:gd name="connsiteX83" fmla="*/ 228932 w 299565"/>
                    <a:gd name="connsiteY83" fmla="*/ 173981 h 396485"/>
                    <a:gd name="connsiteX84" fmla="*/ 225217 w 299565"/>
                    <a:gd name="connsiteY84" fmla="*/ 167790 h 396485"/>
                    <a:gd name="connsiteX85" fmla="*/ 218169 w 299565"/>
                    <a:gd name="connsiteY85" fmla="*/ 169600 h 396485"/>
                    <a:gd name="connsiteX86" fmla="*/ 207120 w 299565"/>
                    <a:gd name="connsiteY86" fmla="*/ 181220 h 396485"/>
                    <a:gd name="connsiteX87" fmla="*/ 202452 w 299565"/>
                    <a:gd name="connsiteY87" fmla="*/ 185888 h 396485"/>
                    <a:gd name="connsiteX88" fmla="*/ 193213 w 299565"/>
                    <a:gd name="connsiteY88" fmla="*/ 175696 h 396485"/>
                    <a:gd name="connsiteX89" fmla="*/ 171591 w 299565"/>
                    <a:gd name="connsiteY89" fmla="*/ 143597 h 396485"/>
                    <a:gd name="connsiteX90" fmla="*/ 169686 w 299565"/>
                    <a:gd name="connsiteY90" fmla="*/ 105306 h 396485"/>
                    <a:gd name="connsiteX91" fmla="*/ 169782 w 299565"/>
                    <a:gd name="connsiteY91" fmla="*/ 100734 h 396485"/>
                    <a:gd name="connsiteX92" fmla="*/ 165400 w 299565"/>
                    <a:gd name="connsiteY92" fmla="*/ 94829 h 396485"/>
                    <a:gd name="connsiteX93" fmla="*/ 158828 w 299565"/>
                    <a:gd name="connsiteY93" fmla="*/ 97305 h 396485"/>
                    <a:gd name="connsiteX94" fmla="*/ 184545 w 299565"/>
                    <a:gd name="connsiteY94" fmla="*/ 183887 h 396485"/>
                    <a:gd name="connsiteX95" fmla="*/ 197214 w 299565"/>
                    <a:gd name="connsiteY95" fmla="*/ 198556 h 396485"/>
                    <a:gd name="connsiteX96" fmla="*/ 201690 w 299565"/>
                    <a:gd name="connsiteY96" fmla="*/ 201032 h 396485"/>
                    <a:gd name="connsiteX97" fmla="*/ 206453 w 299565"/>
                    <a:gd name="connsiteY97" fmla="*/ 199127 h 396485"/>
                    <a:gd name="connsiteX98" fmla="*/ 215216 w 299565"/>
                    <a:gd name="connsiteY98" fmla="*/ 190269 h 396485"/>
                    <a:gd name="connsiteX99" fmla="*/ 215978 w 299565"/>
                    <a:gd name="connsiteY99" fmla="*/ 214748 h 396485"/>
                    <a:gd name="connsiteX100" fmla="*/ 235980 w 299565"/>
                    <a:gd name="connsiteY100" fmla="*/ 267612 h 396485"/>
                    <a:gd name="connsiteX101" fmla="*/ 237885 w 299565"/>
                    <a:gd name="connsiteY101" fmla="*/ 271517 h 396485"/>
                    <a:gd name="connsiteX102" fmla="*/ 208834 w 299565"/>
                    <a:gd name="connsiteY102" fmla="*/ 334001 h 396485"/>
                    <a:gd name="connsiteX103" fmla="*/ 101106 w 299565"/>
                    <a:gd name="connsiteY103" fmla="*/ 334001 h 396485"/>
                    <a:gd name="connsiteX104" fmla="*/ 61768 w 299565"/>
                    <a:gd name="connsiteY104" fmla="*/ 259897 h 396485"/>
                    <a:gd name="connsiteX105" fmla="*/ 76913 w 299565"/>
                    <a:gd name="connsiteY105" fmla="*/ 236084 h 396485"/>
                    <a:gd name="connsiteX106" fmla="*/ 97772 w 299565"/>
                    <a:gd name="connsiteY106" fmla="*/ 196460 h 396485"/>
                    <a:gd name="connsiteX107" fmla="*/ 98439 w 299565"/>
                    <a:gd name="connsiteY107" fmla="*/ 167409 h 396485"/>
                    <a:gd name="connsiteX108" fmla="*/ 99201 w 299565"/>
                    <a:gd name="connsiteY108" fmla="*/ 168171 h 396485"/>
                    <a:gd name="connsiteX109" fmla="*/ 113013 w 299565"/>
                    <a:gd name="connsiteY109" fmla="*/ 182363 h 396485"/>
                    <a:gd name="connsiteX110" fmla="*/ 118918 w 299565"/>
                    <a:gd name="connsiteY110" fmla="*/ 184173 h 396485"/>
                    <a:gd name="connsiteX111" fmla="*/ 123299 w 299565"/>
                    <a:gd name="connsiteY111" fmla="*/ 179887 h 396485"/>
                    <a:gd name="connsiteX112" fmla="*/ 157494 w 299565"/>
                    <a:gd name="connsiteY112" fmla="*/ 119308 h 396485"/>
                    <a:gd name="connsiteX113" fmla="*/ 160066 w 299565"/>
                    <a:gd name="connsiteY113" fmla="*/ 146835 h 396485"/>
                    <a:gd name="connsiteX114" fmla="*/ 184545 w 299565"/>
                    <a:gd name="connsiteY114" fmla="*/ 183887 h 39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299565" h="396485">
                      <a:moveTo>
                        <a:pt x="176544" y="6151"/>
                      </a:moveTo>
                      <a:cubicBezTo>
                        <a:pt x="176640" y="3389"/>
                        <a:pt x="174830" y="1007"/>
                        <a:pt x="172163" y="245"/>
                      </a:cubicBezTo>
                      <a:cubicBezTo>
                        <a:pt x="169591" y="-517"/>
                        <a:pt x="166734" y="531"/>
                        <a:pt x="165305" y="2912"/>
                      </a:cubicBezTo>
                      <a:cubicBezTo>
                        <a:pt x="161876" y="8532"/>
                        <a:pt x="156447" y="15390"/>
                        <a:pt x="150255" y="23391"/>
                      </a:cubicBezTo>
                      <a:cubicBezTo>
                        <a:pt x="133968" y="44346"/>
                        <a:pt x="112155" y="72350"/>
                        <a:pt x="99868" y="108259"/>
                      </a:cubicBezTo>
                      <a:cubicBezTo>
                        <a:pt x="95105" y="103306"/>
                        <a:pt x="90534" y="98734"/>
                        <a:pt x="86343" y="94543"/>
                      </a:cubicBezTo>
                      <a:cubicBezTo>
                        <a:pt x="78818" y="87018"/>
                        <a:pt x="72246" y="80541"/>
                        <a:pt x="67959" y="75112"/>
                      </a:cubicBezTo>
                      <a:cubicBezTo>
                        <a:pt x="66245" y="73016"/>
                        <a:pt x="63387" y="72254"/>
                        <a:pt x="60911" y="73302"/>
                      </a:cubicBezTo>
                      <a:cubicBezTo>
                        <a:pt x="58434" y="74350"/>
                        <a:pt x="56910" y="76826"/>
                        <a:pt x="57196" y="79493"/>
                      </a:cubicBezTo>
                      <a:lnTo>
                        <a:pt x="57958" y="86256"/>
                      </a:lnTo>
                      <a:cubicBezTo>
                        <a:pt x="60054" y="105592"/>
                        <a:pt x="62625" y="129595"/>
                        <a:pt x="59292" y="142835"/>
                      </a:cubicBezTo>
                      <a:cubicBezTo>
                        <a:pt x="53958" y="164456"/>
                        <a:pt x="42909" y="179506"/>
                        <a:pt x="31193" y="195413"/>
                      </a:cubicBezTo>
                      <a:cubicBezTo>
                        <a:pt x="23001" y="206652"/>
                        <a:pt x="14429" y="218177"/>
                        <a:pt x="7571" y="232560"/>
                      </a:cubicBezTo>
                      <a:cubicBezTo>
                        <a:pt x="-18051" y="286281"/>
                        <a:pt x="25859" y="327620"/>
                        <a:pt x="72055" y="361052"/>
                      </a:cubicBezTo>
                      <a:cubicBezTo>
                        <a:pt x="72817" y="361624"/>
                        <a:pt x="73770" y="361910"/>
                        <a:pt x="74722" y="362100"/>
                      </a:cubicBezTo>
                      <a:cubicBezTo>
                        <a:pt x="72055" y="362672"/>
                        <a:pt x="69959" y="365053"/>
                        <a:pt x="69959" y="367910"/>
                      </a:cubicBezTo>
                      <a:lnTo>
                        <a:pt x="69959" y="390389"/>
                      </a:lnTo>
                      <a:cubicBezTo>
                        <a:pt x="69959" y="393723"/>
                        <a:pt x="72722" y="396485"/>
                        <a:pt x="76056" y="396485"/>
                      </a:cubicBezTo>
                      <a:lnTo>
                        <a:pt x="239314" y="396485"/>
                      </a:lnTo>
                      <a:cubicBezTo>
                        <a:pt x="242648" y="396485"/>
                        <a:pt x="245410" y="393723"/>
                        <a:pt x="245410" y="390389"/>
                      </a:cubicBezTo>
                      <a:lnTo>
                        <a:pt x="245410" y="367910"/>
                      </a:lnTo>
                      <a:cubicBezTo>
                        <a:pt x="245410" y="364862"/>
                        <a:pt x="243124" y="362481"/>
                        <a:pt x="240267" y="362005"/>
                      </a:cubicBezTo>
                      <a:cubicBezTo>
                        <a:pt x="241028" y="361814"/>
                        <a:pt x="241791" y="361529"/>
                        <a:pt x="242457" y="361052"/>
                      </a:cubicBezTo>
                      <a:cubicBezTo>
                        <a:pt x="280176" y="333811"/>
                        <a:pt x="315609" y="299235"/>
                        <a:pt x="291892" y="249515"/>
                      </a:cubicBezTo>
                      <a:lnTo>
                        <a:pt x="289130" y="243704"/>
                      </a:lnTo>
                      <a:cubicBezTo>
                        <a:pt x="276366" y="217034"/>
                        <a:pt x="268651" y="200937"/>
                        <a:pt x="260936" y="169409"/>
                      </a:cubicBezTo>
                      <a:cubicBezTo>
                        <a:pt x="257983" y="157694"/>
                        <a:pt x="260364" y="136262"/>
                        <a:pt x="262174" y="119022"/>
                      </a:cubicBezTo>
                      <a:lnTo>
                        <a:pt x="262841" y="113021"/>
                      </a:lnTo>
                      <a:cubicBezTo>
                        <a:pt x="263126" y="110354"/>
                        <a:pt x="261603" y="107783"/>
                        <a:pt x="259126" y="106830"/>
                      </a:cubicBezTo>
                      <a:cubicBezTo>
                        <a:pt x="256649" y="105782"/>
                        <a:pt x="253792" y="106544"/>
                        <a:pt x="252078" y="108640"/>
                      </a:cubicBezTo>
                      <a:cubicBezTo>
                        <a:pt x="248268" y="113402"/>
                        <a:pt x="242362" y="119213"/>
                        <a:pt x="235599" y="125975"/>
                      </a:cubicBezTo>
                      <a:cubicBezTo>
                        <a:pt x="232742" y="128738"/>
                        <a:pt x="229789" y="131786"/>
                        <a:pt x="226741" y="134929"/>
                      </a:cubicBezTo>
                      <a:cubicBezTo>
                        <a:pt x="221788" y="128833"/>
                        <a:pt x="216549" y="123213"/>
                        <a:pt x="211406" y="117784"/>
                      </a:cubicBezTo>
                      <a:cubicBezTo>
                        <a:pt x="197976" y="103401"/>
                        <a:pt x="185212" y="89876"/>
                        <a:pt x="179211" y="69778"/>
                      </a:cubicBezTo>
                      <a:cubicBezTo>
                        <a:pt x="175306" y="56633"/>
                        <a:pt x="175878" y="32440"/>
                        <a:pt x="176354" y="13009"/>
                      </a:cubicBezTo>
                      <a:lnTo>
                        <a:pt x="176544" y="6151"/>
                      </a:lnTo>
                      <a:close/>
                      <a:moveTo>
                        <a:pt x="233313" y="384293"/>
                      </a:moveTo>
                      <a:lnTo>
                        <a:pt x="82151" y="384293"/>
                      </a:lnTo>
                      <a:lnTo>
                        <a:pt x="82151" y="374006"/>
                      </a:lnTo>
                      <a:lnTo>
                        <a:pt x="233218" y="374006"/>
                      </a:lnTo>
                      <a:lnTo>
                        <a:pt x="233218" y="384293"/>
                      </a:lnTo>
                      <a:close/>
                      <a:moveTo>
                        <a:pt x="202547" y="125975"/>
                      </a:moveTo>
                      <a:cubicBezTo>
                        <a:pt x="209024" y="132833"/>
                        <a:pt x="215692" y="139977"/>
                        <a:pt x="221312" y="147692"/>
                      </a:cubicBezTo>
                      <a:cubicBezTo>
                        <a:pt x="222360" y="149121"/>
                        <a:pt x="223979" y="150074"/>
                        <a:pt x="225789" y="150169"/>
                      </a:cubicBezTo>
                      <a:cubicBezTo>
                        <a:pt x="227503" y="150264"/>
                        <a:pt x="229313" y="149597"/>
                        <a:pt x="230551" y="148264"/>
                      </a:cubicBezTo>
                      <a:cubicBezTo>
                        <a:pt x="235314" y="143311"/>
                        <a:pt x="239886" y="138739"/>
                        <a:pt x="244076" y="134548"/>
                      </a:cubicBezTo>
                      <a:cubicBezTo>
                        <a:pt x="245696" y="132929"/>
                        <a:pt x="247220" y="131405"/>
                        <a:pt x="248744" y="129881"/>
                      </a:cubicBezTo>
                      <a:cubicBezTo>
                        <a:pt x="247220" y="145502"/>
                        <a:pt x="246363" y="161408"/>
                        <a:pt x="249030" y="172362"/>
                      </a:cubicBezTo>
                      <a:cubicBezTo>
                        <a:pt x="257126" y="205128"/>
                        <a:pt x="265032" y="221606"/>
                        <a:pt x="278081" y="248943"/>
                      </a:cubicBezTo>
                      <a:lnTo>
                        <a:pt x="280843" y="254753"/>
                      </a:lnTo>
                      <a:cubicBezTo>
                        <a:pt x="300369" y="295711"/>
                        <a:pt x="271509" y="324857"/>
                        <a:pt x="236838" y="350099"/>
                      </a:cubicBezTo>
                      <a:lnTo>
                        <a:pt x="77675" y="350099"/>
                      </a:lnTo>
                      <a:cubicBezTo>
                        <a:pt x="36051" y="319809"/>
                        <a:pt x="-2907" y="282852"/>
                        <a:pt x="18620" y="237799"/>
                      </a:cubicBezTo>
                      <a:cubicBezTo>
                        <a:pt x="25002" y="224464"/>
                        <a:pt x="33098" y="213320"/>
                        <a:pt x="41004" y="202556"/>
                      </a:cubicBezTo>
                      <a:cubicBezTo>
                        <a:pt x="52910" y="186364"/>
                        <a:pt x="65197" y="169695"/>
                        <a:pt x="71103" y="145692"/>
                      </a:cubicBezTo>
                      <a:cubicBezTo>
                        <a:pt x="74246" y="133119"/>
                        <a:pt x="73008" y="113974"/>
                        <a:pt x="71198" y="96353"/>
                      </a:cubicBezTo>
                      <a:cubicBezTo>
                        <a:pt x="73293" y="98448"/>
                        <a:pt x="75484" y="100639"/>
                        <a:pt x="77770" y="102925"/>
                      </a:cubicBezTo>
                      <a:cubicBezTo>
                        <a:pt x="83961" y="109116"/>
                        <a:pt x="91010" y="116165"/>
                        <a:pt x="98153" y="123880"/>
                      </a:cubicBezTo>
                      <a:cubicBezTo>
                        <a:pt x="99678" y="125499"/>
                        <a:pt x="101868" y="126166"/>
                        <a:pt x="104059" y="125690"/>
                      </a:cubicBezTo>
                      <a:cubicBezTo>
                        <a:pt x="106155" y="125213"/>
                        <a:pt x="107869" y="123499"/>
                        <a:pt x="108441" y="121403"/>
                      </a:cubicBezTo>
                      <a:cubicBezTo>
                        <a:pt x="119109" y="82922"/>
                        <a:pt x="142635" y="52728"/>
                        <a:pt x="159876" y="30630"/>
                      </a:cubicBezTo>
                      <a:cubicBezTo>
                        <a:pt x="161304" y="28820"/>
                        <a:pt x="162638" y="27011"/>
                        <a:pt x="163971" y="25296"/>
                      </a:cubicBezTo>
                      <a:cubicBezTo>
                        <a:pt x="163686" y="42536"/>
                        <a:pt x="164067" y="61110"/>
                        <a:pt x="167591" y="73016"/>
                      </a:cubicBezTo>
                      <a:cubicBezTo>
                        <a:pt x="174449" y="95972"/>
                        <a:pt x="188736" y="111212"/>
                        <a:pt x="202547" y="125975"/>
                      </a:cubicBezTo>
                      <a:close/>
                      <a:moveTo>
                        <a:pt x="158828" y="97305"/>
                      </a:moveTo>
                      <a:cubicBezTo>
                        <a:pt x="156542" y="101020"/>
                        <a:pt x="152922" y="105687"/>
                        <a:pt x="148636" y="111116"/>
                      </a:cubicBezTo>
                      <a:cubicBezTo>
                        <a:pt x="137873" y="125023"/>
                        <a:pt x="123490" y="143406"/>
                        <a:pt x="114918" y="166838"/>
                      </a:cubicBezTo>
                      <a:cubicBezTo>
                        <a:pt x="112441" y="164361"/>
                        <a:pt x="110060" y="161980"/>
                        <a:pt x="107774" y="159694"/>
                      </a:cubicBezTo>
                      <a:cubicBezTo>
                        <a:pt x="102630" y="154550"/>
                        <a:pt x="98249" y="150169"/>
                        <a:pt x="95296" y="146549"/>
                      </a:cubicBezTo>
                      <a:cubicBezTo>
                        <a:pt x="93582" y="144454"/>
                        <a:pt x="90724" y="143692"/>
                        <a:pt x="88247" y="144740"/>
                      </a:cubicBezTo>
                      <a:cubicBezTo>
                        <a:pt x="85771" y="145787"/>
                        <a:pt x="84247" y="148264"/>
                        <a:pt x="84533" y="150931"/>
                      </a:cubicBezTo>
                      <a:lnTo>
                        <a:pt x="85009" y="155598"/>
                      </a:lnTo>
                      <a:cubicBezTo>
                        <a:pt x="86438" y="168647"/>
                        <a:pt x="88152" y="184935"/>
                        <a:pt x="85962" y="193698"/>
                      </a:cubicBezTo>
                      <a:cubicBezTo>
                        <a:pt x="82342" y="208176"/>
                        <a:pt x="74913" y="218273"/>
                        <a:pt x="67102" y="229036"/>
                      </a:cubicBezTo>
                      <a:cubicBezTo>
                        <a:pt x="61387" y="236751"/>
                        <a:pt x="55577" y="244752"/>
                        <a:pt x="50814" y="254753"/>
                      </a:cubicBezTo>
                      <a:cubicBezTo>
                        <a:pt x="30240" y="297902"/>
                        <a:pt x="76056" y="330953"/>
                        <a:pt x="95582" y="345050"/>
                      </a:cubicBezTo>
                      <a:cubicBezTo>
                        <a:pt x="96630" y="345812"/>
                        <a:pt x="97868" y="346193"/>
                        <a:pt x="99106" y="346193"/>
                      </a:cubicBezTo>
                      <a:lnTo>
                        <a:pt x="210834" y="346193"/>
                      </a:lnTo>
                      <a:cubicBezTo>
                        <a:pt x="212072" y="346193"/>
                        <a:pt x="213311" y="345812"/>
                        <a:pt x="214359" y="345050"/>
                      </a:cubicBezTo>
                      <a:cubicBezTo>
                        <a:pt x="240838" y="325905"/>
                        <a:pt x="265603" y="301616"/>
                        <a:pt x="248744" y="266374"/>
                      </a:cubicBezTo>
                      <a:lnTo>
                        <a:pt x="246839" y="262469"/>
                      </a:lnTo>
                      <a:cubicBezTo>
                        <a:pt x="238171" y="244276"/>
                        <a:pt x="232932" y="233322"/>
                        <a:pt x="227598" y="211986"/>
                      </a:cubicBezTo>
                      <a:cubicBezTo>
                        <a:pt x="225693" y="204271"/>
                        <a:pt x="227217" y="189793"/>
                        <a:pt x="228455" y="178077"/>
                      </a:cubicBezTo>
                      <a:lnTo>
                        <a:pt x="228932" y="173981"/>
                      </a:lnTo>
                      <a:cubicBezTo>
                        <a:pt x="229218" y="171314"/>
                        <a:pt x="227694" y="168743"/>
                        <a:pt x="225217" y="167790"/>
                      </a:cubicBezTo>
                      <a:cubicBezTo>
                        <a:pt x="222741" y="166742"/>
                        <a:pt x="219883" y="167504"/>
                        <a:pt x="218169" y="169600"/>
                      </a:cubicBezTo>
                      <a:cubicBezTo>
                        <a:pt x="215597" y="172743"/>
                        <a:pt x="211692" y="176648"/>
                        <a:pt x="207120" y="181220"/>
                      </a:cubicBezTo>
                      <a:cubicBezTo>
                        <a:pt x="205596" y="182744"/>
                        <a:pt x="204072" y="184268"/>
                        <a:pt x="202452" y="185888"/>
                      </a:cubicBezTo>
                      <a:cubicBezTo>
                        <a:pt x="199404" y="182363"/>
                        <a:pt x="196356" y="178934"/>
                        <a:pt x="193213" y="175696"/>
                      </a:cubicBezTo>
                      <a:cubicBezTo>
                        <a:pt x="184164" y="166076"/>
                        <a:pt x="175592" y="156932"/>
                        <a:pt x="171591" y="143597"/>
                      </a:cubicBezTo>
                      <a:cubicBezTo>
                        <a:pt x="169020" y="134929"/>
                        <a:pt x="169401" y="118451"/>
                        <a:pt x="169686" y="105306"/>
                      </a:cubicBezTo>
                      <a:lnTo>
                        <a:pt x="169782" y="100734"/>
                      </a:lnTo>
                      <a:cubicBezTo>
                        <a:pt x="169877" y="97972"/>
                        <a:pt x="168067" y="95591"/>
                        <a:pt x="165400" y="94829"/>
                      </a:cubicBezTo>
                      <a:cubicBezTo>
                        <a:pt x="163114" y="93971"/>
                        <a:pt x="160257" y="95019"/>
                        <a:pt x="158828" y="97305"/>
                      </a:cubicBezTo>
                      <a:close/>
                      <a:moveTo>
                        <a:pt x="184545" y="183887"/>
                      </a:moveTo>
                      <a:cubicBezTo>
                        <a:pt x="189117" y="188745"/>
                        <a:pt x="193403" y="193412"/>
                        <a:pt x="197214" y="198556"/>
                      </a:cubicBezTo>
                      <a:cubicBezTo>
                        <a:pt x="198261" y="199985"/>
                        <a:pt x="199880" y="200937"/>
                        <a:pt x="201690" y="201032"/>
                      </a:cubicBezTo>
                      <a:cubicBezTo>
                        <a:pt x="203405" y="201128"/>
                        <a:pt x="205215" y="200461"/>
                        <a:pt x="206453" y="199127"/>
                      </a:cubicBezTo>
                      <a:cubicBezTo>
                        <a:pt x="209501" y="195984"/>
                        <a:pt x="212453" y="193031"/>
                        <a:pt x="215216" y="190269"/>
                      </a:cubicBezTo>
                      <a:cubicBezTo>
                        <a:pt x="214454" y="199318"/>
                        <a:pt x="214359" y="208176"/>
                        <a:pt x="215978" y="214748"/>
                      </a:cubicBezTo>
                      <a:cubicBezTo>
                        <a:pt x="221597" y="237323"/>
                        <a:pt x="227027" y="248753"/>
                        <a:pt x="235980" y="267612"/>
                      </a:cubicBezTo>
                      <a:lnTo>
                        <a:pt x="237885" y="271517"/>
                      </a:lnTo>
                      <a:cubicBezTo>
                        <a:pt x="249887" y="296663"/>
                        <a:pt x="235123" y="314761"/>
                        <a:pt x="208834" y="334001"/>
                      </a:cubicBezTo>
                      <a:lnTo>
                        <a:pt x="101106" y="334001"/>
                      </a:lnTo>
                      <a:cubicBezTo>
                        <a:pt x="72150" y="312856"/>
                        <a:pt x="47766" y="289234"/>
                        <a:pt x="61768" y="259897"/>
                      </a:cubicBezTo>
                      <a:cubicBezTo>
                        <a:pt x="66054" y="250943"/>
                        <a:pt x="71579" y="243419"/>
                        <a:pt x="76913" y="236084"/>
                      </a:cubicBezTo>
                      <a:cubicBezTo>
                        <a:pt x="85104" y="224845"/>
                        <a:pt x="93677" y="213320"/>
                        <a:pt x="97772" y="196460"/>
                      </a:cubicBezTo>
                      <a:cubicBezTo>
                        <a:pt x="99678" y="188745"/>
                        <a:pt x="99297" y="178172"/>
                        <a:pt x="98439" y="167409"/>
                      </a:cubicBezTo>
                      <a:cubicBezTo>
                        <a:pt x="98725" y="167695"/>
                        <a:pt x="98916" y="167885"/>
                        <a:pt x="99201" y="168171"/>
                      </a:cubicBezTo>
                      <a:cubicBezTo>
                        <a:pt x="103488" y="172457"/>
                        <a:pt x="108250" y="177125"/>
                        <a:pt x="113013" y="182363"/>
                      </a:cubicBezTo>
                      <a:cubicBezTo>
                        <a:pt x="114537" y="183983"/>
                        <a:pt x="116727" y="184649"/>
                        <a:pt x="118918" y="184173"/>
                      </a:cubicBezTo>
                      <a:cubicBezTo>
                        <a:pt x="121014" y="183697"/>
                        <a:pt x="122728" y="181982"/>
                        <a:pt x="123299" y="179887"/>
                      </a:cubicBezTo>
                      <a:cubicBezTo>
                        <a:pt x="130348" y="154455"/>
                        <a:pt x="145874" y="134167"/>
                        <a:pt x="157494" y="119308"/>
                      </a:cubicBezTo>
                      <a:cubicBezTo>
                        <a:pt x="157494" y="129595"/>
                        <a:pt x="157971" y="139691"/>
                        <a:pt x="160066" y="146835"/>
                      </a:cubicBezTo>
                      <a:cubicBezTo>
                        <a:pt x="165019" y="163028"/>
                        <a:pt x="174925" y="173696"/>
                        <a:pt x="184545" y="183887"/>
                      </a:cubicBezTo>
                      <a:close/>
                    </a:path>
                  </a:pathLst>
                </a:custGeom>
                <a:solidFill>
                  <a:schemeClr val="bg1"/>
                </a:solidFill>
                <a:ln w="9525" cap="flat">
                  <a:noFill/>
                  <a:prstDash val="solid"/>
                  <a:miter/>
                </a:ln>
              </p:spPr>
              <p:txBody>
                <a:bodyPr rtlCol="0" anchor="ctr"/>
                <a:lstStyle/>
                <a:p>
                  <a:endParaRPr lang="zh-CN" altLang="en-US"/>
                </a:p>
              </p:txBody>
            </p:sp>
            <p:sp>
              <p:nvSpPr>
                <p:cNvPr id="28" name="任意多边形 20">
                  <a:extLst>
                    <a:ext uri="{FF2B5EF4-FFF2-40B4-BE49-F238E27FC236}">
                      <a16:creationId xmlns:a16="http://schemas.microsoft.com/office/drawing/2014/main" xmlns="" id="{B9E3D854-E3B5-423D-9E5B-AC8133350BD7}"/>
                    </a:ext>
                  </a:extLst>
                </p:cNvPr>
                <p:cNvSpPr/>
                <p:nvPr/>
              </p:nvSpPr>
              <p:spPr>
                <a:xfrm>
                  <a:off x="9230925" y="4037853"/>
                  <a:ext cx="475248" cy="520698"/>
                </a:xfrm>
                <a:custGeom>
                  <a:avLst/>
                  <a:gdLst>
                    <a:gd name="connsiteX0" fmla="*/ 67608 w 389764"/>
                    <a:gd name="connsiteY0" fmla="*/ 208631 h 427039"/>
                    <a:gd name="connsiteX1" fmla="*/ 93040 w 389764"/>
                    <a:gd name="connsiteY1" fmla="*/ 177580 h 427039"/>
                    <a:gd name="connsiteX2" fmla="*/ 81039 w 389764"/>
                    <a:gd name="connsiteY2" fmla="*/ 421324 h 427039"/>
                    <a:gd name="connsiteX3" fmla="*/ 82467 w 389764"/>
                    <a:gd name="connsiteY3" fmla="*/ 425325 h 427039"/>
                    <a:gd name="connsiteX4" fmla="*/ 86373 w 389764"/>
                    <a:gd name="connsiteY4" fmla="*/ 427039 h 427039"/>
                    <a:gd name="connsiteX5" fmla="*/ 127330 w 389764"/>
                    <a:gd name="connsiteY5" fmla="*/ 427039 h 427039"/>
                    <a:gd name="connsiteX6" fmla="*/ 127425 w 389764"/>
                    <a:gd name="connsiteY6" fmla="*/ 427039 h 427039"/>
                    <a:gd name="connsiteX7" fmla="*/ 132759 w 389764"/>
                    <a:gd name="connsiteY7" fmla="*/ 421705 h 427039"/>
                    <a:gd name="connsiteX8" fmla="*/ 132569 w 389764"/>
                    <a:gd name="connsiteY8" fmla="*/ 420276 h 427039"/>
                    <a:gd name="connsiteX9" fmla="*/ 120377 w 389764"/>
                    <a:gd name="connsiteY9" fmla="*/ 172817 h 427039"/>
                    <a:gd name="connsiteX10" fmla="*/ 118853 w 389764"/>
                    <a:gd name="connsiteY10" fmla="*/ 169293 h 427039"/>
                    <a:gd name="connsiteX11" fmla="*/ 112757 w 389764"/>
                    <a:gd name="connsiteY11" fmla="*/ 163197 h 427039"/>
                    <a:gd name="connsiteX12" fmla="*/ 118567 w 389764"/>
                    <a:gd name="connsiteY12" fmla="*/ 159101 h 427039"/>
                    <a:gd name="connsiteX13" fmla="*/ 119615 w 389764"/>
                    <a:gd name="connsiteY13" fmla="*/ 157863 h 427039"/>
                    <a:gd name="connsiteX14" fmla="*/ 120186 w 389764"/>
                    <a:gd name="connsiteY14" fmla="*/ 158244 h 427039"/>
                    <a:gd name="connsiteX15" fmla="*/ 174384 w 389764"/>
                    <a:gd name="connsiteY15" fmla="*/ 177675 h 427039"/>
                    <a:gd name="connsiteX16" fmla="*/ 238487 w 389764"/>
                    <a:gd name="connsiteY16" fmla="*/ 185295 h 427039"/>
                    <a:gd name="connsiteX17" fmla="*/ 249917 w 389764"/>
                    <a:gd name="connsiteY17" fmla="*/ 185009 h 427039"/>
                    <a:gd name="connsiteX18" fmla="*/ 254775 w 389764"/>
                    <a:gd name="connsiteY18" fmla="*/ 180913 h 427039"/>
                    <a:gd name="connsiteX19" fmla="*/ 252393 w 389764"/>
                    <a:gd name="connsiteY19" fmla="*/ 175103 h 427039"/>
                    <a:gd name="connsiteX20" fmla="*/ 182099 w 389764"/>
                    <a:gd name="connsiteY20" fmla="*/ 146623 h 427039"/>
                    <a:gd name="connsiteX21" fmla="*/ 123806 w 389764"/>
                    <a:gd name="connsiteY21" fmla="*/ 139003 h 427039"/>
                    <a:gd name="connsiteX22" fmla="*/ 122187 w 389764"/>
                    <a:gd name="connsiteY22" fmla="*/ 139289 h 427039"/>
                    <a:gd name="connsiteX23" fmla="*/ 118186 w 389764"/>
                    <a:gd name="connsiteY23" fmla="*/ 133574 h 427039"/>
                    <a:gd name="connsiteX24" fmla="*/ 111233 w 389764"/>
                    <a:gd name="connsiteY24" fmla="*/ 129573 h 427039"/>
                    <a:gd name="connsiteX25" fmla="*/ 111519 w 389764"/>
                    <a:gd name="connsiteY25" fmla="*/ 128431 h 427039"/>
                    <a:gd name="connsiteX26" fmla="*/ 111328 w 389764"/>
                    <a:gd name="connsiteY26" fmla="*/ 126906 h 427039"/>
                    <a:gd name="connsiteX27" fmla="*/ 101517 w 389764"/>
                    <a:gd name="connsiteY27" fmla="*/ 71376 h 427039"/>
                    <a:gd name="connsiteX28" fmla="*/ 70085 w 389764"/>
                    <a:gd name="connsiteY28" fmla="*/ 2320 h 427039"/>
                    <a:gd name="connsiteX29" fmla="*/ 64179 w 389764"/>
                    <a:gd name="connsiteY29" fmla="*/ 224 h 427039"/>
                    <a:gd name="connsiteX30" fmla="*/ 60274 w 389764"/>
                    <a:gd name="connsiteY30" fmla="*/ 5177 h 427039"/>
                    <a:gd name="connsiteX31" fmla="*/ 70752 w 389764"/>
                    <a:gd name="connsiteY31" fmla="*/ 80329 h 427039"/>
                    <a:gd name="connsiteX32" fmla="*/ 92564 w 389764"/>
                    <a:gd name="connsiteY32" fmla="*/ 133098 h 427039"/>
                    <a:gd name="connsiteX33" fmla="*/ 93040 w 389764"/>
                    <a:gd name="connsiteY33" fmla="*/ 133765 h 427039"/>
                    <a:gd name="connsiteX34" fmla="*/ 92659 w 389764"/>
                    <a:gd name="connsiteY34" fmla="*/ 134050 h 427039"/>
                    <a:gd name="connsiteX35" fmla="*/ 88087 w 389764"/>
                    <a:gd name="connsiteY35" fmla="*/ 150338 h 427039"/>
                    <a:gd name="connsiteX36" fmla="*/ 86849 w 389764"/>
                    <a:gd name="connsiteY36" fmla="*/ 150910 h 427039"/>
                    <a:gd name="connsiteX37" fmla="*/ 44653 w 389764"/>
                    <a:gd name="connsiteY37" fmla="*/ 186533 h 427039"/>
                    <a:gd name="connsiteX38" fmla="*/ 552 w 389764"/>
                    <a:gd name="connsiteY38" fmla="*/ 248350 h 427039"/>
                    <a:gd name="connsiteX39" fmla="*/ 1695 w 389764"/>
                    <a:gd name="connsiteY39" fmla="*/ 254542 h 427039"/>
                    <a:gd name="connsiteX40" fmla="*/ 5410 w 389764"/>
                    <a:gd name="connsiteY40" fmla="*/ 256066 h 427039"/>
                    <a:gd name="connsiteX41" fmla="*/ 7982 w 389764"/>
                    <a:gd name="connsiteY41" fmla="*/ 255399 h 427039"/>
                    <a:gd name="connsiteX42" fmla="*/ 67608 w 389764"/>
                    <a:gd name="connsiteY42" fmla="*/ 208631 h 427039"/>
                    <a:gd name="connsiteX43" fmla="*/ 128854 w 389764"/>
                    <a:gd name="connsiteY43" fmla="*/ 149767 h 427039"/>
                    <a:gd name="connsiteX44" fmla="*/ 179432 w 389764"/>
                    <a:gd name="connsiteY44" fmla="*/ 156815 h 427039"/>
                    <a:gd name="connsiteX45" fmla="*/ 227914 w 389764"/>
                    <a:gd name="connsiteY45" fmla="*/ 174150 h 427039"/>
                    <a:gd name="connsiteX46" fmla="*/ 176955 w 389764"/>
                    <a:gd name="connsiteY46" fmla="*/ 167102 h 427039"/>
                    <a:gd name="connsiteX47" fmla="*/ 128854 w 389764"/>
                    <a:gd name="connsiteY47" fmla="*/ 150243 h 427039"/>
                    <a:gd name="connsiteX48" fmla="*/ 128854 w 389764"/>
                    <a:gd name="connsiteY48" fmla="*/ 149767 h 427039"/>
                    <a:gd name="connsiteX49" fmla="*/ 121710 w 389764"/>
                    <a:gd name="connsiteY49" fmla="*/ 416181 h 427039"/>
                    <a:gd name="connsiteX50" fmla="*/ 91992 w 389764"/>
                    <a:gd name="connsiteY50" fmla="*/ 416181 h 427039"/>
                    <a:gd name="connsiteX51" fmla="*/ 103899 w 389764"/>
                    <a:gd name="connsiteY51" fmla="*/ 174722 h 427039"/>
                    <a:gd name="connsiteX52" fmla="*/ 106375 w 389764"/>
                    <a:gd name="connsiteY52" fmla="*/ 171769 h 427039"/>
                    <a:gd name="connsiteX53" fmla="*/ 109804 w 389764"/>
                    <a:gd name="connsiteY53" fmla="*/ 175198 h 427039"/>
                    <a:gd name="connsiteX54" fmla="*/ 121710 w 389764"/>
                    <a:gd name="connsiteY54" fmla="*/ 416181 h 427039"/>
                    <a:gd name="connsiteX55" fmla="*/ 110852 w 389764"/>
                    <a:gd name="connsiteY55" fmla="*/ 151576 h 427039"/>
                    <a:gd name="connsiteX56" fmla="*/ 100470 w 389764"/>
                    <a:gd name="connsiteY56" fmla="*/ 151767 h 427039"/>
                    <a:gd name="connsiteX57" fmla="*/ 100279 w 389764"/>
                    <a:gd name="connsiteY57" fmla="*/ 141385 h 427039"/>
                    <a:gd name="connsiteX58" fmla="*/ 105613 w 389764"/>
                    <a:gd name="connsiteY58" fmla="*/ 139098 h 427039"/>
                    <a:gd name="connsiteX59" fmla="*/ 110661 w 389764"/>
                    <a:gd name="connsiteY59" fmla="*/ 141099 h 427039"/>
                    <a:gd name="connsiteX60" fmla="*/ 112947 w 389764"/>
                    <a:gd name="connsiteY60" fmla="*/ 146242 h 427039"/>
                    <a:gd name="connsiteX61" fmla="*/ 110852 w 389764"/>
                    <a:gd name="connsiteY61" fmla="*/ 151576 h 427039"/>
                    <a:gd name="connsiteX62" fmla="*/ 80848 w 389764"/>
                    <a:gd name="connsiteY62" fmla="*/ 77186 h 427039"/>
                    <a:gd name="connsiteX63" fmla="*/ 71704 w 389764"/>
                    <a:gd name="connsiteY63" fmla="*/ 26608 h 427039"/>
                    <a:gd name="connsiteX64" fmla="*/ 91135 w 389764"/>
                    <a:gd name="connsiteY64" fmla="*/ 74233 h 427039"/>
                    <a:gd name="connsiteX65" fmla="*/ 100184 w 389764"/>
                    <a:gd name="connsiteY65" fmla="*/ 123573 h 427039"/>
                    <a:gd name="connsiteX66" fmla="*/ 99708 w 389764"/>
                    <a:gd name="connsiteY66" fmla="*/ 123668 h 427039"/>
                    <a:gd name="connsiteX67" fmla="*/ 80848 w 389764"/>
                    <a:gd name="connsiteY67" fmla="*/ 77186 h 427039"/>
                    <a:gd name="connsiteX68" fmla="*/ 20650 w 389764"/>
                    <a:gd name="connsiteY68" fmla="*/ 234444 h 427039"/>
                    <a:gd name="connsiteX69" fmla="*/ 52178 w 389764"/>
                    <a:gd name="connsiteY69" fmla="*/ 193867 h 427039"/>
                    <a:gd name="connsiteX70" fmla="*/ 88373 w 389764"/>
                    <a:gd name="connsiteY70" fmla="*/ 162721 h 427039"/>
                    <a:gd name="connsiteX71" fmla="*/ 89135 w 389764"/>
                    <a:gd name="connsiteY71" fmla="*/ 163578 h 427039"/>
                    <a:gd name="connsiteX72" fmla="*/ 89325 w 389764"/>
                    <a:gd name="connsiteY72" fmla="*/ 163768 h 427039"/>
                    <a:gd name="connsiteX73" fmla="*/ 59798 w 389764"/>
                    <a:gd name="connsiteY73" fmla="*/ 201201 h 427039"/>
                    <a:gd name="connsiteX74" fmla="*/ 20650 w 389764"/>
                    <a:gd name="connsiteY74" fmla="*/ 234444 h 427039"/>
                    <a:gd name="connsiteX75" fmla="*/ 387267 w 389764"/>
                    <a:gd name="connsiteY75" fmla="*/ 243016 h 427039"/>
                    <a:gd name="connsiteX76" fmla="*/ 336213 w 389764"/>
                    <a:gd name="connsiteY76" fmla="*/ 222347 h 427039"/>
                    <a:gd name="connsiteX77" fmla="*/ 294018 w 389764"/>
                    <a:gd name="connsiteY77" fmla="*/ 216822 h 427039"/>
                    <a:gd name="connsiteX78" fmla="*/ 293541 w 389764"/>
                    <a:gd name="connsiteY78" fmla="*/ 216918 h 427039"/>
                    <a:gd name="connsiteX79" fmla="*/ 290874 w 389764"/>
                    <a:gd name="connsiteY79" fmla="*/ 213394 h 427039"/>
                    <a:gd name="connsiteX80" fmla="*/ 286493 w 389764"/>
                    <a:gd name="connsiteY80" fmla="*/ 210631 h 427039"/>
                    <a:gd name="connsiteX81" fmla="*/ 286302 w 389764"/>
                    <a:gd name="connsiteY81" fmla="*/ 209298 h 427039"/>
                    <a:gd name="connsiteX82" fmla="*/ 279159 w 389764"/>
                    <a:gd name="connsiteY82" fmla="*/ 169293 h 427039"/>
                    <a:gd name="connsiteX83" fmla="*/ 256299 w 389764"/>
                    <a:gd name="connsiteY83" fmla="*/ 119191 h 427039"/>
                    <a:gd name="connsiteX84" fmla="*/ 250393 w 389764"/>
                    <a:gd name="connsiteY84" fmla="*/ 117096 h 427039"/>
                    <a:gd name="connsiteX85" fmla="*/ 246488 w 389764"/>
                    <a:gd name="connsiteY85" fmla="*/ 122049 h 427039"/>
                    <a:gd name="connsiteX86" fmla="*/ 254108 w 389764"/>
                    <a:gd name="connsiteY86" fmla="*/ 176627 h 427039"/>
                    <a:gd name="connsiteX87" fmla="*/ 269729 w 389764"/>
                    <a:gd name="connsiteY87" fmla="*/ 214537 h 427039"/>
                    <a:gd name="connsiteX88" fmla="*/ 266205 w 389764"/>
                    <a:gd name="connsiteY88" fmla="*/ 224157 h 427039"/>
                    <a:gd name="connsiteX89" fmla="*/ 266395 w 389764"/>
                    <a:gd name="connsiteY89" fmla="*/ 225681 h 427039"/>
                    <a:gd name="connsiteX90" fmla="*/ 266300 w 389764"/>
                    <a:gd name="connsiteY90" fmla="*/ 225776 h 427039"/>
                    <a:gd name="connsiteX91" fmla="*/ 235725 w 389764"/>
                    <a:gd name="connsiteY91" fmla="*/ 251589 h 427039"/>
                    <a:gd name="connsiteX92" fmla="*/ 203721 w 389764"/>
                    <a:gd name="connsiteY92" fmla="*/ 296451 h 427039"/>
                    <a:gd name="connsiteX93" fmla="*/ 204864 w 389764"/>
                    <a:gd name="connsiteY93" fmla="*/ 302643 h 427039"/>
                    <a:gd name="connsiteX94" fmla="*/ 208578 w 389764"/>
                    <a:gd name="connsiteY94" fmla="*/ 304167 h 427039"/>
                    <a:gd name="connsiteX95" fmla="*/ 211150 w 389764"/>
                    <a:gd name="connsiteY95" fmla="*/ 303500 h 427039"/>
                    <a:gd name="connsiteX96" fmla="*/ 254584 w 389764"/>
                    <a:gd name="connsiteY96" fmla="*/ 269686 h 427039"/>
                    <a:gd name="connsiteX97" fmla="*/ 270015 w 389764"/>
                    <a:gd name="connsiteY97" fmla="*/ 251303 h 427039"/>
                    <a:gd name="connsiteX98" fmla="*/ 261633 w 389764"/>
                    <a:gd name="connsiteY98" fmla="*/ 419991 h 427039"/>
                    <a:gd name="connsiteX99" fmla="*/ 263061 w 389764"/>
                    <a:gd name="connsiteY99" fmla="*/ 423991 h 427039"/>
                    <a:gd name="connsiteX100" fmla="*/ 266967 w 389764"/>
                    <a:gd name="connsiteY100" fmla="*/ 425706 h 427039"/>
                    <a:gd name="connsiteX101" fmla="*/ 296494 w 389764"/>
                    <a:gd name="connsiteY101" fmla="*/ 425706 h 427039"/>
                    <a:gd name="connsiteX102" fmla="*/ 296589 w 389764"/>
                    <a:gd name="connsiteY102" fmla="*/ 425706 h 427039"/>
                    <a:gd name="connsiteX103" fmla="*/ 301923 w 389764"/>
                    <a:gd name="connsiteY103" fmla="*/ 420372 h 427039"/>
                    <a:gd name="connsiteX104" fmla="*/ 301733 w 389764"/>
                    <a:gd name="connsiteY104" fmla="*/ 418943 h 427039"/>
                    <a:gd name="connsiteX105" fmla="*/ 292970 w 389764"/>
                    <a:gd name="connsiteY105" fmla="*/ 242730 h 427039"/>
                    <a:gd name="connsiteX106" fmla="*/ 291446 w 389764"/>
                    <a:gd name="connsiteY106" fmla="*/ 239206 h 427039"/>
                    <a:gd name="connsiteX107" fmla="*/ 288493 w 389764"/>
                    <a:gd name="connsiteY107" fmla="*/ 236254 h 427039"/>
                    <a:gd name="connsiteX108" fmla="*/ 291255 w 389764"/>
                    <a:gd name="connsiteY108" fmla="*/ 234063 h 427039"/>
                    <a:gd name="connsiteX109" fmla="*/ 291255 w 389764"/>
                    <a:gd name="connsiteY109" fmla="*/ 234063 h 427039"/>
                    <a:gd name="connsiteX110" fmla="*/ 329927 w 389764"/>
                    <a:gd name="connsiteY110" fmla="*/ 247874 h 427039"/>
                    <a:gd name="connsiteX111" fmla="*/ 376409 w 389764"/>
                    <a:gd name="connsiteY111" fmla="*/ 253399 h 427039"/>
                    <a:gd name="connsiteX112" fmla="*/ 384696 w 389764"/>
                    <a:gd name="connsiteY112" fmla="*/ 253208 h 427039"/>
                    <a:gd name="connsiteX113" fmla="*/ 389553 w 389764"/>
                    <a:gd name="connsiteY113" fmla="*/ 249112 h 427039"/>
                    <a:gd name="connsiteX114" fmla="*/ 387267 w 389764"/>
                    <a:gd name="connsiteY114" fmla="*/ 243016 h 427039"/>
                    <a:gd name="connsiteX115" fmla="*/ 246964 w 389764"/>
                    <a:gd name="connsiteY115" fmla="*/ 262066 h 427039"/>
                    <a:gd name="connsiteX116" fmla="*/ 225723 w 389764"/>
                    <a:gd name="connsiteY116" fmla="*/ 280926 h 427039"/>
                    <a:gd name="connsiteX117" fmla="*/ 243630 w 389764"/>
                    <a:gd name="connsiteY117" fmla="*/ 258923 h 427039"/>
                    <a:gd name="connsiteX118" fmla="*/ 264871 w 389764"/>
                    <a:gd name="connsiteY118" fmla="*/ 240063 h 427039"/>
                    <a:gd name="connsiteX119" fmla="*/ 246964 w 389764"/>
                    <a:gd name="connsiteY119" fmla="*/ 262066 h 427039"/>
                    <a:gd name="connsiteX120" fmla="*/ 277158 w 389764"/>
                    <a:gd name="connsiteY120" fmla="*/ 223871 h 427039"/>
                    <a:gd name="connsiteX121" fmla="*/ 278206 w 389764"/>
                    <a:gd name="connsiteY121" fmla="*/ 221204 h 427039"/>
                    <a:gd name="connsiteX122" fmla="*/ 280968 w 389764"/>
                    <a:gd name="connsiteY122" fmla="*/ 220061 h 427039"/>
                    <a:gd name="connsiteX123" fmla="*/ 283540 w 389764"/>
                    <a:gd name="connsiteY123" fmla="*/ 221109 h 427039"/>
                    <a:gd name="connsiteX124" fmla="*/ 284683 w 389764"/>
                    <a:gd name="connsiteY124" fmla="*/ 223776 h 427039"/>
                    <a:gd name="connsiteX125" fmla="*/ 283635 w 389764"/>
                    <a:gd name="connsiteY125" fmla="*/ 226443 h 427039"/>
                    <a:gd name="connsiteX126" fmla="*/ 278301 w 389764"/>
                    <a:gd name="connsiteY126" fmla="*/ 226538 h 427039"/>
                    <a:gd name="connsiteX127" fmla="*/ 277158 w 389764"/>
                    <a:gd name="connsiteY127" fmla="*/ 223871 h 427039"/>
                    <a:gd name="connsiteX128" fmla="*/ 258870 w 389764"/>
                    <a:gd name="connsiteY128" fmla="*/ 145671 h 427039"/>
                    <a:gd name="connsiteX129" fmla="*/ 268967 w 389764"/>
                    <a:gd name="connsiteY129" fmla="*/ 172246 h 427039"/>
                    <a:gd name="connsiteX130" fmla="*/ 274682 w 389764"/>
                    <a:gd name="connsiteY130" fmla="*/ 200059 h 427039"/>
                    <a:gd name="connsiteX131" fmla="*/ 264585 w 389764"/>
                    <a:gd name="connsiteY131" fmla="*/ 173484 h 427039"/>
                    <a:gd name="connsiteX132" fmla="*/ 258870 w 389764"/>
                    <a:gd name="connsiteY132" fmla="*/ 145671 h 427039"/>
                    <a:gd name="connsiteX133" fmla="*/ 272777 w 389764"/>
                    <a:gd name="connsiteY133" fmla="*/ 414752 h 427039"/>
                    <a:gd name="connsiteX134" fmla="*/ 281254 w 389764"/>
                    <a:gd name="connsiteY134" fmla="*/ 244731 h 427039"/>
                    <a:gd name="connsiteX135" fmla="*/ 281635 w 389764"/>
                    <a:gd name="connsiteY135" fmla="*/ 244255 h 427039"/>
                    <a:gd name="connsiteX136" fmla="*/ 282588 w 389764"/>
                    <a:gd name="connsiteY136" fmla="*/ 245207 h 427039"/>
                    <a:gd name="connsiteX137" fmla="*/ 291065 w 389764"/>
                    <a:gd name="connsiteY137" fmla="*/ 414847 h 427039"/>
                    <a:gd name="connsiteX138" fmla="*/ 272777 w 389764"/>
                    <a:gd name="connsiteY138" fmla="*/ 414847 h 427039"/>
                    <a:gd name="connsiteX139" fmla="*/ 332594 w 389764"/>
                    <a:gd name="connsiteY139" fmla="*/ 237206 h 427039"/>
                    <a:gd name="connsiteX140" fmla="*/ 305257 w 389764"/>
                    <a:gd name="connsiteY140" fmla="*/ 228157 h 427039"/>
                    <a:gd name="connsiteX141" fmla="*/ 333737 w 389764"/>
                    <a:gd name="connsiteY141" fmla="*/ 232729 h 427039"/>
                    <a:gd name="connsiteX142" fmla="*/ 360693 w 389764"/>
                    <a:gd name="connsiteY142" fmla="*/ 241683 h 427039"/>
                    <a:gd name="connsiteX143" fmla="*/ 332594 w 389764"/>
                    <a:gd name="connsiteY143" fmla="*/ 237206 h 42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389764" h="427039">
                      <a:moveTo>
                        <a:pt x="67608" y="208631"/>
                      </a:moveTo>
                      <a:cubicBezTo>
                        <a:pt x="77895" y="197868"/>
                        <a:pt x="86373" y="186914"/>
                        <a:pt x="93040" y="177580"/>
                      </a:cubicBezTo>
                      <a:lnTo>
                        <a:pt x="81039" y="421324"/>
                      </a:lnTo>
                      <a:cubicBezTo>
                        <a:pt x="80943" y="422753"/>
                        <a:pt x="81515" y="424182"/>
                        <a:pt x="82467" y="425325"/>
                      </a:cubicBezTo>
                      <a:cubicBezTo>
                        <a:pt x="83515" y="426372"/>
                        <a:pt x="84849" y="427039"/>
                        <a:pt x="86373" y="427039"/>
                      </a:cubicBezTo>
                      <a:lnTo>
                        <a:pt x="127330" y="427039"/>
                      </a:lnTo>
                      <a:cubicBezTo>
                        <a:pt x="127330" y="427039"/>
                        <a:pt x="127425" y="427039"/>
                        <a:pt x="127425" y="427039"/>
                      </a:cubicBezTo>
                      <a:cubicBezTo>
                        <a:pt x="130378" y="427039"/>
                        <a:pt x="132759" y="424658"/>
                        <a:pt x="132759" y="421705"/>
                      </a:cubicBezTo>
                      <a:cubicBezTo>
                        <a:pt x="132759" y="421229"/>
                        <a:pt x="132664" y="420753"/>
                        <a:pt x="132569" y="420276"/>
                      </a:cubicBezTo>
                      <a:lnTo>
                        <a:pt x="120377" y="172817"/>
                      </a:lnTo>
                      <a:cubicBezTo>
                        <a:pt x="120282" y="171484"/>
                        <a:pt x="119710" y="170245"/>
                        <a:pt x="118853" y="169293"/>
                      </a:cubicBezTo>
                      <a:lnTo>
                        <a:pt x="112757" y="163197"/>
                      </a:lnTo>
                      <a:cubicBezTo>
                        <a:pt x="114948" y="162244"/>
                        <a:pt x="116853" y="160911"/>
                        <a:pt x="118567" y="159101"/>
                      </a:cubicBezTo>
                      <a:cubicBezTo>
                        <a:pt x="118948" y="158720"/>
                        <a:pt x="119234" y="158244"/>
                        <a:pt x="119615" y="157863"/>
                      </a:cubicBezTo>
                      <a:cubicBezTo>
                        <a:pt x="119805" y="157958"/>
                        <a:pt x="119996" y="158148"/>
                        <a:pt x="120186" y="158244"/>
                      </a:cubicBezTo>
                      <a:cubicBezTo>
                        <a:pt x="132664" y="164149"/>
                        <a:pt x="152190" y="172246"/>
                        <a:pt x="174384" y="177675"/>
                      </a:cubicBezTo>
                      <a:cubicBezTo>
                        <a:pt x="201244" y="184247"/>
                        <a:pt x="226104" y="185295"/>
                        <a:pt x="238487" y="185295"/>
                      </a:cubicBezTo>
                      <a:cubicBezTo>
                        <a:pt x="245535" y="185295"/>
                        <a:pt x="249726" y="185009"/>
                        <a:pt x="249917" y="185009"/>
                      </a:cubicBezTo>
                      <a:cubicBezTo>
                        <a:pt x="252203" y="184819"/>
                        <a:pt x="254203" y="183199"/>
                        <a:pt x="254775" y="180913"/>
                      </a:cubicBezTo>
                      <a:cubicBezTo>
                        <a:pt x="255346" y="178627"/>
                        <a:pt x="254394" y="176341"/>
                        <a:pt x="252393" y="175103"/>
                      </a:cubicBezTo>
                      <a:cubicBezTo>
                        <a:pt x="251155" y="174341"/>
                        <a:pt x="221818" y="156339"/>
                        <a:pt x="182099" y="146623"/>
                      </a:cubicBezTo>
                      <a:cubicBezTo>
                        <a:pt x="159429" y="141099"/>
                        <a:pt x="137903" y="139480"/>
                        <a:pt x="123806" y="139003"/>
                      </a:cubicBezTo>
                      <a:cubicBezTo>
                        <a:pt x="123234" y="139003"/>
                        <a:pt x="122663" y="139194"/>
                        <a:pt x="122187" y="139289"/>
                      </a:cubicBezTo>
                      <a:cubicBezTo>
                        <a:pt x="121234" y="137194"/>
                        <a:pt x="119901" y="135193"/>
                        <a:pt x="118186" y="133574"/>
                      </a:cubicBezTo>
                      <a:cubicBezTo>
                        <a:pt x="116186" y="131669"/>
                        <a:pt x="113805" y="130431"/>
                        <a:pt x="111233" y="129573"/>
                      </a:cubicBezTo>
                      <a:cubicBezTo>
                        <a:pt x="111328" y="129193"/>
                        <a:pt x="111519" y="128812"/>
                        <a:pt x="111519" y="128431"/>
                      </a:cubicBezTo>
                      <a:cubicBezTo>
                        <a:pt x="111519" y="127954"/>
                        <a:pt x="111423" y="127383"/>
                        <a:pt x="111328" y="126906"/>
                      </a:cubicBezTo>
                      <a:cubicBezTo>
                        <a:pt x="110280" y="113286"/>
                        <a:pt x="107804" y="92998"/>
                        <a:pt x="101517" y="71376"/>
                      </a:cubicBezTo>
                      <a:cubicBezTo>
                        <a:pt x="90087" y="32038"/>
                        <a:pt x="70847" y="3558"/>
                        <a:pt x="70085" y="2320"/>
                      </a:cubicBezTo>
                      <a:cubicBezTo>
                        <a:pt x="68751" y="415"/>
                        <a:pt x="66370" y="-443"/>
                        <a:pt x="64179" y="224"/>
                      </a:cubicBezTo>
                      <a:cubicBezTo>
                        <a:pt x="61989" y="891"/>
                        <a:pt x="60369" y="2891"/>
                        <a:pt x="60274" y="5177"/>
                      </a:cubicBezTo>
                      <a:cubicBezTo>
                        <a:pt x="60274" y="6606"/>
                        <a:pt x="59322" y="40991"/>
                        <a:pt x="70752" y="80329"/>
                      </a:cubicBezTo>
                      <a:cubicBezTo>
                        <a:pt x="77229" y="102427"/>
                        <a:pt x="86182" y="121287"/>
                        <a:pt x="92564" y="133098"/>
                      </a:cubicBezTo>
                      <a:cubicBezTo>
                        <a:pt x="92754" y="133384"/>
                        <a:pt x="92945" y="133574"/>
                        <a:pt x="93040" y="133765"/>
                      </a:cubicBezTo>
                      <a:cubicBezTo>
                        <a:pt x="92945" y="133860"/>
                        <a:pt x="92754" y="133955"/>
                        <a:pt x="92659" y="134050"/>
                      </a:cubicBezTo>
                      <a:cubicBezTo>
                        <a:pt x="88373" y="138527"/>
                        <a:pt x="86849" y="144718"/>
                        <a:pt x="88087" y="150338"/>
                      </a:cubicBezTo>
                      <a:cubicBezTo>
                        <a:pt x="87611" y="150529"/>
                        <a:pt x="87230" y="150624"/>
                        <a:pt x="86849" y="150910"/>
                      </a:cubicBezTo>
                      <a:cubicBezTo>
                        <a:pt x="76086" y="158244"/>
                        <a:pt x="60084" y="170436"/>
                        <a:pt x="44653" y="186533"/>
                      </a:cubicBezTo>
                      <a:cubicBezTo>
                        <a:pt x="16364" y="216061"/>
                        <a:pt x="1219" y="247017"/>
                        <a:pt x="552" y="248350"/>
                      </a:cubicBezTo>
                      <a:cubicBezTo>
                        <a:pt x="-495" y="250446"/>
                        <a:pt x="-19" y="252922"/>
                        <a:pt x="1695" y="254542"/>
                      </a:cubicBezTo>
                      <a:cubicBezTo>
                        <a:pt x="2743" y="255494"/>
                        <a:pt x="4077" y="256066"/>
                        <a:pt x="5410" y="256066"/>
                      </a:cubicBezTo>
                      <a:cubicBezTo>
                        <a:pt x="6267" y="256066"/>
                        <a:pt x="7125" y="255875"/>
                        <a:pt x="7982" y="255399"/>
                      </a:cubicBezTo>
                      <a:cubicBezTo>
                        <a:pt x="9030" y="254542"/>
                        <a:pt x="39319" y="238159"/>
                        <a:pt x="67608" y="208631"/>
                      </a:cubicBezTo>
                      <a:close/>
                      <a:moveTo>
                        <a:pt x="128854" y="149767"/>
                      </a:moveTo>
                      <a:cubicBezTo>
                        <a:pt x="142189" y="150433"/>
                        <a:pt x="160477" y="152148"/>
                        <a:pt x="179432" y="156815"/>
                      </a:cubicBezTo>
                      <a:cubicBezTo>
                        <a:pt x="198768" y="161577"/>
                        <a:pt x="215817" y="168531"/>
                        <a:pt x="227914" y="174150"/>
                      </a:cubicBezTo>
                      <a:cubicBezTo>
                        <a:pt x="214960" y="173579"/>
                        <a:pt x="196482" y="171865"/>
                        <a:pt x="176955" y="167102"/>
                      </a:cubicBezTo>
                      <a:cubicBezTo>
                        <a:pt x="157905" y="162435"/>
                        <a:pt x="140856" y="155672"/>
                        <a:pt x="128854" y="150243"/>
                      </a:cubicBezTo>
                      <a:cubicBezTo>
                        <a:pt x="128854" y="150148"/>
                        <a:pt x="128854" y="149957"/>
                        <a:pt x="128854" y="149767"/>
                      </a:cubicBezTo>
                      <a:close/>
                      <a:moveTo>
                        <a:pt x="121710" y="416181"/>
                      </a:moveTo>
                      <a:lnTo>
                        <a:pt x="91992" y="416181"/>
                      </a:lnTo>
                      <a:lnTo>
                        <a:pt x="103899" y="174722"/>
                      </a:lnTo>
                      <a:lnTo>
                        <a:pt x="106375" y="171769"/>
                      </a:lnTo>
                      <a:lnTo>
                        <a:pt x="109804" y="175198"/>
                      </a:lnTo>
                      <a:lnTo>
                        <a:pt x="121710" y="416181"/>
                      </a:lnTo>
                      <a:close/>
                      <a:moveTo>
                        <a:pt x="110852" y="151576"/>
                      </a:moveTo>
                      <a:cubicBezTo>
                        <a:pt x="108185" y="154434"/>
                        <a:pt x="103327" y="154529"/>
                        <a:pt x="100470" y="151767"/>
                      </a:cubicBezTo>
                      <a:cubicBezTo>
                        <a:pt x="97517" y="149005"/>
                        <a:pt x="97422" y="144337"/>
                        <a:pt x="100279" y="141385"/>
                      </a:cubicBezTo>
                      <a:cubicBezTo>
                        <a:pt x="101708" y="139956"/>
                        <a:pt x="103518" y="139098"/>
                        <a:pt x="105613" y="139098"/>
                      </a:cubicBezTo>
                      <a:cubicBezTo>
                        <a:pt x="107518" y="139098"/>
                        <a:pt x="109328" y="139861"/>
                        <a:pt x="110661" y="141099"/>
                      </a:cubicBezTo>
                      <a:cubicBezTo>
                        <a:pt x="112090" y="142432"/>
                        <a:pt x="112852" y="144242"/>
                        <a:pt x="112947" y="146242"/>
                      </a:cubicBezTo>
                      <a:cubicBezTo>
                        <a:pt x="112947" y="148243"/>
                        <a:pt x="112185" y="150148"/>
                        <a:pt x="110852" y="151576"/>
                      </a:cubicBezTo>
                      <a:close/>
                      <a:moveTo>
                        <a:pt x="80848" y="77186"/>
                      </a:moveTo>
                      <a:cubicBezTo>
                        <a:pt x="75324" y="58041"/>
                        <a:pt x="72752" y="39848"/>
                        <a:pt x="71704" y="26608"/>
                      </a:cubicBezTo>
                      <a:cubicBezTo>
                        <a:pt x="77895" y="38419"/>
                        <a:pt x="85515" y="55088"/>
                        <a:pt x="91135" y="74233"/>
                      </a:cubicBezTo>
                      <a:cubicBezTo>
                        <a:pt x="96564" y="92902"/>
                        <a:pt x="99041" y="110714"/>
                        <a:pt x="100184" y="123573"/>
                      </a:cubicBezTo>
                      <a:cubicBezTo>
                        <a:pt x="99993" y="123573"/>
                        <a:pt x="99898" y="123668"/>
                        <a:pt x="99708" y="123668"/>
                      </a:cubicBezTo>
                      <a:cubicBezTo>
                        <a:pt x="93707" y="112333"/>
                        <a:pt x="86277" y="95950"/>
                        <a:pt x="80848" y="77186"/>
                      </a:cubicBezTo>
                      <a:close/>
                      <a:moveTo>
                        <a:pt x="20650" y="234444"/>
                      </a:moveTo>
                      <a:cubicBezTo>
                        <a:pt x="27794" y="223204"/>
                        <a:pt x="38462" y="208250"/>
                        <a:pt x="52178" y="193867"/>
                      </a:cubicBezTo>
                      <a:cubicBezTo>
                        <a:pt x="65037" y="180437"/>
                        <a:pt x="78372" y="169864"/>
                        <a:pt x="88373" y="162721"/>
                      </a:cubicBezTo>
                      <a:cubicBezTo>
                        <a:pt x="88659" y="163006"/>
                        <a:pt x="88944" y="163292"/>
                        <a:pt x="89135" y="163578"/>
                      </a:cubicBezTo>
                      <a:cubicBezTo>
                        <a:pt x="89230" y="163673"/>
                        <a:pt x="89230" y="163673"/>
                        <a:pt x="89325" y="163768"/>
                      </a:cubicBezTo>
                      <a:cubicBezTo>
                        <a:pt x="82563" y="174150"/>
                        <a:pt x="72561" y="187867"/>
                        <a:pt x="59798" y="201201"/>
                      </a:cubicBezTo>
                      <a:cubicBezTo>
                        <a:pt x="46082" y="215584"/>
                        <a:pt x="31604" y="226824"/>
                        <a:pt x="20650" y="234444"/>
                      </a:cubicBezTo>
                      <a:close/>
                      <a:moveTo>
                        <a:pt x="387267" y="243016"/>
                      </a:moveTo>
                      <a:cubicBezTo>
                        <a:pt x="386410" y="242445"/>
                        <a:pt x="365074" y="229396"/>
                        <a:pt x="336213" y="222347"/>
                      </a:cubicBezTo>
                      <a:cubicBezTo>
                        <a:pt x="319735" y="218346"/>
                        <a:pt x="304209" y="217108"/>
                        <a:pt x="294018" y="216822"/>
                      </a:cubicBezTo>
                      <a:cubicBezTo>
                        <a:pt x="293827" y="216822"/>
                        <a:pt x="293732" y="216918"/>
                        <a:pt x="293541" y="216918"/>
                      </a:cubicBezTo>
                      <a:cubicBezTo>
                        <a:pt x="292875" y="215680"/>
                        <a:pt x="292017" y="214441"/>
                        <a:pt x="290874" y="213394"/>
                      </a:cubicBezTo>
                      <a:cubicBezTo>
                        <a:pt x="289636" y="212155"/>
                        <a:pt x="288112" y="211298"/>
                        <a:pt x="286493" y="210631"/>
                      </a:cubicBezTo>
                      <a:cubicBezTo>
                        <a:pt x="286493" y="210155"/>
                        <a:pt x="286398" y="209679"/>
                        <a:pt x="286302" y="209298"/>
                      </a:cubicBezTo>
                      <a:cubicBezTo>
                        <a:pt x="285540" y="199487"/>
                        <a:pt x="283731" y="184819"/>
                        <a:pt x="279159" y="169293"/>
                      </a:cubicBezTo>
                      <a:cubicBezTo>
                        <a:pt x="270872" y="140813"/>
                        <a:pt x="256870" y="120048"/>
                        <a:pt x="256299" y="119191"/>
                      </a:cubicBezTo>
                      <a:cubicBezTo>
                        <a:pt x="254965" y="117286"/>
                        <a:pt x="252584" y="116429"/>
                        <a:pt x="250393" y="117096"/>
                      </a:cubicBezTo>
                      <a:cubicBezTo>
                        <a:pt x="248202" y="117763"/>
                        <a:pt x="246583" y="119763"/>
                        <a:pt x="246488" y="122049"/>
                      </a:cubicBezTo>
                      <a:cubicBezTo>
                        <a:pt x="246488" y="123096"/>
                        <a:pt x="245821" y="148052"/>
                        <a:pt x="254108" y="176627"/>
                      </a:cubicBezTo>
                      <a:cubicBezTo>
                        <a:pt x="258680" y="192439"/>
                        <a:pt x="265157" y="205869"/>
                        <a:pt x="269729" y="214537"/>
                      </a:cubicBezTo>
                      <a:cubicBezTo>
                        <a:pt x="267443" y="217204"/>
                        <a:pt x="266205" y="220633"/>
                        <a:pt x="266205" y="224157"/>
                      </a:cubicBezTo>
                      <a:cubicBezTo>
                        <a:pt x="266205" y="224633"/>
                        <a:pt x="266300" y="225205"/>
                        <a:pt x="266395" y="225681"/>
                      </a:cubicBezTo>
                      <a:cubicBezTo>
                        <a:pt x="266395" y="225681"/>
                        <a:pt x="266300" y="225681"/>
                        <a:pt x="266300" y="225776"/>
                      </a:cubicBezTo>
                      <a:cubicBezTo>
                        <a:pt x="258489" y="231110"/>
                        <a:pt x="246869" y="239968"/>
                        <a:pt x="235725" y="251589"/>
                      </a:cubicBezTo>
                      <a:cubicBezTo>
                        <a:pt x="215151" y="273020"/>
                        <a:pt x="204197" y="295499"/>
                        <a:pt x="203721" y="296451"/>
                      </a:cubicBezTo>
                      <a:cubicBezTo>
                        <a:pt x="202673" y="298547"/>
                        <a:pt x="203149" y="301024"/>
                        <a:pt x="204864" y="302643"/>
                      </a:cubicBezTo>
                      <a:cubicBezTo>
                        <a:pt x="205911" y="303595"/>
                        <a:pt x="207245" y="304167"/>
                        <a:pt x="208578" y="304167"/>
                      </a:cubicBezTo>
                      <a:cubicBezTo>
                        <a:pt x="209436" y="304167"/>
                        <a:pt x="210293" y="303976"/>
                        <a:pt x="211150" y="303500"/>
                      </a:cubicBezTo>
                      <a:cubicBezTo>
                        <a:pt x="212103" y="303024"/>
                        <a:pt x="234010" y="291117"/>
                        <a:pt x="254584" y="269686"/>
                      </a:cubicBezTo>
                      <a:cubicBezTo>
                        <a:pt x="260585" y="263400"/>
                        <a:pt x="265728" y="257113"/>
                        <a:pt x="270015" y="251303"/>
                      </a:cubicBezTo>
                      <a:lnTo>
                        <a:pt x="261633" y="419991"/>
                      </a:lnTo>
                      <a:cubicBezTo>
                        <a:pt x="261537" y="421420"/>
                        <a:pt x="262109" y="422848"/>
                        <a:pt x="263061" y="423991"/>
                      </a:cubicBezTo>
                      <a:cubicBezTo>
                        <a:pt x="264109" y="425039"/>
                        <a:pt x="265443" y="425706"/>
                        <a:pt x="266967" y="425706"/>
                      </a:cubicBezTo>
                      <a:lnTo>
                        <a:pt x="296494" y="425706"/>
                      </a:lnTo>
                      <a:cubicBezTo>
                        <a:pt x="296494" y="425706"/>
                        <a:pt x="296589" y="425706"/>
                        <a:pt x="296589" y="425706"/>
                      </a:cubicBezTo>
                      <a:cubicBezTo>
                        <a:pt x="299542" y="425706"/>
                        <a:pt x="301923" y="423325"/>
                        <a:pt x="301923" y="420372"/>
                      </a:cubicBezTo>
                      <a:cubicBezTo>
                        <a:pt x="301923" y="419896"/>
                        <a:pt x="301828" y="419419"/>
                        <a:pt x="301733" y="418943"/>
                      </a:cubicBezTo>
                      <a:lnTo>
                        <a:pt x="292970" y="242730"/>
                      </a:lnTo>
                      <a:cubicBezTo>
                        <a:pt x="292875" y="241397"/>
                        <a:pt x="292303" y="240159"/>
                        <a:pt x="291446" y="239206"/>
                      </a:cubicBezTo>
                      <a:lnTo>
                        <a:pt x="288493" y="236254"/>
                      </a:lnTo>
                      <a:cubicBezTo>
                        <a:pt x="289541" y="235587"/>
                        <a:pt x="290493" y="234920"/>
                        <a:pt x="291255" y="234063"/>
                      </a:cubicBezTo>
                      <a:lnTo>
                        <a:pt x="291255" y="234063"/>
                      </a:lnTo>
                      <a:cubicBezTo>
                        <a:pt x="300304" y="238254"/>
                        <a:pt x="314211" y="244064"/>
                        <a:pt x="329927" y="247874"/>
                      </a:cubicBezTo>
                      <a:cubicBezTo>
                        <a:pt x="349453" y="252637"/>
                        <a:pt x="367455" y="253399"/>
                        <a:pt x="376409" y="253399"/>
                      </a:cubicBezTo>
                      <a:cubicBezTo>
                        <a:pt x="381648" y="253399"/>
                        <a:pt x="384696" y="253208"/>
                        <a:pt x="384696" y="253208"/>
                      </a:cubicBezTo>
                      <a:cubicBezTo>
                        <a:pt x="386982" y="253017"/>
                        <a:pt x="388982" y="251398"/>
                        <a:pt x="389553" y="249112"/>
                      </a:cubicBezTo>
                      <a:cubicBezTo>
                        <a:pt x="390220" y="246541"/>
                        <a:pt x="389268" y="244255"/>
                        <a:pt x="387267" y="243016"/>
                      </a:cubicBezTo>
                      <a:close/>
                      <a:moveTo>
                        <a:pt x="246964" y="262066"/>
                      </a:moveTo>
                      <a:cubicBezTo>
                        <a:pt x="239725" y="269591"/>
                        <a:pt x="232296" y="275878"/>
                        <a:pt x="225723" y="280926"/>
                      </a:cubicBezTo>
                      <a:cubicBezTo>
                        <a:pt x="230391" y="274163"/>
                        <a:pt x="236391" y="266448"/>
                        <a:pt x="243630" y="258923"/>
                      </a:cubicBezTo>
                      <a:cubicBezTo>
                        <a:pt x="250965" y="251303"/>
                        <a:pt x="258489" y="244921"/>
                        <a:pt x="264871" y="240063"/>
                      </a:cubicBezTo>
                      <a:cubicBezTo>
                        <a:pt x="260299" y="246636"/>
                        <a:pt x="254298" y="254446"/>
                        <a:pt x="246964" y="262066"/>
                      </a:cubicBezTo>
                      <a:close/>
                      <a:moveTo>
                        <a:pt x="277158" y="223871"/>
                      </a:moveTo>
                      <a:cubicBezTo>
                        <a:pt x="277158" y="222823"/>
                        <a:pt x="277539" y="221871"/>
                        <a:pt x="278206" y="221204"/>
                      </a:cubicBezTo>
                      <a:cubicBezTo>
                        <a:pt x="278968" y="220442"/>
                        <a:pt x="279921" y="220061"/>
                        <a:pt x="280968" y="220061"/>
                      </a:cubicBezTo>
                      <a:cubicBezTo>
                        <a:pt x="281921" y="220061"/>
                        <a:pt x="282873" y="220442"/>
                        <a:pt x="283540" y="221109"/>
                      </a:cubicBezTo>
                      <a:cubicBezTo>
                        <a:pt x="284302" y="221775"/>
                        <a:pt x="284683" y="222728"/>
                        <a:pt x="284683" y="223776"/>
                      </a:cubicBezTo>
                      <a:cubicBezTo>
                        <a:pt x="284683" y="224824"/>
                        <a:pt x="284302" y="225776"/>
                        <a:pt x="283635" y="226443"/>
                      </a:cubicBezTo>
                      <a:cubicBezTo>
                        <a:pt x="282207" y="227871"/>
                        <a:pt x="279730" y="227967"/>
                        <a:pt x="278301" y="226538"/>
                      </a:cubicBezTo>
                      <a:cubicBezTo>
                        <a:pt x="277635" y="225776"/>
                        <a:pt x="277254" y="224919"/>
                        <a:pt x="277158" y="223871"/>
                      </a:cubicBezTo>
                      <a:close/>
                      <a:moveTo>
                        <a:pt x="258870" y="145671"/>
                      </a:moveTo>
                      <a:cubicBezTo>
                        <a:pt x="262395" y="153100"/>
                        <a:pt x="266109" y="162149"/>
                        <a:pt x="268967" y="172246"/>
                      </a:cubicBezTo>
                      <a:cubicBezTo>
                        <a:pt x="271920" y="182342"/>
                        <a:pt x="273634" y="191962"/>
                        <a:pt x="274682" y="200059"/>
                      </a:cubicBezTo>
                      <a:cubicBezTo>
                        <a:pt x="271253" y="192724"/>
                        <a:pt x="267443" y="183580"/>
                        <a:pt x="264585" y="173484"/>
                      </a:cubicBezTo>
                      <a:cubicBezTo>
                        <a:pt x="261728" y="163483"/>
                        <a:pt x="259918" y="153862"/>
                        <a:pt x="258870" y="145671"/>
                      </a:cubicBezTo>
                      <a:close/>
                      <a:moveTo>
                        <a:pt x="272777" y="414752"/>
                      </a:moveTo>
                      <a:lnTo>
                        <a:pt x="281254" y="244731"/>
                      </a:lnTo>
                      <a:lnTo>
                        <a:pt x="281635" y="244255"/>
                      </a:lnTo>
                      <a:lnTo>
                        <a:pt x="282588" y="245207"/>
                      </a:lnTo>
                      <a:lnTo>
                        <a:pt x="291065" y="414847"/>
                      </a:lnTo>
                      <a:lnTo>
                        <a:pt x="272777" y="414847"/>
                      </a:lnTo>
                      <a:close/>
                      <a:moveTo>
                        <a:pt x="332594" y="237206"/>
                      </a:moveTo>
                      <a:cubicBezTo>
                        <a:pt x="322402" y="234730"/>
                        <a:pt x="312972" y="231300"/>
                        <a:pt x="305257" y="228157"/>
                      </a:cubicBezTo>
                      <a:cubicBezTo>
                        <a:pt x="313639" y="228824"/>
                        <a:pt x="323545" y="230158"/>
                        <a:pt x="333737" y="232729"/>
                      </a:cubicBezTo>
                      <a:cubicBezTo>
                        <a:pt x="343833" y="235206"/>
                        <a:pt x="353073" y="238540"/>
                        <a:pt x="360693" y="241683"/>
                      </a:cubicBezTo>
                      <a:cubicBezTo>
                        <a:pt x="352596" y="241016"/>
                        <a:pt x="342786" y="239683"/>
                        <a:pt x="332594" y="237206"/>
                      </a:cubicBezTo>
                      <a:close/>
                    </a:path>
                  </a:pathLst>
                </a:custGeom>
                <a:solidFill>
                  <a:schemeClr val="bg1"/>
                </a:solidFill>
                <a:ln w="9525" cap="flat">
                  <a:noFill/>
                  <a:prstDash val="solid"/>
                  <a:miter/>
                </a:ln>
              </p:spPr>
              <p:txBody>
                <a:bodyPr rtlCol="0" anchor="ctr"/>
                <a:lstStyle/>
                <a:p>
                  <a:endParaRPr lang="zh-CN" altLang="en-US"/>
                </a:p>
              </p:txBody>
            </p:sp>
            <p:sp>
              <p:nvSpPr>
                <p:cNvPr id="26" name="任意多边形 18">
                  <a:extLst>
                    <a:ext uri="{FF2B5EF4-FFF2-40B4-BE49-F238E27FC236}">
                      <a16:creationId xmlns:a16="http://schemas.microsoft.com/office/drawing/2014/main" xmlns="" id="{62ADE144-C0FF-4AA0-B669-8241C5888021}"/>
                    </a:ext>
                  </a:extLst>
                </p:cNvPr>
                <p:cNvSpPr/>
                <p:nvPr/>
              </p:nvSpPr>
              <p:spPr>
                <a:xfrm>
                  <a:off x="7132493" y="4047037"/>
                  <a:ext cx="520699" cy="520698"/>
                </a:xfrm>
                <a:custGeom>
                  <a:avLst/>
                  <a:gdLst>
                    <a:gd name="connsiteX0" fmla="*/ 323850 w 435483"/>
                    <a:gd name="connsiteY0" fmla="*/ 208407 h 435482"/>
                    <a:gd name="connsiteX1" fmla="*/ 215837 w 435483"/>
                    <a:gd name="connsiteY1" fmla="*/ 100394 h 435482"/>
                    <a:gd name="connsiteX2" fmla="*/ 107823 w 435483"/>
                    <a:gd name="connsiteY2" fmla="*/ 208407 h 435482"/>
                    <a:gd name="connsiteX3" fmla="*/ 215837 w 435483"/>
                    <a:gd name="connsiteY3" fmla="*/ 316421 h 435482"/>
                    <a:gd name="connsiteX4" fmla="*/ 323850 w 435483"/>
                    <a:gd name="connsiteY4" fmla="*/ 208407 h 435482"/>
                    <a:gd name="connsiteX5" fmla="*/ 215741 w 435483"/>
                    <a:gd name="connsiteY5" fmla="*/ 303276 h 435482"/>
                    <a:gd name="connsiteX6" fmla="*/ 120872 w 435483"/>
                    <a:gd name="connsiteY6" fmla="*/ 208407 h 435482"/>
                    <a:gd name="connsiteX7" fmla="*/ 215741 w 435483"/>
                    <a:gd name="connsiteY7" fmla="*/ 113538 h 435482"/>
                    <a:gd name="connsiteX8" fmla="*/ 310610 w 435483"/>
                    <a:gd name="connsiteY8" fmla="*/ 208407 h 435482"/>
                    <a:gd name="connsiteX9" fmla="*/ 215741 w 435483"/>
                    <a:gd name="connsiteY9" fmla="*/ 303276 h 435482"/>
                    <a:gd name="connsiteX10" fmla="*/ 209169 w 435483"/>
                    <a:gd name="connsiteY10" fmla="*/ 81820 h 435482"/>
                    <a:gd name="connsiteX11" fmla="*/ 209169 w 435483"/>
                    <a:gd name="connsiteY11" fmla="*/ 81820 h 435482"/>
                    <a:gd name="connsiteX12" fmla="*/ 209169 w 435483"/>
                    <a:gd name="connsiteY12" fmla="*/ 6572 h 435482"/>
                    <a:gd name="connsiteX13" fmla="*/ 215741 w 435483"/>
                    <a:gd name="connsiteY13" fmla="*/ 0 h 435482"/>
                    <a:gd name="connsiteX14" fmla="*/ 215741 w 435483"/>
                    <a:gd name="connsiteY14" fmla="*/ 0 h 435482"/>
                    <a:gd name="connsiteX15" fmla="*/ 215741 w 435483"/>
                    <a:gd name="connsiteY15" fmla="*/ 0 h 435482"/>
                    <a:gd name="connsiteX16" fmla="*/ 222314 w 435483"/>
                    <a:gd name="connsiteY16" fmla="*/ 6572 h 435482"/>
                    <a:gd name="connsiteX17" fmla="*/ 222314 w 435483"/>
                    <a:gd name="connsiteY17" fmla="*/ 81820 h 435482"/>
                    <a:gd name="connsiteX18" fmla="*/ 215741 w 435483"/>
                    <a:gd name="connsiteY18" fmla="*/ 88392 h 435482"/>
                    <a:gd name="connsiteX19" fmla="*/ 209169 w 435483"/>
                    <a:gd name="connsiteY19" fmla="*/ 81820 h 435482"/>
                    <a:gd name="connsiteX20" fmla="*/ 123539 w 435483"/>
                    <a:gd name="connsiteY20" fmla="*/ 71628 h 435482"/>
                    <a:gd name="connsiteX21" fmla="*/ 104775 w 435483"/>
                    <a:gd name="connsiteY21" fmla="*/ 39052 h 435482"/>
                    <a:gd name="connsiteX22" fmla="*/ 103918 w 435483"/>
                    <a:gd name="connsiteY22" fmla="*/ 36576 h 435482"/>
                    <a:gd name="connsiteX23" fmla="*/ 107156 w 435483"/>
                    <a:gd name="connsiteY23" fmla="*/ 30004 h 435482"/>
                    <a:gd name="connsiteX24" fmla="*/ 116205 w 435483"/>
                    <a:gd name="connsiteY24" fmla="*/ 32385 h 435482"/>
                    <a:gd name="connsiteX25" fmla="*/ 135065 w 435483"/>
                    <a:gd name="connsiteY25" fmla="*/ 64961 h 435482"/>
                    <a:gd name="connsiteX26" fmla="*/ 153829 w 435483"/>
                    <a:gd name="connsiteY26" fmla="*/ 97536 h 435482"/>
                    <a:gd name="connsiteX27" fmla="*/ 154686 w 435483"/>
                    <a:gd name="connsiteY27" fmla="*/ 100013 h 435482"/>
                    <a:gd name="connsiteX28" fmla="*/ 151448 w 435483"/>
                    <a:gd name="connsiteY28" fmla="*/ 106585 h 435482"/>
                    <a:gd name="connsiteX29" fmla="*/ 148114 w 435483"/>
                    <a:gd name="connsiteY29" fmla="*/ 107442 h 435482"/>
                    <a:gd name="connsiteX30" fmla="*/ 142399 w 435483"/>
                    <a:gd name="connsiteY30" fmla="*/ 104108 h 435482"/>
                    <a:gd name="connsiteX31" fmla="*/ 123539 w 435483"/>
                    <a:gd name="connsiteY31" fmla="*/ 71628 h 435482"/>
                    <a:gd name="connsiteX32" fmla="*/ 104775 w 435483"/>
                    <a:gd name="connsiteY32" fmla="*/ 154686 h 435482"/>
                    <a:gd name="connsiteX33" fmla="*/ 99060 w 435483"/>
                    <a:gd name="connsiteY33" fmla="*/ 158020 h 435482"/>
                    <a:gd name="connsiteX34" fmla="*/ 95726 w 435483"/>
                    <a:gd name="connsiteY34" fmla="*/ 157163 h 435482"/>
                    <a:gd name="connsiteX35" fmla="*/ 30575 w 435483"/>
                    <a:gd name="connsiteY35" fmla="*/ 119539 h 435482"/>
                    <a:gd name="connsiteX36" fmla="*/ 28194 w 435483"/>
                    <a:gd name="connsiteY36" fmla="*/ 110490 h 435482"/>
                    <a:gd name="connsiteX37" fmla="*/ 37243 w 435483"/>
                    <a:gd name="connsiteY37" fmla="*/ 108109 h 435482"/>
                    <a:gd name="connsiteX38" fmla="*/ 102394 w 435483"/>
                    <a:gd name="connsiteY38" fmla="*/ 145733 h 435482"/>
                    <a:gd name="connsiteX39" fmla="*/ 104775 w 435483"/>
                    <a:gd name="connsiteY39" fmla="*/ 154686 h 435482"/>
                    <a:gd name="connsiteX40" fmla="*/ 81820 w 435483"/>
                    <a:gd name="connsiteY40" fmla="*/ 226219 h 435482"/>
                    <a:gd name="connsiteX41" fmla="*/ 6572 w 435483"/>
                    <a:gd name="connsiteY41" fmla="*/ 226219 h 435482"/>
                    <a:gd name="connsiteX42" fmla="*/ 0 w 435483"/>
                    <a:gd name="connsiteY42" fmla="*/ 219646 h 435482"/>
                    <a:gd name="connsiteX43" fmla="*/ 6572 w 435483"/>
                    <a:gd name="connsiteY43" fmla="*/ 213074 h 435482"/>
                    <a:gd name="connsiteX44" fmla="*/ 81820 w 435483"/>
                    <a:gd name="connsiteY44" fmla="*/ 213074 h 435482"/>
                    <a:gd name="connsiteX45" fmla="*/ 88392 w 435483"/>
                    <a:gd name="connsiteY45" fmla="*/ 219646 h 435482"/>
                    <a:gd name="connsiteX46" fmla="*/ 81820 w 435483"/>
                    <a:gd name="connsiteY46" fmla="*/ 226219 h 435482"/>
                    <a:gd name="connsiteX47" fmla="*/ 104204 w 435483"/>
                    <a:gd name="connsiteY47" fmla="*/ 292989 h 435482"/>
                    <a:gd name="connsiteX48" fmla="*/ 39053 w 435483"/>
                    <a:gd name="connsiteY48" fmla="*/ 330613 h 435482"/>
                    <a:gd name="connsiteX49" fmla="*/ 35719 w 435483"/>
                    <a:gd name="connsiteY49" fmla="*/ 331470 h 435482"/>
                    <a:gd name="connsiteX50" fmla="*/ 30004 w 435483"/>
                    <a:gd name="connsiteY50" fmla="*/ 328136 h 435482"/>
                    <a:gd name="connsiteX51" fmla="*/ 32385 w 435483"/>
                    <a:gd name="connsiteY51" fmla="*/ 319088 h 435482"/>
                    <a:gd name="connsiteX52" fmla="*/ 97536 w 435483"/>
                    <a:gd name="connsiteY52" fmla="*/ 281464 h 435482"/>
                    <a:gd name="connsiteX53" fmla="*/ 106585 w 435483"/>
                    <a:gd name="connsiteY53" fmla="*/ 283845 h 435482"/>
                    <a:gd name="connsiteX54" fmla="*/ 104204 w 435483"/>
                    <a:gd name="connsiteY54" fmla="*/ 292989 h 435482"/>
                    <a:gd name="connsiteX55" fmla="*/ 154686 w 435483"/>
                    <a:gd name="connsiteY55" fmla="*/ 330708 h 435482"/>
                    <a:gd name="connsiteX56" fmla="*/ 157067 w 435483"/>
                    <a:gd name="connsiteY56" fmla="*/ 339757 h 435482"/>
                    <a:gd name="connsiteX57" fmla="*/ 119444 w 435483"/>
                    <a:gd name="connsiteY57" fmla="*/ 404908 h 435482"/>
                    <a:gd name="connsiteX58" fmla="*/ 113729 w 435483"/>
                    <a:gd name="connsiteY58" fmla="*/ 408242 h 435482"/>
                    <a:gd name="connsiteX59" fmla="*/ 110395 w 435483"/>
                    <a:gd name="connsiteY59" fmla="*/ 407384 h 435482"/>
                    <a:gd name="connsiteX60" fmla="*/ 108014 w 435483"/>
                    <a:gd name="connsiteY60" fmla="*/ 398336 h 435482"/>
                    <a:gd name="connsiteX61" fmla="*/ 145637 w 435483"/>
                    <a:gd name="connsiteY61" fmla="*/ 333185 h 435482"/>
                    <a:gd name="connsiteX62" fmla="*/ 154686 w 435483"/>
                    <a:gd name="connsiteY62" fmla="*/ 330708 h 435482"/>
                    <a:gd name="connsiteX63" fmla="*/ 213074 w 435483"/>
                    <a:gd name="connsiteY63" fmla="*/ 428911 h 435482"/>
                    <a:gd name="connsiteX64" fmla="*/ 213074 w 435483"/>
                    <a:gd name="connsiteY64" fmla="*/ 353663 h 435482"/>
                    <a:gd name="connsiteX65" fmla="*/ 219647 w 435483"/>
                    <a:gd name="connsiteY65" fmla="*/ 347091 h 435482"/>
                    <a:gd name="connsiteX66" fmla="*/ 226219 w 435483"/>
                    <a:gd name="connsiteY66" fmla="*/ 353663 h 435482"/>
                    <a:gd name="connsiteX67" fmla="*/ 226219 w 435483"/>
                    <a:gd name="connsiteY67" fmla="*/ 428911 h 435482"/>
                    <a:gd name="connsiteX68" fmla="*/ 219647 w 435483"/>
                    <a:gd name="connsiteY68" fmla="*/ 435483 h 435482"/>
                    <a:gd name="connsiteX69" fmla="*/ 213074 w 435483"/>
                    <a:gd name="connsiteY69" fmla="*/ 428911 h 435482"/>
                    <a:gd name="connsiteX70" fmla="*/ 281654 w 435483"/>
                    <a:gd name="connsiteY70" fmla="*/ 337757 h 435482"/>
                    <a:gd name="connsiteX71" fmla="*/ 284036 w 435483"/>
                    <a:gd name="connsiteY71" fmla="*/ 328708 h 435482"/>
                    <a:gd name="connsiteX72" fmla="*/ 293084 w 435483"/>
                    <a:gd name="connsiteY72" fmla="*/ 331089 h 435482"/>
                    <a:gd name="connsiteX73" fmla="*/ 330708 w 435483"/>
                    <a:gd name="connsiteY73" fmla="*/ 396240 h 435482"/>
                    <a:gd name="connsiteX74" fmla="*/ 328327 w 435483"/>
                    <a:gd name="connsiteY74" fmla="*/ 405289 h 435482"/>
                    <a:gd name="connsiteX75" fmla="*/ 325088 w 435483"/>
                    <a:gd name="connsiteY75" fmla="*/ 406146 h 435482"/>
                    <a:gd name="connsiteX76" fmla="*/ 319373 w 435483"/>
                    <a:gd name="connsiteY76" fmla="*/ 402812 h 435482"/>
                    <a:gd name="connsiteX77" fmla="*/ 281654 w 435483"/>
                    <a:gd name="connsiteY77" fmla="*/ 337757 h 435482"/>
                    <a:gd name="connsiteX78" fmla="*/ 407289 w 435483"/>
                    <a:gd name="connsiteY78" fmla="*/ 324898 h 435482"/>
                    <a:gd name="connsiteX79" fmla="*/ 401574 w 435483"/>
                    <a:gd name="connsiteY79" fmla="*/ 328232 h 435482"/>
                    <a:gd name="connsiteX80" fmla="*/ 398240 w 435483"/>
                    <a:gd name="connsiteY80" fmla="*/ 327374 h 435482"/>
                    <a:gd name="connsiteX81" fmla="*/ 333089 w 435483"/>
                    <a:gd name="connsiteY81" fmla="*/ 289751 h 435482"/>
                    <a:gd name="connsiteX82" fmla="*/ 330708 w 435483"/>
                    <a:gd name="connsiteY82" fmla="*/ 280702 h 435482"/>
                    <a:gd name="connsiteX83" fmla="*/ 339757 w 435483"/>
                    <a:gd name="connsiteY83" fmla="*/ 278321 h 435482"/>
                    <a:gd name="connsiteX84" fmla="*/ 404908 w 435483"/>
                    <a:gd name="connsiteY84" fmla="*/ 315944 h 435482"/>
                    <a:gd name="connsiteX85" fmla="*/ 407289 w 435483"/>
                    <a:gd name="connsiteY85" fmla="*/ 324898 h 435482"/>
                    <a:gd name="connsiteX86" fmla="*/ 435483 w 435483"/>
                    <a:gd name="connsiteY86" fmla="*/ 215741 h 435482"/>
                    <a:gd name="connsiteX87" fmla="*/ 428911 w 435483"/>
                    <a:gd name="connsiteY87" fmla="*/ 222314 h 435482"/>
                    <a:gd name="connsiteX88" fmla="*/ 353663 w 435483"/>
                    <a:gd name="connsiteY88" fmla="*/ 222314 h 435482"/>
                    <a:gd name="connsiteX89" fmla="*/ 347091 w 435483"/>
                    <a:gd name="connsiteY89" fmla="*/ 215741 h 435482"/>
                    <a:gd name="connsiteX90" fmla="*/ 353663 w 435483"/>
                    <a:gd name="connsiteY90" fmla="*/ 209169 h 435482"/>
                    <a:gd name="connsiteX91" fmla="*/ 428911 w 435483"/>
                    <a:gd name="connsiteY91" fmla="*/ 209169 h 435482"/>
                    <a:gd name="connsiteX92" fmla="*/ 435483 w 435483"/>
                    <a:gd name="connsiteY92" fmla="*/ 215741 h 435482"/>
                    <a:gd name="connsiteX93" fmla="*/ 328803 w 435483"/>
                    <a:gd name="connsiteY93" fmla="*/ 151352 h 435482"/>
                    <a:gd name="connsiteX94" fmla="*/ 331184 w 435483"/>
                    <a:gd name="connsiteY94" fmla="*/ 142304 h 435482"/>
                    <a:gd name="connsiteX95" fmla="*/ 396335 w 435483"/>
                    <a:gd name="connsiteY95" fmla="*/ 104680 h 435482"/>
                    <a:gd name="connsiteX96" fmla="*/ 405384 w 435483"/>
                    <a:gd name="connsiteY96" fmla="*/ 107061 h 435482"/>
                    <a:gd name="connsiteX97" fmla="*/ 403003 w 435483"/>
                    <a:gd name="connsiteY97" fmla="*/ 116110 h 435482"/>
                    <a:gd name="connsiteX98" fmla="*/ 337852 w 435483"/>
                    <a:gd name="connsiteY98" fmla="*/ 153734 h 435482"/>
                    <a:gd name="connsiteX99" fmla="*/ 334518 w 435483"/>
                    <a:gd name="connsiteY99" fmla="*/ 154591 h 435482"/>
                    <a:gd name="connsiteX100" fmla="*/ 328803 w 435483"/>
                    <a:gd name="connsiteY100" fmla="*/ 151352 h 435482"/>
                    <a:gd name="connsiteX101" fmla="*/ 280702 w 435483"/>
                    <a:gd name="connsiteY101" fmla="*/ 104680 h 435482"/>
                    <a:gd name="connsiteX102" fmla="*/ 278321 w 435483"/>
                    <a:gd name="connsiteY102" fmla="*/ 95631 h 435482"/>
                    <a:gd name="connsiteX103" fmla="*/ 315944 w 435483"/>
                    <a:gd name="connsiteY103" fmla="*/ 30480 h 435482"/>
                    <a:gd name="connsiteX104" fmla="*/ 324993 w 435483"/>
                    <a:gd name="connsiteY104" fmla="*/ 28099 h 435482"/>
                    <a:gd name="connsiteX105" fmla="*/ 327374 w 435483"/>
                    <a:gd name="connsiteY105" fmla="*/ 37148 h 435482"/>
                    <a:gd name="connsiteX106" fmla="*/ 289751 w 435483"/>
                    <a:gd name="connsiteY106" fmla="*/ 102299 h 435482"/>
                    <a:gd name="connsiteX107" fmla="*/ 284036 w 435483"/>
                    <a:gd name="connsiteY107" fmla="*/ 105632 h 435482"/>
                    <a:gd name="connsiteX108" fmla="*/ 280702 w 435483"/>
                    <a:gd name="connsiteY108" fmla="*/ 104680 h 435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435483" h="435482">
                      <a:moveTo>
                        <a:pt x="323850" y="208407"/>
                      </a:moveTo>
                      <a:cubicBezTo>
                        <a:pt x="323850" y="148876"/>
                        <a:pt x="275368" y="100394"/>
                        <a:pt x="215837" y="100394"/>
                      </a:cubicBezTo>
                      <a:cubicBezTo>
                        <a:pt x="156305" y="100394"/>
                        <a:pt x="107823" y="148876"/>
                        <a:pt x="107823" y="208407"/>
                      </a:cubicBezTo>
                      <a:cubicBezTo>
                        <a:pt x="107823" y="267938"/>
                        <a:pt x="156305" y="316421"/>
                        <a:pt x="215837" y="316421"/>
                      </a:cubicBezTo>
                      <a:cubicBezTo>
                        <a:pt x="275368" y="316421"/>
                        <a:pt x="323850" y="267938"/>
                        <a:pt x="323850" y="208407"/>
                      </a:cubicBezTo>
                      <a:close/>
                      <a:moveTo>
                        <a:pt x="215741" y="303276"/>
                      </a:moveTo>
                      <a:cubicBezTo>
                        <a:pt x="163449" y="303276"/>
                        <a:pt x="120872" y="260699"/>
                        <a:pt x="120872" y="208407"/>
                      </a:cubicBezTo>
                      <a:cubicBezTo>
                        <a:pt x="120872" y="156115"/>
                        <a:pt x="163449" y="113538"/>
                        <a:pt x="215741" y="113538"/>
                      </a:cubicBezTo>
                      <a:cubicBezTo>
                        <a:pt x="268034" y="113538"/>
                        <a:pt x="310610" y="156115"/>
                        <a:pt x="310610" y="208407"/>
                      </a:cubicBezTo>
                      <a:cubicBezTo>
                        <a:pt x="310610" y="260699"/>
                        <a:pt x="268129" y="303276"/>
                        <a:pt x="215741" y="303276"/>
                      </a:cubicBezTo>
                      <a:close/>
                      <a:moveTo>
                        <a:pt x="209169" y="81820"/>
                      </a:moveTo>
                      <a:lnTo>
                        <a:pt x="209169" y="81820"/>
                      </a:lnTo>
                      <a:lnTo>
                        <a:pt x="209169" y="6572"/>
                      </a:lnTo>
                      <a:cubicBezTo>
                        <a:pt x="209169" y="2953"/>
                        <a:pt x="212122" y="0"/>
                        <a:pt x="215741" y="0"/>
                      </a:cubicBezTo>
                      <a:lnTo>
                        <a:pt x="215741" y="0"/>
                      </a:lnTo>
                      <a:lnTo>
                        <a:pt x="215741" y="0"/>
                      </a:lnTo>
                      <a:cubicBezTo>
                        <a:pt x="219361" y="0"/>
                        <a:pt x="222314" y="2953"/>
                        <a:pt x="222314" y="6572"/>
                      </a:cubicBezTo>
                      <a:lnTo>
                        <a:pt x="222314" y="81820"/>
                      </a:lnTo>
                      <a:cubicBezTo>
                        <a:pt x="222314" y="85439"/>
                        <a:pt x="219361" y="88392"/>
                        <a:pt x="215741" y="88392"/>
                      </a:cubicBezTo>
                      <a:cubicBezTo>
                        <a:pt x="212122" y="88392"/>
                        <a:pt x="209169" y="85439"/>
                        <a:pt x="209169" y="81820"/>
                      </a:cubicBezTo>
                      <a:close/>
                      <a:moveTo>
                        <a:pt x="123539" y="71628"/>
                      </a:moveTo>
                      <a:lnTo>
                        <a:pt x="104775" y="39052"/>
                      </a:lnTo>
                      <a:cubicBezTo>
                        <a:pt x="104299" y="38290"/>
                        <a:pt x="104013" y="37433"/>
                        <a:pt x="103918" y="36576"/>
                      </a:cubicBezTo>
                      <a:cubicBezTo>
                        <a:pt x="103632" y="34004"/>
                        <a:pt x="104775" y="31433"/>
                        <a:pt x="107156" y="30004"/>
                      </a:cubicBezTo>
                      <a:cubicBezTo>
                        <a:pt x="110300" y="28194"/>
                        <a:pt x="114300" y="29242"/>
                        <a:pt x="116205" y="32385"/>
                      </a:cubicBezTo>
                      <a:lnTo>
                        <a:pt x="135065" y="64961"/>
                      </a:lnTo>
                      <a:lnTo>
                        <a:pt x="153829" y="97536"/>
                      </a:lnTo>
                      <a:cubicBezTo>
                        <a:pt x="154305" y="98298"/>
                        <a:pt x="154591" y="99155"/>
                        <a:pt x="154686" y="100013"/>
                      </a:cubicBezTo>
                      <a:cubicBezTo>
                        <a:pt x="154972" y="102584"/>
                        <a:pt x="153829" y="105156"/>
                        <a:pt x="151448" y="106585"/>
                      </a:cubicBezTo>
                      <a:cubicBezTo>
                        <a:pt x="150400" y="107156"/>
                        <a:pt x="149257" y="107442"/>
                        <a:pt x="148114" y="107442"/>
                      </a:cubicBezTo>
                      <a:cubicBezTo>
                        <a:pt x="145828" y="107442"/>
                        <a:pt x="143637" y="106299"/>
                        <a:pt x="142399" y="104108"/>
                      </a:cubicBezTo>
                      <a:lnTo>
                        <a:pt x="123539" y="71628"/>
                      </a:lnTo>
                      <a:close/>
                      <a:moveTo>
                        <a:pt x="104775" y="154686"/>
                      </a:moveTo>
                      <a:cubicBezTo>
                        <a:pt x="103537" y="156782"/>
                        <a:pt x="101346" y="158020"/>
                        <a:pt x="99060" y="158020"/>
                      </a:cubicBezTo>
                      <a:cubicBezTo>
                        <a:pt x="97917" y="158020"/>
                        <a:pt x="96774" y="157734"/>
                        <a:pt x="95726" y="157163"/>
                      </a:cubicBezTo>
                      <a:lnTo>
                        <a:pt x="30575" y="119539"/>
                      </a:lnTo>
                      <a:cubicBezTo>
                        <a:pt x="27432" y="117729"/>
                        <a:pt x="26384" y="113728"/>
                        <a:pt x="28194" y="110490"/>
                      </a:cubicBezTo>
                      <a:cubicBezTo>
                        <a:pt x="30004" y="107347"/>
                        <a:pt x="34100" y="106299"/>
                        <a:pt x="37243" y="108109"/>
                      </a:cubicBezTo>
                      <a:lnTo>
                        <a:pt x="102394" y="145733"/>
                      </a:lnTo>
                      <a:cubicBezTo>
                        <a:pt x="105442" y="147542"/>
                        <a:pt x="106585" y="151543"/>
                        <a:pt x="104775" y="154686"/>
                      </a:cubicBezTo>
                      <a:close/>
                      <a:moveTo>
                        <a:pt x="81820" y="226219"/>
                      </a:moveTo>
                      <a:lnTo>
                        <a:pt x="6572" y="226219"/>
                      </a:lnTo>
                      <a:cubicBezTo>
                        <a:pt x="2953" y="226219"/>
                        <a:pt x="0" y="223266"/>
                        <a:pt x="0" y="219646"/>
                      </a:cubicBezTo>
                      <a:cubicBezTo>
                        <a:pt x="0" y="216027"/>
                        <a:pt x="2953" y="213074"/>
                        <a:pt x="6572" y="213074"/>
                      </a:cubicBezTo>
                      <a:lnTo>
                        <a:pt x="81820" y="213074"/>
                      </a:lnTo>
                      <a:cubicBezTo>
                        <a:pt x="85439" y="213074"/>
                        <a:pt x="88392" y="216027"/>
                        <a:pt x="88392" y="219646"/>
                      </a:cubicBezTo>
                      <a:cubicBezTo>
                        <a:pt x="88392" y="223266"/>
                        <a:pt x="85439" y="226219"/>
                        <a:pt x="81820" y="226219"/>
                      </a:cubicBezTo>
                      <a:close/>
                      <a:moveTo>
                        <a:pt x="104204" y="292989"/>
                      </a:moveTo>
                      <a:lnTo>
                        <a:pt x="39053" y="330613"/>
                      </a:lnTo>
                      <a:cubicBezTo>
                        <a:pt x="38005" y="331184"/>
                        <a:pt x="36862" y="331470"/>
                        <a:pt x="35719" y="331470"/>
                      </a:cubicBezTo>
                      <a:cubicBezTo>
                        <a:pt x="33433" y="331470"/>
                        <a:pt x="31242" y="330327"/>
                        <a:pt x="30004" y="328136"/>
                      </a:cubicBezTo>
                      <a:cubicBezTo>
                        <a:pt x="28194" y="324993"/>
                        <a:pt x="29242" y="320993"/>
                        <a:pt x="32385" y="319088"/>
                      </a:cubicBezTo>
                      <a:lnTo>
                        <a:pt x="97536" y="281464"/>
                      </a:lnTo>
                      <a:cubicBezTo>
                        <a:pt x="100679" y="279654"/>
                        <a:pt x="104680" y="280702"/>
                        <a:pt x="106585" y="283845"/>
                      </a:cubicBezTo>
                      <a:cubicBezTo>
                        <a:pt x="108490" y="287179"/>
                        <a:pt x="107347" y="291179"/>
                        <a:pt x="104204" y="292989"/>
                      </a:cubicBezTo>
                      <a:close/>
                      <a:moveTo>
                        <a:pt x="154686" y="330708"/>
                      </a:moveTo>
                      <a:cubicBezTo>
                        <a:pt x="157829" y="332518"/>
                        <a:pt x="158877" y="336518"/>
                        <a:pt x="157067" y="339757"/>
                      </a:cubicBezTo>
                      <a:lnTo>
                        <a:pt x="119444" y="404908"/>
                      </a:lnTo>
                      <a:cubicBezTo>
                        <a:pt x="118205" y="407003"/>
                        <a:pt x="116015" y="408242"/>
                        <a:pt x="113729" y="408242"/>
                      </a:cubicBezTo>
                      <a:cubicBezTo>
                        <a:pt x="112586" y="408242"/>
                        <a:pt x="111443" y="407956"/>
                        <a:pt x="110395" y="407384"/>
                      </a:cubicBezTo>
                      <a:cubicBezTo>
                        <a:pt x="107252" y="405575"/>
                        <a:pt x="106204" y="401574"/>
                        <a:pt x="108014" y="398336"/>
                      </a:cubicBezTo>
                      <a:lnTo>
                        <a:pt x="145637" y="333185"/>
                      </a:lnTo>
                      <a:cubicBezTo>
                        <a:pt x="147542" y="329946"/>
                        <a:pt x="151543" y="328803"/>
                        <a:pt x="154686" y="330708"/>
                      </a:cubicBezTo>
                      <a:close/>
                      <a:moveTo>
                        <a:pt x="213074" y="428911"/>
                      </a:moveTo>
                      <a:lnTo>
                        <a:pt x="213074" y="353663"/>
                      </a:lnTo>
                      <a:cubicBezTo>
                        <a:pt x="213074" y="350044"/>
                        <a:pt x="216027" y="347091"/>
                        <a:pt x="219647" y="347091"/>
                      </a:cubicBezTo>
                      <a:cubicBezTo>
                        <a:pt x="223266" y="347091"/>
                        <a:pt x="226219" y="350044"/>
                        <a:pt x="226219" y="353663"/>
                      </a:cubicBezTo>
                      <a:lnTo>
                        <a:pt x="226219" y="428911"/>
                      </a:lnTo>
                      <a:cubicBezTo>
                        <a:pt x="226219" y="432530"/>
                        <a:pt x="223266" y="435483"/>
                        <a:pt x="219647" y="435483"/>
                      </a:cubicBezTo>
                      <a:cubicBezTo>
                        <a:pt x="216027" y="435483"/>
                        <a:pt x="213074" y="432530"/>
                        <a:pt x="213074" y="428911"/>
                      </a:cubicBezTo>
                      <a:close/>
                      <a:moveTo>
                        <a:pt x="281654" y="337757"/>
                      </a:moveTo>
                      <a:cubicBezTo>
                        <a:pt x="279845" y="334613"/>
                        <a:pt x="280892" y="330613"/>
                        <a:pt x="284036" y="328708"/>
                      </a:cubicBezTo>
                      <a:cubicBezTo>
                        <a:pt x="287179" y="326898"/>
                        <a:pt x="291179" y="327946"/>
                        <a:pt x="293084" y="331089"/>
                      </a:cubicBezTo>
                      <a:lnTo>
                        <a:pt x="330708" y="396240"/>
                      </a:lnTo>
                      <a:cubicBezTo>
                        <a:pt x="332518" y="399383"/>
                        <a:pt x="331470" y="403384"/>
                        <a:pt x="328327" y="405289"/>
                      </a:cubicBezTo>
                      <a:cubicBezTo>
                        <a:pt x="327279" y="405860"/>
                        <a:pt x="326136" y="406146"/>
                        <a:pt x="325088" y="406146"/>
                      </a:cubicBezTo>
                      <a:cubicBezTo>
                        <a:pt x="322802" y="406146"/>
                        <a:pt x="320612" y="405003"/>
                        <a:pt x="319373" y="402812"/>
                      </a:cubicBezTo>
                      <a:lnTo>
                        <a:pt x="281654" y="337757"/>
                      </a:lnTo>
                      <a:close/>
                      <a:moveTo>
                        <a:pt x="407289" y="324898"/>
                      </a:moveTo>
                      <a:cubicBezTo>
                        <a:pt x="406051" y="326993"/>
                        <a:pt x="403860" y="328232"/>
                        <a:pt x="401574" y="328232"/>
                      </a:cubicBezTo>
                      <a:cubicBezTo>
                        <a:pt x="400431" y="328232"/>
                        <a:pt x="399288" y="327946"/>
                        <a:pt x="398240" y="327374"/>
                      </a:cubicBezTo>
                      <a:lnTo>
                        <a:pt x="333089" y="289751"/>
                      </a:lnTo>
                      <a:cubicBezTo>
                        <a:pt x="329946" y="287941"/>
                        <a:pt x="328898" y="283940"/>
                        <a:pt x="330708" y="280702"/>
                      </a:cubicBezTo>
                      <a:cubicBezTo>
                        <a:pt x="332518" y="277559"/>
                        <a:pt x="336518" y="276511"/>
                        <a:pt x="339757" y="278321"/>
                      </a:cubicBezTo>
                      <a:lnTo>
                        <a:pt x="404908" y="315944"/>
                      </a:lnTo>
                      <a:cubicBezTo>
                        <a:pt x="407956" y="317754"/>
                        <a:pt x="409099" y="321755"/>
                        <a:pt x="407289" y="324898"/>
                      </a:cubicBezTo>
                      <a:close/>
                      <a:moveTo>
                        <a:pt x="435483" y="215741"/>
                      </a:moveTo>
                      <a:cubicBezTo>
                        <a:pt x="435483" y="219361"/>
                        <a:pt x="432530" y="222314"/>
                        <a:pt x="428911" y="222314"/>
                      </a:cubicBezTo>
                      <a:lnTo>
                        <a:pt x="353663" y="222314"/>
                      </a:lnTo>
                      <a:cubicBezTo>
                        <a:pt x="350044" y="222314"/>
                        <a:pt x="347091" y="219361"/>
                        <a:pt x="347091" y="215741"/>
                      </a:cubicBezTo>
                      <a:cubicBezTo>
                        <a:pt x="347091" y="212122"/>
                        <a:pt x="350044" y="209169"/>
                        <a:pt x="353663" y="209169"/>
                      </a:cubicBezTo>
                      <a:lnTo>
                        <a:pt x="428911" y="209169"/>
                      </a:lnTo>
                      <a:cubicBezTo>
                        <a:pt x="432530" y="209169"/>
                        <a:pt x="435483" y="212122"/>
                        <a:pt x="435483" y="215741"/>
                      </a:cubicBezTo>
                      <a:close/>
                      <a:moveTo>
                        <a:pt x="328803" y="151352"/>
                      </a:moveTo>
                      <a:cubicBezTo>
                        <a:pt x="326993" y="148209"/>
                        <a:pt x="328041" y="144209"/>
                        <a:pt x="331184" y="142304"/>
                      </a:cubicBezTo>
                      <a:lnTo>
                        <a:pt x="396335" y="104680"/>
                      </a:lnTo>
                      <a:cubicBezTo>
                        <a:pt x="399479" y="102870"/>
                        <a:pt x="403479" y="103918"/>
                        <a:pt x="405384" y="107061"/>
                      </a:cubicBezTo>
                      <a:cubicBezTo>
                        <a:pt x="407194" y="110204"/>
                        <a:pt x="406146" y="114205"/>
                        <a:pt x="403003" y="116110"/>
                      </a:cubicBezTo>
                      <a:lnTo>
                        <a:pt x="337852" y="153734"/>
                      </a:lnTo>
                      <a:cubicBezTo>
                        <a:pt x="336804" y="154305"/>
                        <a:pt x="335661" y="154591"/>
                        <a:pt x="334518" y="154591"/>
                      </a:cubicBezTo>
                      <a:cubicBezTo>
                        <a:pt x="332232" y="154686"/>
                        <a:pt x="329946" y="153448"/>
                        <a:pt x="328803" y="151352"/>
                      </a:cubicBezTo>
                      <a:close/>
                      <a:moveTo>
                        <a:pt x="280702" y="104680"/>
                      </a:moveTo>
                      <a:cubicBezTo>
                        <a:pt x="277559" y="102870"/>
                        <a:pt x="276511" y="98870"/>
                        <a:pt x="278321" y="95631"/>
                      </a:cubicBezTo>
                      <a:lnTo>
                        <a:pt x="315944" y="30480"/>
                      </a:lnTo>
                      <a:cubicBezTo>
                        <a:pt x="317754" y="27337"/>
                        <a:pt x="321850" y="26289"/>
                        <a:pt x="324993" y="28099"/>
                      </a:cubicBezTo>
                      <a:cubicBezTo>
                        <a:pt x="328136" y="29909"/>
                        <a:pt x="329184" y="33909"/>
                        <a:pt x="327374" y="37148"/>
                      </a:cubicBezTo>
                      <a:lnTo>
                        <a:pt x="289751" y="102299"/>
                      </a:lnTo>
                      <a:cubicBezTo>
                        <a:pt x="288512" y="104394"/>
                        <a:pt x="286322" y="105632"/>
                        <a:pt x="284036" y="105632"/>
                      </a:cubicBezTo>
                      <a:cubicBezTo>
                        <a:pt x="282893" y="105632"/>
                        <a:pt x="281750" y="105347"/>
                        <a:pt x="280702" y="104680"/>
                      </a:cubicBezTo>
                      <a:close/>
                    </a:path>
                  </a:pathLst>
                </a:custGeom>
                <a:solidFill>
                  <a:schemeClr val="bg1"/>
                </a:solidFill>
                <a:ln w="9525" cap="flat">
                  <a:noFill/>
                  <a:prstDash val="solid"/>
                  <a:miter/>
                </a:ln>
              </p:spPr>
              <p:txBody>
                <a:bodyPr rtlCol="0" anchor="ctr"/>
                <a:lstStyle/>
                <a:p>
                  <a:endParaRPr lang="zh-CN" altLang="en-US"/>
                </a:p>
              </p:txBody>
            </p:sp>
          </p:grpSp>
          <p:sp>
            <p:nvSpPr>
              <p:cNvPr id="16" name="弧形 15">
                <a:extLst>
                  <a:ext uri="{FF2B5EF4-FFF2-40B4-BE49-F238E27FC236}">
                    <a16:creationId xmlns:a16="http://schemas.microsoft.com/office/drawing/2014/main" xmlns="" id="{A0B82797-58AF-4174-B792-58488D235A54}"/>
                  </a:ext>
                </a:extLst>
              </p:cNvPr>
              <p:cNvSpPr/>
              <p:nvPr/>
            </p:nvSpPr>
            <p:spPr>
              <a:xfrm>
                <a:off x="6997909" y="2306364"/>
                <a:ext cx="2847209" cy="2847208"/>
              </a:xfrm>
              <a:prstGeom prst="arc">
                <a:avLst>
                  <a:gd name="adj1" fmla="val 3448544"/>
                  <a:gd name="adj2" fmla="val 7514521"/>
                </a:avLst>
              </a:prstGeom>
              <a:ln w="12700">
                <a:solidFill>
                  <a:schemeClr val="tx1">
                    <a:lumMod val="50000"/>
                    <a:lumOff val="50000"/>
                    <a:alpha val="20000"/>
                  </a:schemeClr>
                </a:solidFill>
                <a:headEnd type="none"/>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弧形 16">
                <a:extLst>
                  <a:ext uri="{FF2B5EF4-FFF2-40B4-BE49-F238E27FC236}">
                    <a16:creationId xmlns:a16="http://schemas.microsoft.com/office/drawing/2014/main" xmlns="" id="{8EA48DDF-CFD5-4567-814C-64FED4C96850}"/>
                  </a:ext>
                </a:extLst>
              </p:cNvPr>
              <p:cNvSpPr/>
              <p:nvPr/>
            </p:nvSpPr>
            <p:spPr>
              <a:xfrm>
                <a:off x="6997909" y="2306364"/>
                <a:ext cx="2847209" cy="2847208"/>
              </a:xfrm>
              <a:prstGeom prst="arc">
                <a:avLst>
                  <a:gd name="adj1" fmla="val 10662694"/>
                  <a:gd name="adj2" fmla="val 14597775"/>
                </a:avLst>
              </a:prstGeom>
              <a:ln w="12700">
                <a:solidFill>
                  <a:schemeClr val="tx1">
                    <a:lumMod val="50000"/>
                    <a:lumOff val="50000"/>
                    <a:alpha val="20000"/>
                  </a:schemeClr>
                </a:solidFill>
                <a:headEnd type="none"/>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弧形 17">
                <a:extLst>
                  <a:ext uri="{FF2B5EF4-FFF2-40B4-BE49-F238E27FC236}">
                    <a16:creationId xmlns:a16="http://schemas.microsoft.com/office/drawing/2014/main" xmlns="" id="{C1F02EBB-709A-49C2-9D6D-000D07BA1AC1}"/>
                  </a:ext>
                </a:extLst>
              </p:cNvPr>
              <p:cNvSpPr/>
              <p:nvPr/>
            </p:nvSpPr>
            <p:spPr>
              <a:xfrm rot="18100440" flipH="1" flipV="1">
                <a:off x="6985380" y="2227369"/>
                <a:ext cx="2847209" cy="2847208"/>
              </a:xfrm>
              <a:prstGeom prst="arc">
                <a:avLst>
                  <a:gd name="adj1" fmla="val 10662694"/>
                  <a:gd name="adj2" fmla="val 14597775"/>
                </a:avLst>
              </a:prstGeom>
              <a:ln w="12700">
                <a:solidFill>
                  <a:schemeClr val="tx1">
                    <a:lumMod val="50000"/>
                    <a:lumOff val="50000"/>
                    <a:alpha val="20000"/>
                  </a:schemeClr>
                </a:solidFill>
                <a:headEnd type="none"/>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弧形 18">
                <a:extLst>
                  <a:ext uri="{FF2B5EF4-FFF2-40B4-BE49-F238E27FC236}">
                    <a16:creationId xmlns:a16="http://schemas.microsoft.com/office/drawing/2014/main" xmlns="" id="{6DAD66E1-EA64-4BA7-BAC6-6480C11B3706}"/>
                  </a:ext>
                </a:extLst>
              </p:cNvPr>
              <p:cNvSpPr/>
              <p:nvPr/>
            </p:nvSpPr>
            <p:spPr>
              <a:xfrm rot="14492300" flipH="1">
                <a:off x="7459136" y="2774337"/>
                <a:ext cx="1753272" cy="1753271"/>
              </a:xfrm>
              <a:prstGeom prst="arc">
                <a:avLst>
                  <a:gd name="adj1" fmla="val 10662694"/>
                  <a:gd name="adj2" fmla="val 14597775"/>
                </a:avLst>
              </a:prstGeom>
              <a:ln w="12700">
                <a:solidFill>
                  <a:schemeClr val="tx1">
                    <a:lumMod val="50000"/>
                    <a:lumOff val="50000"/>
                    <a:alpha val="20000"/>
                  </a:schemeClr>
                </a:solidFill>
                <a:headEnd type="none"/>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弧形 19">
                <a:extLst>
                  <a:ext uri="{FF2B5EF4-FFF2-40B4-BE49-F238E27FC236}">
                    <a16:creationId xmlns:a16="http://schemas.microsoft.com/office/drawing/2014/main" xmlns="" id="{40ACCC0B-7F95-452A-918E-15E6248AC6A5}"/>
                  </a:ext>
                </a:extLst>
              </p:cNvPr>
              <p:cNvSpPr/>
              <p:nvPr/>
            </p:nvSpPr>
            <p:spPr>
              <a:xfrm rot="7284302" flipH="1">
                <a:off x="7572004" y="2948564"/>
                <a:ext cx="1753272" cy="1753271"/>
              </a:xfrm>
              <a:prstGeom prst="arc">
                <a:avLst>
                  <a:gd name="adj1" fmla="val 10662694"/>
                  <a:gd name="adj2" fmla="val 14597775"/>
                </a:avLst>
              </a:prstGeom>
              <a:ln w="12700">
                <a:solidFill>
                  <a:schemeClr val="tx1">
                    <a:lumMod val="50000"/>
                    <a:lumOff val="50000"/>
                    <a:alpha val="20000"/>
                  </a:schemeClr>
                </a:solidFill>
                <a:headEnd type="none"/>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弧形 20">
                <a:extLst>
                  <a:ext uri="{FF2B5EF4-FFF2-40B4-BE49-F238E27FC236}">
                    <a16:creationId xmlns:a16="http://schemas.microsoft.com/office/drawing/2014/main" xmlns="" id="{4A5FE2D2-2FA4-4D9D-A56F-009E8AADCCBF}"/>
                  </a:ext>
                </a:extLst>
              </p:cNvPr>
              <p:cNvSpPr/>
              <p:nvPr/>
            </p:nvSpPr>
            <p:spPr>
              <a:xfrm flipH="1">
                <a:off x="7655667" y="2777729"/>
                <a:ext cx="1753272" cy="1753271"/>
              </a:xfrm>
              <a:prstGeom prst="arc">
                <a:avLst>
                  <a:gd name="adj1" fmla="val 10662694"/>
                  <a:gd name="adj2" fmla="val 14597775"/>
                </a:avLst>
              </a:prstGeom>
              <a:ln w="12700">
                <a:solidFill>
                  <a:schemeClr val="tx1">
                    <a:lumMod val="50000"/>
                    <a:lumOff val="50000"/>
                    <a:alpha val="20000"/>
                  </a:schemeClr>
                </a:solidFill>
                <a:headEnd type="none"/>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4" name="文本框 13">
              <a:extLst>
                <a:ext uri="{FF2B5EF4-FFF2-40B4-BE49-F238E27FC236}">
                  <a16:creationId xmlns:a16="http://schemas.microsoft.com/office/drawing/2014/main" xmlns="" id="{93FB42E8-BC31-4F5F-BC8A-01EC1589F878}"/>
                </a:ext>
              </a:extLst>
            </p:cNvPr>
            <p:cNvSpPr txBox="1"/>
            <p:nvPr/>
          </p:nvSpPr>
          <p:spPr>
            <a:xfrm>
              <a:off x="8099927" y="3083402"/>
              <a:ext cx="1581510" cy="411886"/>
            </a:xfrm>
            <a:prstGeom prst="rect">
              <a:avLst/>
            </a:prstGeom>
            <a:noFill/>
            <a:effectLst/>
          </p:spPr>
          <p:txBody>
            <a:bodyPr wrap="square" rtlCol="0">
              <a:normAutofit fontScale="25000" lnSpcReduction="20000"/>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ctr">
                <a:buSzPct val="25000"/>
              </a:pPr>
              <a:r>
                <a:rPr lang="en-US" altLang="zh-CN" sz="11200" b="0" dirty="0">
                  <a:ln w="18415" cmpd="sng">
                    <a:solidFill>
                      <a:srgbClr val="FFFFFF"/>
                    </a:solidFill>
                    <a:prstDash val="solid"/>
                  </a:ln>
                  <a:solidFill>
                    <a:srgbClr val="FFFFFF"/>
                  </a:solidFill>
                  <a:effectLst>
                    <a:outerShdw blurRad="63500" dir="3600000" algn="tl" rotWithShape="0">
                      <a:srgbClr val="000000">
                        <a:alpha val="70000"/>
                      </a:srgbClr>
                    </a:outerShdw>
                  </a:effectLst>
                </a:rPr>
                <a:t>TYPE </a:t>
              </a:r>
            </a:p>
            <a:p>
              <a:pPr algn="ctr">
                <a:buSzPct val="25000"/>
              </a:pPr>
              <a:r>
                <a:rPr lang="en-US" altLang="zh-CN" sz="11200" b="0" dirty="0">
                  <a:ln w="18415" cmpd="sng">
                    <a:solidFill>
                      <a:srgbClr val="FFFFFF"/>
                    </a:solidFill>
                    <a:prstDash val="solid"/>
                  </a:ln>
                  <a:solidFill>
                    <a:srgbClr val="FFFFFF"/>
                  </a:solidFill>
                  <a:effectLst>
                    <a:outerShdw blurRad="63500" dir="3600000" algn="tl" rotWithShape="0">
                      <a:srgbClr val="000000">
                        <a:alpha val="70000"/>
                      </a:srgbClr>
                    </a:outerShdw>
                  </a:effectLst>
                </a:rPr>
                <a:t>OF </a:t>
              </a:r>
            </a:p>
            <a:p>
              <a:pPr algn="ctr">
                <a:buSzPct val="25000"/>
              </a:pPr>
              <a:r>
                <a:rPr lang="en-US" altLang="zh-CN" sz="11200" b="0" dirty="0">
                  <a:ln w="18415" cmpd="sng">
                    <a:solidFill>
                      <a:srgbClr val="FFFFFF"/>
                    </a:solidFill>
                    <a:prstDash val="solid"/>
                  </a:ln>
                  <a:solidFill>
                    <a:srgbClr val="FFFFFF"/>
                  </a:solidFill>
                  <a:effectLst>
                    <a:outerShdw blurRad="63500" dir="3600000" algn="tl" rotWithShape="0">
                      <a:srgbClr val="000000">
                        <a:alpha val="70000"/>
                      </a:srgbClr>
                    </a:outerShdw>
                  </a:effectLst>
                </a:rPr>
                <a:t>TESTING</a:t>
              </a:r>
              <a:endParaRPr lang="en-US" altLang="zh-CN" sz="1800" b="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grpSp>
      <p:sp>
        <p:nvSpPr>
          <p:cNvPr id="2" name="îṣlîďè">
            <a:extLst>
              <a:ext uri="{FF2B5EF4-FFF2-40B4-BE49-F238E27FC236}">
                <a16:creationId xmlns:a16="http://schemas.microsoft.com/office/drawing/2014/main" xmlns="" id="{FD41CE9C-3DA4-563C-EC12-059635F5FA0B}"/>
              </a:ext>
            </a:extLst>
          </p:cNvPr>
          <p:cNvSpPr/>
          <p:nvPr/>
        </p:nvSpPr>
        <p:spPr>
          <a:xfrm>
            <a:off x="8219381" y="1348510"/>
            <a:ext cx="1349961" cy="1314780"/>
          </a:xfrm>
          <a:prstGeom prst="ellipse">
            <a:avLst/>
          </a:prstGeom>
          <a:solidFill>
            <a:schemeClr val="accent1"/>
          </a:solidFill>
          <a:ln w="12700" cap="rnd">
            <a:noFill/>
            <a:prstDash val="solid"/>
            <a:round/>
          </a:ln>
          <a:effectLst>
            <a:outerShdw blurRad="254000" dist="127000" algn="ctr" rotWithShape="0">
              <a:schemeClr val="accent2">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r>
              <a:rPr lang="en-US" altLang="zh-CN" sz="1600" b="1" dirty="0">
                <a:solidFill>
                  <a:srgbClr val="FFFFFF"/>
                </a:solidFill>
              </a:rPr>
              <a:t>BLACK BOX</a:t>
            </a:r>
          </a:p>
          <a:p>
            <a:pPr algn="ctr" defTabSz="914354"/>
            <a:r>
              <a:rPr lang="en-US" altLang="zh-CN" sz="1600" b="1" dirty="0">
                <a:solidFill>
                  <a:srgbClr val="FFFFFF"/>
                </a:solidFill>
              </a:rPr>
              <a:t>TESTING</a:t>
            </a:r>
            <a:endParaRPr lang="zh-CN" altLang="en-US" sz="1600" b="1" dirty="0">
              <a:solidFill>
                <a:srgbClr val="FFFFFF"/>
              </a:solidFill>
            </a:endParaRPr>
          </a:p>
        </p:txBody>
      </p:sp>
      <p:sp>
        <p:nvSpPr>
          <p:cNvPr id="31" name="îṣlîďè">
            <a:extLst>
              <a:ext uri="{FF2B5EF4-FFF2-40B4-BE49-F238E27FC236}">
                <a16:creationId xmlns:a16="http://schemas.microsoft.com/office/drawing/2014/main" xmlns="" id="{19FA844B-8C9A-EC7F-9B0C-B154A13D0F49}"/>
              </a:ext>
            </a:extLst>
          </p:cNvPr>
          <p:cNvSpPr/>
          <p:nvPr/>
        </p:nvSpPr>
        <p:spPr>
          <a:xfrm>
            <a:off x="6937623" y="3927038"/>
            <a:ext cx="1349961" cy="1314780"/>
          </a:xfrm>
          <a:prstGeom prst="ellipse">
            <a:avLst/>
          </a:prstGeom>
          <a:solidFill>
            <a:schemeClr val="accent1"/>
          </a:solidFill>
          <a:ln w="12700" cap="rnd">
            <a:noFill/>
            <a:prstDash val="solid"/>
            <a:round/>
          </a:ln>
          <a:effectLst>
            <a:outerShdw blurRad="254000" dist="127000" algn="ctr" rotWithShape="0">
              <a:schemeClr val="accent2">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r>
              <a:rPr lang="en-US" altLang="zh-CN" sz="1600" b="1" dirty="0">
                <a:solidFill>
                  <a:srgbClr val="FFFFFF"/>
                </a:solidFill>
              </a:rPr>
              <a:t>WHITE BOX</a:t>
            </a:r>
          </a:p>
          <a:p>
            <a:pPr algn="ctr" defTabSz="914354"/>
            <a:r>
              <a:rPr lang="en-US" altLang="zh-CN" sz="1600" b="1" dirty="0">
                <a:solidFill>
                  <a:srgbClr val="FFFFFF"/>
                </a:solidFill>
              </a:rPr>
              <a:t>TESTING</a:t>
            </a:r>
            <a:endParaRPr lang="zh-CN" altLang="en-US" sz="1600" b="1" dirty="0">
              <a:solidFill>
                <a:srgbClr val="FFFFFF"/>
              </a:solidFill>
            </a:endParaRPr>
          </a:p>
        </p:txBody>
      </p:sp>
      <p:sp>
        <p:nvSpPr>
          <p:cNvPr id="32" name="îṣlîďè">
            <a:extLst>
              <a:ext uri="{FF2B5EF4-FFF2-40B4-BE49-F238E27FC236}">
                <a16:creationId xmlns:a16="http://schemas.microsoft.com/office/drawing/2014/main" xmlns="" id="{F84A93C7-C043-E21B-8093-503397385441}"/>
              </a:ext>
            </a:extLst>
          </p:cNvPr>
          <p:cNvSpPr/>
          <p:nvPr/>
        </p:nvSpPr>
        <p:spPr>
          <a:xfrm>
            <a:off x="9735930" y="3986577"/>
            <a:ext cx="1349961" cy="1314780"/>
          </a:xfrm>
          <a:prstGeom prst="ellipse">
            <a:avLst/>
          </a:prstGeom>
          <a:solidFill>
            <a:schemeClr val="accent1"/>
          </a:solidFill>
          <a:ln w="12700" cap="rnd">
            <a:noFill/>
            <a:prstDash val="solid"/>
            <a:round/>
          </a:ln>
          <a:effectLst>
            <a:outerShdw blurRad="254000" dist="127000" algn="ctr" rotWithShape="0">
              <a:schemeClr val="accent2">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r>
              <a:rPr lang="en-US" altLang="zh-CN" sz="1600" b="1" dirty="0">
                <a:solidFill>
                  <a:srgbClr val="FFFFFF"/>
                </a:solidFill>
              </a:rPr>
              <a:t>GRAY BOX</a:t>
            </a:r>
          </a:p>
          <a:p>
            <a:pPr algn="ctr" defTabSz="914354"/>
            <a:r>
              <a:rPr lang="en-US" altLang="zh-CN" sz="1600" b="1" dirty="0">
                <a:solidFill>
                  <a:srgbClr val="FFFFFF"/>
                </a:solidFill>
              </a:rPr>
              <a:t>TESTING</a:t>
            </a:r>
            <a:endParaRPr lang="zh-CN" altLang="en-US" sz="1600" b="1" dirty="0">
              <a:solidFill>
                <a:srgbClr val="FFFFFF"/>
              </a:solidFill>
            </a:endParaRPr>
          </a:p>
        </p:txBody>
      </p:sp>
      <p:sp>
        <p:nvSpPr>
          <p:cNvPr id="35" name="TextBox 34">
            <a:extLst>
              <a:ext uri="{FF2B5EF4-FFF2-40B4-BE49-F238E27FC236}">
                <a16:creationId xmlns:a16="http://schemas.microsoft.com/office/drawing/2014/main" xmlns="" id="{E5DD5789-54D9-DABD-5119-2C941ED89FAA}"/>
              </a:ext>
            </a:extLst>
          </p:cNvPr>
          <p:cNvSpPr txBox="1"/>
          <p:nvPr/>
        </p:nvSpPr>
        <p:spPr>
          <a:xfrm>
            <a:off x="699430" y="1333500"/>
            <a:ext cx="4672669" cy="2862322"/>
          </a:xfrm>
          <a:prstGeom prst="rect">
            <a:avLst/>
          </a:prstGeom>
          <a:noFill/>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altLang="zh-CN" sz="60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TYPES OF TESTING</a:t>
            </a:r>
          </a:p>
          <a:p>
            <a:pPr algn="ctr"/>
            <a:r>
              <a:rPr lang="en-US" sz="60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METHODS</a:t>
            </a:r>
            <a:endParaRPr lang="en-IN" sz="60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custDataLst>
      <p:tags r:id="rId1"/>
    </p:custDataLst>
    <p:extLst>
      <p:ext uri="{BB962C8B-B14F-4D97-AF65-F5344CB8AC3E}">
        <p14:creationId xmlns:p14="http://schemas.microsoft.com/office/powerpoint/2010/main" xmlns="" val="1115296157"/>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îslîďê"/>
        <p:cNvGrpSpPr/>
        <p:nvPr/>
      </p:nvGrpSpPr>
      <p:grpSpPr>
        <a:xfrm>
          <a:off x="0" y="0"/>
          <a:ext cx="0" cy="0"/>
          <a:chOff x="0" y="0"/>
          <a:chExt cx="0" cy="0"/>
        </a:xfrm>
      </p:grpSpPr>
      <p:grpSp>
        <p:nvGrpSpPr>
          <p:cNvPr id="2" name="işḷide"/>
          <p:cNvGrpSpPr/>
          <p:nvPr/>
        </p:nvGrpSpPr>
        <p:grpSpPr>
          <a:xfrm>
            <a:off x="262909" y="182311"/>
            <a:ext cx="11236012" cy="6675688"/>
            <a:chOff x="1618425" y="2123785"/>
            <a:chExt cx="12150756" cy="6473015"/>
          </a:xfrm>
        </p:grpSpPr>
        <p:grpSp>
          <p:nvGrpSpPr>
            <p:cNvPr id="110" name="íṡḷíḋê">
              <a:extLst>
                <a:ext uri="{FF2B5EF4-FFF2-40B4-BE49-F238E27FC236}">
                  <a16:creationId xmlns:a16="http://schemas.microsoft.com/office/drawing/2014/main" xmlns="" id="{830BC9D1-3353-40F6-8BF3-27BF86581786}"/>
                </a:ext>
              </a:extLst>
            </p:cNvPr>
            <p:cNvGrpSpPr/>
            <p:nvPr/>
          </p:nvGrpSpPr>
          <p:grpSpPr>
            <a:xfrm>
              <a:off x="1618425" y="2123785"/>
              <a:ext cx="3308576" cy="6473015"/>
              <a:chOff x="3294969" y="1601621"/>
              <a:chExt cx="3308576" cy="6473015"/>
            </a:xfrm>
          </p:grpSpPr>
          <p:sp>
            <p:nvSpPr>
              <p:cNvPr id="11" name="iṣ1îdé">
                <a:extLst>
                  <a:ext uri="{FF2B5EF4-FFF2-40B4-BE49-F238E27FC236}">
                    <a16:creationId xmlns:a16="http://schemas.microsoft.com/office/drawing/2014/main" xmlns="" id="{1C4194EA-6C0F-4501-BB9D-A0775670EBE2}"/>
                  </a:ext>
                </a:extLst>
              </p:cNvPr>
              <p:cNvSpPr txBox="1"/>
              <p:nvPr/>
            </p:nvSpPr>
            <p:spPr>
              <a:xfrm flipH="1">
                <a:off x="3999594" y="1693300"/>
                <a:ext cx="2603951" cy="585505"/>
              </a:xfrm>
              <a:prstGeom prst="rect">
                <a:avLst/>
              </a:prstGeom>
            </p:spPr>
            <p:txBody>
              <a:bodyPr wrap="square">
                <a:noAutofit/>
              </a:bodyPr>
              <a:lstStyle/>
              <a:p>
                <a:r>
                  <a:rPr lang="en-US" altLang="zh-CN" sz="2000" b="1" dirty="0">
                    <a:solidFill>
                      <a:schemeClr val="tx1">
                        <a:lumMod val="75000"/>
                        <a:lumOff val="25000"/>
                      </a:schemeClr>
                    </a:solidFill>
                    <a:highlight>
                      <a:srgbClr val="C0C0C0"/>
                    </a:highlight>
                    <a:latin typeface="+mj-lt"/>
                    <a:cs typeface="+mn-ea"/>
                    <a:sym typeface="+mn-lt"/>
                  </a:rPr>
                  <a:t>BLACK BOX TESTING</a:t>
                </a:r>
              </a:p>
            </p:txBody>
          </p:sp>
          <p:sp>
            <p:nvSpPr>
              <p:cNvPr id="12" name="iSḷidè">
                <a:extLst>
                  <a:ext uri="{FF2B5EF4-FFF2-40B4-BE49-F238E27FC236}">
                    <a16:creationId xmlns:a16="http://schemas.microsoft.com/office/drawing/2014/main" xmlns="" id="{54D49CE2-68FF-4F86-A12E-6626AA73644F}"/>
                  </a:ext>
                </a:extLst>
              </p:cNvPr>
              <p:cNvSpPr/>
              <p:nvPr/>
            </p:nvSpPr>
            <p:spPr>
              <a:xfrm flipH="1">
                <a:off x="3610842" y="2392253"/>
                <a:ext cx="2893725" cy="5682383"/>
              </a:xfrm>
              <a:prstGeom prst="rect">
                <a:avLst/>
              </a:prstGeom>
              <a:ln>
                <a:noFill/>
              </a:ln>
            </p:spPr>
            <p:txBody>
              <a:bodyPr wrap="square" lIns="91440" tIns="45720" rIns="0" bIns="45720" anchor="t">
                <a:noAutofit/>
              </a:bodyPr>
              <a:lstStyle/>
              <a:p>
                <a:pPr>
                  <a:lnSpc>
                    <a:spcPct val="150000"/>
                  </a:lnSpc>
                  <a:defRPr/>
                </a:pPr>
                <a:r>
                  <a:rPr lang="en-US" b="1" dirty="0">
                    <a:solidFill>
                      <a:schemeClr val="bg1">
                        <a:lumMod val="95000"/>
                      </a:schemeClr>
                    </a:solidFill>
                    <a:uFill>
                      <a:solidFill>
                        <a:srgbClr val="365F91"/>
                      </a:solidFill>
                    </a:uFill>
                    <a:ea typeface="Roboto" panose="02000000000000000000" pitchFamily="2" charset="0"/>
                    <a:cs typeface="Times New Roman" panose="02020603050405020304" pitchFamily="18" charset="0"/>
                    <a:sym typeface="+mn-lt"/>
                  </a:rPr>
                  <a:t>BLACK BOX TESTING</a:t>
                </a:r>
                <a:r>
                  <a:rPr lang="en-US" dirty="0">
                    <a:solidFill>
                      <a:schemeClr val="bg1">
                        <a:lumMod val="95000"/>
                      </a:schemeClr>
                    </a:solidFill>
                    <a:uFill>
                      <a:solidFill>
                        <a:srgbClr val="365F91"/>
                      </a:solidFill>
                    </a:uFill>
                    <a:ea typeface="Roboto" panose="02000000000000000000" pitchFamily="2" charset="0"/>
                    <a:cs typeface="Times New Roman" panose="02020603050405020304" pitchFamily="18" charset="0"/>
                    <a:sym typeface="+mn-lt"/>
                  </a:rPr>
                  <a:t>, </a:t>
                </a:r>
                <a:r>
                  <a:rPr lang="en-US" dirty="0">
                    <a:solidFill>
                      <a:schemeClr val="bg1">
                        <a:lumMod val="95000"/>
                      </a:schemeClr>
                    </a:solidFill>
                    <a:uFill>
                      <a:solidFill>
                        <a:srgbClr val="365F91"/>
                      </a:solidFill>
                    </a:uFill>
                    <a:ea typeface="Roboto" panose="02000000000000000000" pitchFamily="2" charset="0"/>
                    <a:cs typeface="Times New Roman" panose="02020603050405020304" pitchFamily="18" charset="0"/>
                  </a:rPr>
                  <a:t>also known as Behavioral Testing, is a software testing method in which the internal structure/design/implementation of the item being tested is not known to the tester. These tests can be functional or non-functional, though usually functional.</a:t>
                </a:r>
              </a:p>
              <a:p>
                <a:pPr>
                  <a:lnSpc>
                    <a:spcPct val="108000"/>
                  </a:lnSpc>
                  <a:defRPr/>
                </a:pPr>
                <a:endParaRPr lang="en-US" altLang="zh-CN" sz="1400" dirty="0">
                  <a:cs typeface="+mn-ea"/>
                  <a:sym typeface="+mn-lt"/>
                </a:endParaRPr>
              </a:p>
            </p:txBody>
          </p:sp>
          <p:sp>
            <p:nvSpPr>
              <p:cNvPr id="31" name="ïsḷïḑê">
                <a:extLst>
                  <a:ext uri="{FF2B5EF4-FFF2-40B4-BE49-F238E27FC236}">
                    <a16:creationId xmlns:a16="http://schemas.microsoft.com/office/drawing/2014/main" xmlns="" id="{EB0CFE1C-DFB0-4DD2-A7F4-E407E26D2436}"/>
                  </a:ext>
                </a:extLst>
              </p:cNvPr>
              <p:cNvSpPr/>
              <p:nvPr/>
            </p:nvSpPr>
            <p:spPr>
              <a:xfrm>
                <a:off x="3294969" y="1601621"/>
                <a:ext cx="612530" cy="612529"/>
              </a:xfrm>
              <a:prstGeom prst="ellipse">
                <a:avLst/>
              </a:prstGeom>
              <a:solidFill>
                <a:schemeClr val="accent2"/>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a:buSzPct val="25000"/>
                </a:pPr>
                <a:r>
                  <a:rPr lang="en-US" altLang="zh-CN" b="1" dirty="0">
                    <a:solidFill>
                      <a:schemeClr val="tx1"/>
                    </a:solidFill>
                    <a:cs typeface="+mn-ea"/>
                    <a:sym typeface="+mn-lt"/>
                  </a:rPr>
                  <a:t>01</a:t>
                </a:r>
              </a:p>
            </p:txBody>
          </p:sp>
        </p:grpSp>
        <p:cxnSp>
          <p:nvCxnSpPr>
            <p:cNvPr id="95" name="íṧlîďe">
              <a:extLst>
                <a:ext uri="{FF2B5EF4-FFF2-40B4-BE49-F238E27FC236}">
                  <a16:creationId xmlns:a16="http://schemas.microsoft.com/office/drawing/2014/main" xmlns="" id="{93AAA2C9-03EE-4E2C-8FFF-E8CD523F540D}"/>
                </a:ext>
              </a:extLst>
            </p:cNvPr>
            <p:cNvCxnSpPr>
              <a:cxnSpLocks/>
            </p:cNvCxnSpPr>
            <p:nvPr/>
          </p:nvCxnSpPr>
          <p:spPr>
            <a:xfrm>
              <a:off x="2616956" y="8439176"/>
              <a:ext cx="11152225" cy="0"/>
            </a:xfrm>
            <a:prstGeom prst="line">
              <a:avLst/>
            </a:prstGeom>
            <a:ln w="15875" cap="rnd">
              <a:solidFill>
                <a:schemeClr val="bg1">
                  <a:lumMod val="75000"/>
                </a:schemeClr>
              </a:solidFill>
              <a:round/>
              <a:headEnd type="none" w="lg" len="lg"/>
            </a:ln>
          </p:spPr>
          <p:style>
            <a:lnRef idx="1">
              <a:schemeClr val="accent1"/>
            </a:lnRef>
            <a:fillRef idx="0">
              <a:schemeClr val="accent1"/>
            </a:fillRef>
            <a:effectRef idx="0">
              <a:schemeClr val="accent1"/>
            </a:effectRef>
            <a:fontRef idx="minor">
              <a:schemeClr val="tx1"/>
            </a:fontRef>
          </p:style>
        </p:cxnSp>
      </p:grpSp>
      <p:sp>
        <p:nvSpPr>
          <p:cNvPr id="4" name="ïsḷïḑê">
            <a:extLst>
              <a:ext uri="{FF2B5EF4-FFF2-40B4-BE49-F238E27FC236}">
                <a16:creationId xmlns:a16="http://schemas.microsoft.com/office/drawing/2014/main" xmlns="" id="{7AF08718-6434-86E2-49EF-C7F04867B529}"/>
              </a:ext>
            </a:extLst>
          </p:cNvPr>
          <p:cNvSpPr/>
          <p:nvPr/>
        </p:nvSpPr>
        <p:spPr>
          <a:xfrm>
            <a:off x="4156092" y="172150"/>
            <a:ext cx="566417" cy="631707"/>
          </a:xfrm>
          <a:prstGeom prst="ellipse">
            <a:avLst/>
          </a:prstGeom>
          <a:solidFill>
            <a:schemeClr val="accent1"/>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a:buSzPct val="25000"/>
            </a:pPr>
            <a:r>
              <a:rPr lang="en-US" altLang="zh-CN" b="1" dirty="0">
                <a:solidFill>
                  <a:schemeClr val="bg1"/>
                </a:solidFill>
                <a:cs typeface="+mn-ea"/>
                <a:sym typeface="+mn-lt"/>
              </a:rPr>
              <a:t>02</a:t>
            </a:r>
          </a:p>
        </p:txBody>
      </p:sp>
      <p:sp>
        <p:nvSpPr>
          <p:cNvPr id="5" name="ïsḷïḑê">
            <a:extLst>
              <a:ext uri="{FF2B5EF4-FFF2-40B4-BE49-F238E27FC236}">
                <a16:creationId xmlns:a16="http://schemas.microsoft.com/office/drawing/2014/main" xmlns="" id="{49B3FBFA-610B-AF26-8478-8F53AA1E2B56}"/>
              </a:ext>
            </a:extLst>
          </p:cNvPr>
          <p:cNvSpPr/>
          <p:nvPr/>
        </p:nvSpPr>
        <p:spPr>
          <a:xfrm>
            <a:off x="8046656" y="193040"/>
            <a:ext cx="566417" cy="631707"/>
          </a:xfrm>
          <a:prstGeom prst="ellipse">
            <a:avLst/>
          </a:prstGeom>
          <a:solidFill>
            <a:schemeClr val="accent2"/>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a:buSzPct val="25000"/>
            </a:pPr>
            <a:r>
              <a:rPr lang="en-US" altLang="zh-CN" b="1" dirty="0">
                <a:solidFill>
                  <a:schemeClr val="tx1"/>
                </a:solidFill>
                <a:cs typeface="+mn-ea"/>
                <a:sym typeface="+mn-lt"/>
              </a:rPr>
              <a:t>03</a:t>
            </a:r>
          </a:p>
        </p:txBody>
      </p:sp>
      <p:sp>
        <p:nvSpPr>
          <p:cNvPr id="6" name="iṣ1îdé">
            <a:extLst>
              <a:ext uri="{FF2B5EF4-FFF2-40B4-BE49-F238E27FC236}">
                <a16:creationId xmlns:a16="http://schemas.microsoft.com/office/drawing/2014/main" xmlns="" id="{E9DA0FFD-E7D7-FF13-C34D-3B60182BB480}"/>
              </a:ext>
            </a:extLst>
          </p:cNvPr>
          <p:cNvSpPr txBox="1"/>
          <p:nvPr/>
        </p:nvSpPr>
        <p:spPr>
          <a:xfrm flipH="1">
            <a:off x="4824096" y="259915"/>
            <a:ext cx="2407918" cy="578583"/>
          </a:xfrm>
          <a:prstGeom prst="rect">
            <a:avLst/>
          </a:prstGeom>
        </p:spPr>
        <p:txBody>
          <a:bodyPr wrap="square">
            <a:noAutofit/>
          </a:bodyPr>
          <a:lstStyle/>
          <a:p>
            <a:r>
              <a:rPr lang="en-US" altLang="zh-CN" sz="2000" b="1" dirty="0">
                <a:solidFill>
                  <a:schemeClr val="tx1">
                    <a:lumMod val="75000"/>
                    <a:lumOff val="25000"/>
                  </a:schemeClr>
                </a:solidFill>
                <a:highlight>
                  <a:srgbClr val="C0C0C0"/>
                </a:highlight>
                <a:cs typeface="+mn-ea"/>
                <a:sym typeface="+mn-lt"/>
              </a:rPr>
              <a:t>WHITE BOX TESTING</a:t>
            </a:r>
          </a:p>
        </p:txBody>
      </p:sp>
      <p:sp>
        <p:nvSpPr>
          <p:cNvPr id="7" name="iṣ1îdé">
            <a:extLst>
              <a:ext uri="{FF2B5EF4-FFF2-40B4-BE49-F238E27FC236}">
                <a16:creationId xmlns:a16="http://schemas.microsoft.com/office/drawing/2014/main" xmlns="" id="{AEB045BA-1F12-53F5-4F49-9504C91B0829}"/>
              </a:ext>
            </a:extLst>
          </p:cNvPr>
          <p:cNvSpPr txBox="1"/>
          <p:nvPr/>
        </p:nvSpPr>
        <p:spPr>
          <a:xfrm flipH="1">
            <a:off x="8778933" y="267951"/>
            <a:ext cx="2407918" cy="578583"/>
          </a:xfrm>
          <a:prstGeom prst="rect">
            <a:avLst/>
          </a:prstGeom>
        </p:spPr>
        <p:txBody>
          <a:bodyPr wrap="square">
            <a:noAutofit/>
          </a:bodyPr>
          <a:lstStyle/>
          <a:p>
            <a:r>
              <a:rPr lang="en-US" altLang="zh-CN" sz="2000" b="1" dirty="0">
                <a:solidFill>
                  <a:schemeClr val="tx1">
                    <a:lumMod val="75000"/>
                    <a:lumOff val="25000"/>
                  </a:schemeClr>
                </a:solidFill>
                <a:highlight>
                  <a:srgbClr val="C0C0C0"/>
                </a:highlight>
                <a:cs typeface="+mn-ea"/>
                <a:sym typeface="+mn-lt"/>
              </a:rPr>
              <a:t>GRAY BOX TESTING</a:t>
            </a:r>
          </a:p>
        </p:txBody>
      </p:sp>
      <p:sp>
        <p:nvSpPr>
          <p:cNvPr id="9" name="TextBox 8">
            <a:extLst>
              <a:ext uri="{FF2B5EF4-FFF2-40B4-BE49-F238E27FC236}">
                <a16:creationId xmlns:a16="http://schemas.microsoft.com/office/drawing/2014/main" xmlns="" id="{825B2384-02AF-282D-06FE-C91965ED456D}"/>
              </a:ext>
            </a:extLst>
          </p:cNvPr>
          <p:cNvSpPr txBox="1"/>
          <p:nvPr/>
        </p:nvSpPr>
        <p:spPr>
          <a:xfrm>
            <a:off x="4698407" y="741680"/>
            <a:ext cx="2769193" cy="5035353"/>
          </a:xfrm>
          <a:prstGeom prst="rect">
            <a:avLst/>
          </a:prstGeom>
          <a:noFill/>
        </p:spPr>
        <p:txBody>
          <a:bodyPr wrap="square">
            <a:spAutoFit/>
          </a:bodyPr>
          <a:lstStyle/>
          <a:p>
            <a:pPr marL="0" indent="0">
              <a:lnSpc>
                <a:spcPct val="150000"/>
              </a:lnSpc>
              <a:buNone/>
            </a:pPr>
            <a:r>
              <a:rPr lang="en-US" b="1" dirty="0">
                <a:solidFill>
                  <a:schemeClr val="bg1"/>
                </a:solidFill>
                <a:ea typeface="Roboto" panose="02000000000000000000" pitchFamily="2" charset="0"/>
                <a:cs typeface="Times New Roman" panose="02020603050405020304" pitchFamily="18" charset="0"/>
              </a:rPr>
              <a:t>WHITE BOX TESTING, </a:t>
            </a:r>
            <a:r>
              <a:rPr lang="en-US" sz="1800" dirty="0">
                <a:solidFill>
                  <a:schemeClr val="bg1"/>
                </a:solidFill>
                <a:ea typeface="Roboto" panose="02000000000000000000" pitchFamily="2" charset="0"/>
                <a:cs typeface="Times New Roman" panose="02020603050405020304" pitchFamily="18" charset="0"/>
              </a:rPr>
              <a:t>also known as Clear Box Testing, Open Box Testing, Glass Box Testing, Transparent Box Testing, Code-Based Testing or Structural Testing) is a software testing method in which the internal structure/design/implementation of the item being tested is known to the tester.  </a:t>
            </a:r>
            <a:endParaRPr lang="en-US" sz="1800" dirty="0">
              <a:solidFill>
                <a:schemeClr val="bg1"/>
              </a:solidFill>
              <a:cs typeface="Times New Roman" panose="02020603050405020304" pitchFamily="18" charset="0"/>
            </a:endParaRPr>
          </a:p>
        </p:txBody>
      </p:sp>
      <p:sp>
        <p:nvSpPr>
          <p:cNvPr id="16" name="TextBox 15">
            <a:extLst>
              <a:ext uri="{FF2B5EF4-FFF2-40B4-BE49-F238E27FC236}">
                <a16:creationId xmlns:a16="http://schemas.microsoft.com/office/drawing/2014/main" xmlns="" id="{2BACFC77-CFFC-239F-8144-688B9CE4D808}"/>
              </a:ext>
            </a:extLst>
          </p:cNvPr>
          <p:cNvSpPr txBox="1"/>
          <p:nvPr/>
        </p:nvSpPr>
        <p:spPr>
          <a:xfrm>
            <a:off x="8449179" y="948690"/>
            <a:ext cx="2798576" cy="5035353"/>
          </a:xfrm>
          <a:prstGeom prst="rect">
            <a:avLst/>
          </a:prstGeom>
          <a:noFill/>
        </p:spPr>
        <p:txBody>
          <a:bodyPr wrap="square">
            <a:spAutoFit/>
          </a:bodyPr>
          <a:lstStyle/>
          <a:p>
            <a:pPr marL="0" indent="0">
              <a:lnSpc>
                <a:spcPct val="150000"/>
              </a:lnSpc>
              <a:buNone/>
            </a:pPr>
            <a:r>
              <a:rPr lang="en-US" sz="1800" b="1" dirty="0">
                <a:solidFill>
                  <a:schemeClr val="bg1">
                    <a:lumMod val="95000"/>
                  </a:schemeClr>
                </a:solidFill>
                <a:ea typeface="Roboto" panose="02000000000000000000" pitchFamily="2" charset="0"/>
                <a:cs typeface="Times New Roman" panose="02020603050405020304" pitchFamily="18" charset="0"/>
              </a:rPr>
              <a:t>GRAY BOX TESTING, </a:t>
            </a:r>
            <a:r>
              <a:rPr lang="en-US" sz="1800" dirty="0">
                <a:solidFill>
                  <a:schemeClr val="bg1">
                    <a:lumMod val="95000"/>
                  </a:schemeClr>
                </a:solidFill>
                <a:ea typeface="Roboto" panose="02000000000000000000" pitchFamily="2" charset="0"/>
                <a:cs typeface="Times New Roman" panose="02020603050405020304" pitchFamily="18" charset="0"/>
              </a:rPr>
              <a:t>is a software testing method which is a combination of Black Box Testing method and White Box Testing method. In Black Box Testing, the internal structure of the item being tested is unknown to the tester and in White Box Testing the internal structure is known. </a:t>
            </a:r>
            <a:endParaRPr lang="en-US" sz="1800" dirty="0">
              <a:solidFill>
                <a:schemeClr val="bg1">
                  <a:lumMod val="95000"/>
                </a:schemeClr>
              </a:solidFill>
              <a:cs typeface="Times New Roman" panose="02020603050405020304" pitchFamily="18" charset="0"/>
            </a:endParaRPr>
          </a:p>
        </p:txBody>
      </p:sp>
    </p:spTree>
    <p:custDataLst>
      <p:tags r:id="rId1"/>
    </p:custDataLst>
    <p:extLst>
      <p:ext uri="{BB962C8B-B14F-4D97-AF65-F5344CB8AC3E}">
        <p14:creationId xmlns:p14="http://schemas.microsoft.com/office/powerpoint/2010/main" xmlns="" val="3956997510"/>
      </p:ext>
    </p:extLst>
  </p:cSld>
  <p:clrMapOvr>
    <a:masterClrMapping/>
  </p:clrMapOvr>
  <p:transition spd="slow">
    <p:cover dir="ld"/>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4" name="iṡḻiḑe">
            <a:extLst>
              <a:ext uri="{FF2B5EF4-FFF2-40B4-BE49-F238E27FC236}">
                <a16:creationId xmlns:a16="http://schemas.microsoft.com/office/drawing/2014/main" xmlns="" id="{37B3AA45-E69B-402D-A189-7C486BD46E31}"/>
              </a:ext>
            </a:extLst>
          </p:cNvPr>
          <p:cNvSpPr/>
          <p:nvPr/>
        </p:nvSpPr>
        <p:spPr>
          <a:xfrm>
            <a:off x="527585" y="3260112"/>
            <a:ext cx="2371643" cy="1278480"/>
          </a:xfrm>
          <a:prstGeom prst="rect">
            <a:avLst/>
          </a:prstGeom>
        </p:spPr>
        <p:txBody>
          <a:bodyPr>
            <a:noAutofit/>
          </a:bodyPr>
          <a:lstStyle/>
          <a:p>
            <a:pPr>
              <a:buSzPct val="25000"/>
            </a:pPr>
            <a:r>
              <a:rPr lang="en-US" altLang="zh-CN" sz="4000" b="1" dirty="0" smtClean="0"/>
              <a:t>FUTURE</a:t>
            </a:r>
            <a:endParaRPr lang="en-US" altLang="zh-CN" sz="4800" b="1" dirty="0"/>
          </a:p>
        </p:txBody>
      </p:sp>
      <p:sp>
        <p:nvSpPr>
          <p:cNvPr id="2" name="iṡḻiḑe">
            <a:extLst>
              <a:ext uri="{FF2B5EF4-FFF2-40B4-BE49-F238E27FC236}">
                <a16:creationId xmlns:a16="http://schemas.microsoft.com/office/drawing/2014/main" xmlns="" id="{5ECF20CF-A98E-F2B4-E672-08254E9F80ED}"/>
              </a:ext>
            </a:extLst>
          </p:cNvPr>
          <p:cNvSpPr/>
          <p:nvPr/>
        </p:nvSpPr>
        <p:spPr>
          <a:xfrm>
            <a:off x="546098" y="2847469"/>
            <a:ext cx="5549901" cy="1278480"/>
          </a:xfrm>
          <a:prstGeom prst="rect">
            <a:avLst/>
          </a:prstGeom>
        </p:spPr>
        <p:txBody>
          <a:bodyPr>
            <a:noAutofit/>
          </a:bodyPr>
          <a:lstStyle/>
          <a:p>
            <a:pPr>
              <a:buSzPct val="25000"/>
            </a:pPr>
            <a:endParaRPr lang="en-US" altLang="zh-CN" sz="4000" b="1" dirty="0"/>
          </a:p>
        </p:txBody>
      </p:sp>
      <p:sp>
        <p:nvSpPr>
          <p:cNvPr id="5" name="ï$ľiḍè">
            <a:extLst>
              <a:ext uri="{FF2B5EF4-FFF2-40B4-BE49-F238E27FC236}">
                <a16:creationId xmlns:a16="http://schemas.microsoft.com/office/drawing/2014/main" xmlns="" id="{7C04F637-A65B-EA29-3194-03AA96BE9B2F}"/>
              </a:ext>
            </a:extLst>
          </p:cNvPr>
          <p:cNvSpPr/>
          <p:nvPr/>
        </p:nvSpPr>
        <p:spPr>
          <a:xfrm>
            <a:off x="904283" y="1886154"/>
            <a:ext cx="1097280" cy="1097280"/>
          </a:xfrm>
          <a:prstGeom prst="ellipse">
            <a:avLst/>
          </a:prstGeom>
          <a:solidFill>
            <a:srgbClr val="FFCF37"/>
          </a:solidFill>
          <a:ln w="15875"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endParaRPr lang="en-US" altLang="zh-CN" sz="2400" b="1" dirty="0">
              <a:solidFill>
                <a:schemeClr val="tx1"/>
              </a:solidFill>
              <a:cs typeface="+mn-ea"/>
              <a:sym typeface="+mn-lt"/>
            </a:endParaRPr>
          </a:p>
        </p:txBody>
      </p:sp>
      <p:sp>
        <p:nvSpPr>
          <p:cNvPr id="7" name="iṡḻíde">
            <a:extLst>
              <a:ext uri="{FF2B5EF4-FFF2-40B4-BE49-F238E27FC236}">
                <a16:creationId xmlns:a16="http://schemas.microsoft.com/office/drawing/2014/main" xmlns="" id="{4FE27E5E-E722-C962-8C72-477D990BB2FD}"/>
              </a:ext>
            </a:extLst>
          </p:cNvPr>
          <p:cNvSpPr/>
          <p:nvPr/>
        </p:nvSpPr>
        <p:spPr>
          <a:xfrm>
            <a:off x="1033583" y="2042423"/>
            <a:ext cx="822960" cy="822960"/>
          </a:xfrm>
          <a:prstGeom prst="ellipse">
            <a:avLst/>
          </a:prstGeom>
          <a:solidFill>
            <a:schemeClr val="accent2"/>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r>
              <a:rPr lang="en-US" altLang="zh-CN" sz="2400" b="1" dirty="0">
                <a:solidFill>
                  <a:schemeClr val="tx1"/>
                </a:solidFill>
                <a:cs typeface="+mn-ea"/>
                <a:sym typeface="+mn-lt"/>
              </a:rPr>
              <a:t>6</a:t>
            </a:r>
          </a:p>
        </p:txBody>
      </p:sp>
      <p:sp>
        <p:nvSpPr>
          <p:cNvPr id="9" name="iṡḻiḑe">
            <a:extLst>
              <a:ext uri="{FF2B5EF4-FFF2-40B4-BE49-F238E27FC236}">
                <a16:creationId xmlns:a16="http://schemas.microsoft.com/office/drawing/2014/main" xmlns="" id="{83C16F49-34CA-FCE9-EAAA-DA1FEBAB0394}"/>
              </a:ext>
            </a:extLst>
          </p:cNvPr>
          <p:cNvSpPr/>
          <p:nvPr/>
        </p:nvSpPr>
        <p:spPr>
          <a:xfrm>
            <a:off x="48072" y="3877642"/>
            <a:ext cx="3304323" cy="784775"/>
          </a:xfrm>
          <a:prstGeom prst="rect">
            <a:avLst/>
          </a:prstGeom>
        </p:spPr>
        <p:txBody>
          <a:bodyPr>
            <a:noAutofit/>
          </a:bodyPr>
          <a:lstStyle/>
          <a:p>
            <a:pPr>
              <a:buSzPct val="25000"/>
            </a:pPr>
            <a:r>
              <a:rPr lang="en-US" altLang="zh-CN" sz="3600" dirty="0"/>
              <a:t>       GOALS</a:t>
            </a:r>
            <a:endParaRPr lang="en-US" altLang="zh-CN" sz="2800" dirty="0"/>
          </a:p>
        </p:txBody>
      </p:sp>
      <p:pic>
        <p:nvPicPr>
          <p:cNvPr id="3075" name="Picture 3" descr="C:\Users\chirag_jani\Desktop\161122_14_59_10_5DS_7049.0.0.0.jpg"/>
          <p:cNvPicPr>
            <a:picLocks noChangeAspect="1" noChangeArrowheads="1"/>
          </p:cNvPicPr>
          <p:nvPr/>
        </p:nvPicPr>
        <p:blipFill>
          <a:blip r:embed="rId3" cstate="print"/>
          <a:srcRect/>
          <a:stretch>
            <a:fillRect/>
          </a:stretch>
        </p:blipFill>
        <p:spPr bwMode="auto">
          <a:xfrm>
            <a:off x="4991100" y="727981"/>
            <a:ext cx="6629400" cy="5682343"/>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10" name="Rectangle 9"/>
          <p:cNvSpPr/>
          <p:nvPr/>
        </p:nvSpPr>
        <p:spPr>
          <a:xfrm>
            <a:off x="219075" y="304800"/>
            <a:ext cx="1943100" cy="1323439"/>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ONLINE FURNITURE</a:t>
            </a:r>
          </a:p>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ORDERING SYSTEM</a:t>
            </a:r>
            <a:endParaRPr lang="en-US" altLang="en-U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endParaRPr>
          </a:p>
        </p:txBody>
      </p:sp>
    </p:spTree>
    <p:custDataLst>
      <p:tags r:id="rId1"/>
    </p:custDataLst>
    <p:extLst>
      <p:ext uri="{BB962C8B-B14F-4D97-AF65-F5344CB8AC3E}">
        <p14:creationId xmlns:p14="http://schemas.microsoft.com/office/powerpoint/2010/main" xmlns="" val="3078864212"/>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70" name="文本框 10" descr="e7d195523061f1c0c30ee18c1b05f65d12b38e2533cb2ccdAE0CC34CB5CBEBFAEC353FED4DECE97C3E379FD1D933F5E4DC18EF8EA6B7A1130D5F6DE9DD2BE4B0A8C9126ACE5083D1F5A9E323B29CCFC723947F2A7770FFCFC0136AC2E9358C416F4A10C6952D33DA63038E460805E61AD394230B9BB5ED30CDD32E0864C96BD7869770F58DC06A0E">
            <a:extLst>
              <a:ext uri="{FF2B5EF4-FFF2-40B4-BE49-F238E27FC236}">
                <a16:creationId xmlns:a16="http://schemas.microsoft.com/office/drawing/2014/main" xmlns="" id="{4750551F-2196-C453-05C4-EC541688DEFF}"/>
              </a:ext>
            </a:extLst>
          </p:cNvPr>
          <p:cNvSpPr txBox="1"/>
          <p:nvPr/>
        </p:nvSpPr>
        <p:spPr>
          <a:xfrm>
            <a:off x="581025" y="153746"/>
            <a:ext cx="6610350" cy="722554"/>
          </a:xfrm>
          <a:prstGeom prst="rect">
            <a:avLst/>
          </a:prstGeom>
          <a:noFill/>
        </p:spPr>
        <p:txBody>
          <a:bodyPr wrap="none" rtlCol="0">
            <a:norm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4000" b="1" u="sng"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Source Han Sans SC"/>
                <a:ea typeface="Source Han Sans SC"/>
                <a:cs typeface="+mn-ea"/>
                <a:sym typeface="+mn-lt"/>
              </a:rPr>
              <a:t>FUTURE </a:t>
            </a:r>
            <a:r>
              <a:rPr lang="en-US" sz="4000" b="1" u="sng"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Source Han Sans SC"/>
                <a:ea typeface="Source Han Sans SC"/>
                <a:cs typeface="+mn-ea"/>
                <a:sym typeface="+mn-lt"/>
              </a:rPr>
              <a:t>ENHANCEMENT :-</a:t>
            </a:r>
            <a:endParaRPr lang="en-US" sz="4000" b="1" u="sng"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Source Han Sans SC"/>
              <a:ea typeface="Source Han Sans SC"/>
              <a:cs typeface="+mn-ea"/>
              <a:sym typeface="+mn-lt"/>
            </a:endParaRPr>
          </a:p>
        </p:txBody>
      </p:sp>
      <p:sp>
        <p:nvSpPr>
          <p:cNvPr id="71" name="iśḻíḑè">
            <a:extLst>
              <a:ext uri="{FF2B5EF4-FFF2-40B4-BE49-F238E27FC236}">
                <a16:creationId xmlns:a16="http://schemas.microsoft.com/office/drawing/2014/main" xmlns="" id="{269FE6A2-BDFF-28C3-98A5-A4CF604810A2}"/>
              </a:ext>
            </a:extLst>
          </p:cNvPr>
          <p:cNvSpPr txBox="1"/>
          <p:nvPr/>
        </p:nvSpPr>
        <p:spPr>
          <a:xfrm>
            <a:off x="381000" y="1190625"/>
            <a:ext cx="7105650" cy="4581525"/>
          </a:xfrm>
          <a:prstGeom prst="rect">
            <a:avLst/>
          </a:prstGeom>
          <a:noFill/>
        </p:spPr>
        <p:txBody>
          <a:bodyPr wrap="square" lIns="91440" tIns="45720" rIns="91440" bIns="45720">
            <a:noAutofit/>
          </a:bodyPr>
          <a:lstStyle/>
          <a:p>
            <a:pPr marL="285750" marR="0" lvl="0" indent="-285750">
              <a:lnSpc>
                <a:spcPct val="200000"/>
              </a:lnSpc>
              <a:spcBef>
                <a:spcPts val="600"/>
              </a:spcBef>
              <a:spcAft>
                <a:spcPts val="1200"/>
              </a:spcAft>
              <a:buFont typeface="Wingdings" panose="05000000000000000000" pitchFamily="2" charset="2"/>
              <a:buChar char="Ø"/>
              <a:tabLst>
                <a:tab pos="457200" algn="l"/>
              </a:tabLst>
            </a:pPr>
            <a:r>
              <a:rPr lang="en-US" dirty="0">
                <a:solidFill>
                  <a:schemeClr val="bg1">
                    <a:lumMod val="9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solidFill>
                  <a:schemeClr val="bg1">
                    <a:lumMod val="95000"/>
                  </a:schemeClr>
                </a:solidFill>
                <a:effectLst/>
                <a:ea typeface="Calibri" panose="020F0502020204030204" pitchFamily="34" charset="0"/>
                <a:cs typeface="Times New Roman" panose="02020603050405020304" pitchFamily="18" charset="0"/>
              </a:rPr>
              <a:t>The Authentication Algorithm Would Be More Accurate.</a:t>
            </a:r>
            <a:endParaRPr lang="en-IN" dirty="0">
              <a:solidFill>
                <a:schemeClr val="bg1">
                  <a:lumMod val="95000"/>
                </a:schemeClr>
              </a:solidFill>
              <a:effectLst/>
              <a:ea typeface="Calibri" panose="020F0502020204030204" pitchFamily="34" charset="0"/>
              <a:cs typeface="Shruti" panose="020B0502040204020203" pitchFamily="34" charset="0"/>
            </a:endParaRPr>
          </a:p>
          <a:p>
            <a:pPr marL="342900" marR="0" lvl="0" indent="-342900">
              <a:lnSpc>
                <a:spcPct val="200000"/>
              </a:lnSpc>
              <a:spcBef>
                <a:spcPts val="600"/>
              </a:spcBef>
              <a:spcAft>
                <a:spcPts val="1200"/>
              </a:spcAft>
              <a:buFont typeface="Wingdings" panose="05000000000000000000" pitchFamily="2" charset="2"/>
              <a:buChar char="Ø"/>
              <a:tabLst>
                <a:tab pos="457200" algn="l"/>
              </a:tabLst>
            </a:pPr>
            <a:r>
              <a:rPr lang="en-US" dirty="0">
                <a:solidFill>
                  <a:schemeClr val="bg1">
                    <a:lumMod val="95000"/>
                  </a:schemeClr>
                </a:solidFill>
                <a:effectLst/>
                <a:ea typeface="Calibri" panose="020F0502020204030204" pitchFamily="34" charset="0"/>
                <a:cs typeface="Times New Roman" panose="02020603050405020304" pitchFamily="18" charset="0"/>
              </a:rPr>
              <a:t>The same Application Will Be Converted into The Mobile Application </a:t>
            </a:r>
            <a:endParaRPr lang="en-IN" dirty="0">
              <a:solidFill>
                <a:schemeClr val="bg1">
                  <a:lumMod val="95000"/>
                </a:schemeClr>
              </a:solidFill>
              <a:effectLst/>
              <a:ea typeface="Calibri" panose="020F0502020204030204" pitchFamily="34" charset="0"/>
              <a:cs typeface="Shruti" panose="020B0502040204020203" pitchFamily="34" charset="0"/>
            </a:endParaRPr>
          </a:p>
          <a:p>
            <a:pPr marL="342900" marR="0" lvl="0" indent="-342900">
              <a:lnSpc>
                <a:spcPct val="200000"/>
              </a:lnSpc>
              <a:spcBef>
                <a:spcPts val="600"/>
              </a:spcBef>
              <a:spcAft>
                <a:spcPts val="1200"/>
              </a:spcAft>
              <a:buFont typeface="Wingdings" panose="05000000000000000000" pitchFamily="2" charset="2"/>
              <a:buChar char="Ø"/>
              <a:tabLst>
                <a:tab pos="457200" algn="l"/>
              </a:tabLst>
            </a:pPr>
            <a:r>
              <a:rPr lang="en-US" dirty="0">
                <a:solidFill>
                  <a:schemeClr val="bg1">
                    <a:lumMod val="95000"/>
                  </a:schemeClr>
                </a:solidFill>
                <a:effectLst/>
                <a:ea typeface="Calibri" panose="020F0502020204030204" pitchFamily="34" charset="0"/>
                <a:cs typeface="Times New Roman" panose="02020603050405020304" pitchFamily="18" charset="0"/>
              </a:rPr>
              <a:t>This will make our application more secure &amp; user friendly.</a:t>
            </a:r>
            <a:endParaRPr lang="en-IN" dirty="0">
              <a:solidFill>
                <a:schemeClr val="bg1">
                  <a:lumMod val="95000"/>
                </a:schemeClr>
              </a:solidFill>
              <a:effectLst/>
              <a:ea typeface="Calibri" panose="020F0502020204030204" pitchFamily="34" charset="0"/>
              <a:cs typeface="Shruti" panose="020B0502040204020203" pitchFamily="34" charset="0"/>
            </a:endParaRPr>
          </a:p>
          <a:p>
            <a:pPr marL="342900" marR="0" lvl="0" indent="-342900">
              <a:lnSpc>
                <a:spcPct val="200000"/>
              </a:lnSpc>
              <a:spcBef>
                <a:spcPts val="600"/>
              </a:spcBef>
              <a:spcAft>
                <a:spcPts val="1200"/>
              </a:spcAft>
              <a:buFont typeface="Wingdings" panose="05000000000000000000" pitchFamily="2" charset="2"/>
              <a:buChar char="Ø"/>
              <a:tabLst>
                <a:tab pos="457200" algn="l"/>
              </a:tabLst>
            </a:pPr>
            <a:r>
              <a:rPr lang="en-US" dirty="0">
                <a:solidFill>
                  <a:schemeClr val="bg1">
                    <a:lumMod val="95000"/>
                  </a:schemeClr>
                </a:solidFill>
                <a:effectLst/>
                <a:ea typeface="Calibri" panose="020F0502020204030204" pitchFamily="34" charset="0"/>
                <a:cs typeface="Times New Roman" panose="02020603050405020304" pitchFamily="18" charset="0"/>
              </a:rPr>
              <a:t>The payment mode will be providing also by online payment services</a:t>
            </a:r>
            <a:r>
              <a:rPr lang="en-US" dirty="0" smtClean="0">
                <a:solidFill>
                  <a:schemeClr val="bg1">
                    <a:lumMod val="95000"/>
                  </a:schemeClr>
                </a:solidFill>
                <a:effectLst/>
                <a:ea typeface="Calibri" panose="020F0502020204030204" pitchFamily="34" charset="0"/>
                <a:cs typeface="Times New Roman" panose="02020603050405020304" pitchFamily="18" charset="0"/>
              </a:rPr>
              <a:t>.</a:t>
            </a:r>
          </a:p>
          <a:p>
            <a:pPr marL="342900" indent="-342900">
              <a:lnSpc>
                <a:spcPct val="200000"/>
              </a:lnSpc>
              <a:spcBef>
                <a:spcPts val="600"/>
              </a:spcBef>
              <a:spcAft>
                <a:spcPts val="1200"/>
              </a:spcAft>
              <a:buFont typeface="Wingdings" panose="05000000000000000000" pitchFamily="2" charset="2"/>
              <a:buChar char="Ø"/>
              <a:tabLst>
                <a:tab pos="457200" algn="l"/>
              </a:tabLst>
            </a:pPr>
            <a:r>
              <a:rPr lang="en-US" dirty="0" smtClean="0">
                <a:solidFill>
                  <a:schemeClr val="bg1">
                    <a:lumMod val="95000"/>
                  </a:schemeClr>
                </a:solidFill>
              </a:rPr>
              <a:t>We will provide online order tracking option.</a:t>
            </a:r>
          </a:p>
          <a:p>
            <a:pPr marL="342900" indent="-342900">
              <a:lnSpc>
                <a:spcPct val="200000"/>
              </a:lnSpc>
              <a:spcBef>
                <a:spcPts val="600"/>
              </a:spcBef>
              <a:spcAft>
                <a:spcPts val="1200"/>
              </a:spcAft>
              <a:buFont typeface="Wingdings" panose="05000000000000000000" pitchFamily="2" charset="2"/>
              <a:buChar char="Ø"/>
              <a:tabLst>
                <a:tab pos="457200" algn="l"/>
              </a:tabLst>
            </a:pPr>
            <a:r>
              <a:rPr lang="en-US" dirty="0" smtClean="0">
                <a:solidFill>
                  <a:schemeClr val="bg1">
                    <a:lumMod val="95000"/>
                  </a:schemeClr>
                </a:solidFill>
              </a:rPr>
              <a:t>The product search option will be provides</a:t>
            </a:r>
          </a:p>
          <a:p>
            <a:pPr marL="342900" marR="0" lvl="0" indent="-342900">
              <a:lnSpc>
                <a:spcPct val="200000"/>
              </a:lnSpc>
              <a:spcBef>
                <a:spcPts val="600"/>
              </a:spcBef>
              <a:spcAft>
                <a:spcPts val="1200"/>
              </a:spcAft>
              <a:buFont typeface="Wingdings" panose="05000000000000000000" pitchFamily="2" charset="2"/>
              <a:buChar char="Ø"/>
              <a:tabLst>
                <a:tab pos="457200" algn="l"/>
              </a:tabLst>
            </a:pPr>
            <a:endParaRPr lang="en-IN" dirty="0">
              <a:effectLst/>
              <a:ea typeface="Calibri" panose="020F0502020204030204" pitchFamily="34" charset="0"/>
              <a:cs typeface="Shruti" panose="020B0502040204020203" pitchFamily="34" charset="0"/>
            </a:endParaRPr>
          </a:p>
          <a:p>
            <a:pPr>
              <a:lnSpc>
                <a:spcPct val="150000"/>
              </a:lnSpc>
            </a:pPr>
            <a:endParaRPr lang="en-US" altLang="en-US" b="1" i="1" dirty="0">
              <a:solidFill>
                <a:schemeClr val="tx1">
                  <a:lumMod val="75000"/>
                  <a:lumOff val="25000"/>
                </a:schemeClr>
              </a:solidFill>
            </a:endParaRPr>
          </a:p>
        </p:txBody>
      </p:sp>
    </p:spTree>
    <p:custDataLst>
      <p:tags r:id="rId1"/>
    </p:custDataLst>
    <p:extLst>
      <p:ext uri="{BB962C8B-B14F-4D97-AF65-F5344CB8AC3E}">
        <p14:creationId xmlns:p14="http://schemas.microsoft.com/office/powerpoint/2010/main" xmlns="" val="950147390"/>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iterate type="lt">
                                    <p:tmPct val="5000"/>
                                  </p:iterate>
                                  <p:childTnLst>
                                    <p:set>
                                      <p:cBhvr>
                                        <p:cTn id="6" dur="1" fill="hold">
                                          <p:stCondLst>
                                            <p:cond delay="0"/>
                                          </p:stCondLst>
                                        </p:cTn>
                                        <p:tgtEl>
                                          <p:spTgt spid="70"/>
                                        </p:tgtEl>
                                        <p:attrNameLst>
                                          <p:attrName>style.visibility</p:attrName>
                                        </p:attrNameLst>
                                      </p:cBhvr>
                                      <p:to>
                                        <p:strVal val="visible"/>
                                      </p:to>
                                    </p:set>
                                    <p:anim calcmode="lin" valueType="num">
                                      <p:cBhvr additive="base">
                                        <p:cTn id="7" dur="1500" fill="hold"/>
                                        <p:tgtEl>
                                          <p:spTgt spid="70"/>
                                        </p:tgtEl>
                                        <p:attrNameLst>
                                          <p:attrName>ppt_x</p:attrName>
                                        </p:attrNameLst>
                                      </p:cBhvr>
                                      <p:tavLst>
                                        <p:tav tm="0">
                                          <p:val>
                                            <p:strVal val="#ppt_x"/>
                                          </p:val>
                                        </p:tav>
                                        <p:tav tm="100000">
                                          <p:val>
                                            <p:strVal val="#ppt_x"/>
                                          </p:val>
                                        </p:tav>
                                      </p:tavLst>
                                    </p:anim>
                                    <p:anim calcmode="lin" valueType="num">
                                      <p:cBhvr additive="base">
                                        <p:cTn id="8" dur="1500" fill="hold"/>
                                        <p:tgtEl>
                                          <p:spTgt spid="7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4" name="iṡḻiḑe">
            <a:extLst>
              <a:ext uri="{FF2B5EF4-FFF2-40B4-BE49-F238E27FC236}">
                <a16:creationId xmlns:a16="http://schemas.microsoft.com/office/drawing/2014/main" xmlns="" id="{37B3AA45-E69B-402D-A189-7C486BD46E31}"/>
              </a:ext>
            </a:extLst>
          </p:cNvPr>
          <p:cNvSpPr/>
          <p:nvPr/>
        </p:nvSpPr>
        <p:spPr>
          <a:xfrm>
            <a:off x="310977" y="3693645"/>
            <a:ext cx="3044925" cy="1278480"/>
          </a:xfrm>
          <a:prstGeom prst="rect">
            <a:avLst/>
          </a:prstGeom>
        </p:spPr>
        <p:txBody>
          <a:bodyPr>
            <a:noAutofit/>
          </a:bodyPr>
          <a:lstStyle/>
          <a:p>
            <a:pPr>
              <a:buSzPct val="25000"/>
            </a:pPr>
            <a:r>
              <a:rPr lang="en-US" altLang="zh-CN" sz="3600" b="1" dirty="0"/>
              <a:t>CONCLUSION</a:t>
            </a:r>
            <a:r>
              <a:rPr lang="en-US" altLang="zh-CN" sz="3200" b="1" dirty="0"/>
              <a:t>   </a:t>
            </a:r>
            <a:endParaRPr lang="en-US" altLang="zh-CN" sz="4800" b="1" dirty="0"/>
          </a:p>
        </p:txBody>
      </p:sp>
      <p:sp>
        <p:nvSpPr>
          <p:cNvPr id="2" name="iṡḻiḑe">
            <a:extLst>
              <a:ext uri="{FF2B5EF4-FFF2-40B4-BE49-F238E27FC236}">
                <a16:creationId xmlns:a16="http://schemas.microsoft.com/office/drawing/2014/main" xmlns="" id="{5ECF20CF-A98E-F2B4-E672-08254E9F80ED}"/>
              </a:ext>
            </a:extLst>
          </p:cNvPr>
          <p:cNvSpPr/>
          <p:nvPr/>
        </p:nvSpPr>
        <p:spPr>
          <a:xfrm>
            <a:off x="546098" y="2847469"/>
            <a:ext cx="5549901" cy="1278480"/>
          </a:xfrm>
          <a:prstGeom prst="rect">
            <a:avLst/>
          </a:prstGeom>
        </p:spPr>
        <p:txBody>
          <a:bodyPr>
            <a:noAutofit/>
          </a:bodyPr>
          <a:lstStyle/>
          <a:p>
            <a:pPr>
              <a:buSzPct val="25000"/>
            </a:pPr>
            <a:endParaRPr lang="en-US" altLang="zh-CN" sz="4000" b="1" dirty="0"/>
          </a:p>
        </p:txBody>
      </p:sp>
      <p:sp>
        <p:nvSpPr>
          <p:cNvPr id="5" name="ï$ľiḍè">
            <a:extLst>
              <a:ext uri="{FF2B5EF4-FFF2-40B4-BE49-F238E27FC236}">
                <a16:creationId xmlns:a16="http://schemas.microsoft.com/office/drawing/2014/main" xmlns="" id="{7C04F637-A65B-EA29-3194-03AA96BE9B2F}"/>
              </a:ext>
            </a:extLst>
          </p:cNvPr>
          <p:cNvSpPr/>
          <p:nvPr/>
        </p:nvSpPr>
        <p:spPr>
          <a:xfrm>
            <a:off x="1009058" y="2238579"/>
            <a:ext cx="1097280" cy="1097280"/>
          </a:xfrm>
          <a:prstGeom prst="ellipse">
            <a:avLst/>
          </a:prstGeom>
          <a:solidFill>
            <a:srgbClr val="FFCF37"/>
          </a:solidFill>
          <a:ln w="15875"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endParaRPr lang="en-US" altLang="zh-CN" sz="2400" b="1" dirty="0">
              <a:solidFill>
                <a:schemeClr val="tx1"/>
              </a:solidFill>
              <a:cs typeface="+mn-ea"/>
              <a:sym typeface="+mn-lt"/>
            </a:endParaRPr>
          </a:p>
        </p:txBody>
      </p:sp>
      <p:sp>
        <p:nvSpPr>
          <p:cNvPr id="7" name="iṡḻíde">
            <a:extLst>
              <a:ext uri="{FF2B5EF4-FFF2-40B4-BE49-F238E27FC236}">
                <a16:creationId xmlns:a16="http://schemas.microsoft.com/office/drawing/2014/main" xmlns="" id="{4FE27E5E-E722-C962-8C72-477D990BB2FD}"/>
              </a:ext>
            </a:extLst>
          </p:cNvPr>
          <p:cNvSpPr/>
          <p:nvPr/>
        </p:nvSpPr>
        <p:spPr>
          <a:xfrm>
            <a:off x="1128833" y="2413898"/>
            <a:ext cx="822960" cy="822960"/>
          </a:xfrm>
          <a:prstGeom prst="ellipse">
            <a:avLst/>
          </a:prstGeom>
          <a:solidFill>
            <a:schemeClr val="accent2"/>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buSzPct val="25000"/>
            </a:pPr>
            <a:r>
              <a:rPr lang="en-US" altLang="zh-CN" sz="2400" b="1" dirty="0">
                <a:solidFill>
                  <a:schemeClr val="tx1"/>
                </a:solidFill>
                <a:cs typeface="+mn-ea"/>
                <a:sym typeface="+mn-lt"/>
              </a:rPr>
              <a:t>7</a:t>
            </a:r>
          </a:p>
        </p:txBody>
      </p:sp>
      <p:pic>
        <p:nvPicPr>
          <p:cNvPr id="4098" name="Picture 2" descr="C:\Users\chirag_jani\Desktop\0502040011-01-Living-Room-Factors-for-Internal-Planning-Consideration.jpg"/>
          <p:cNvPicPr>
            <a:picLocks noChangeAspect="1" noChangeArrowheads="1"/>
          </p:cNvPicPr>
          <p:nvPr/>
        </p:nvPicPr>
        <p:blipFill>
          <a:blip r:embed="rId3" cstate="print"/>
          <a:srcRect/>
          <a:stretch>
            <a:fillRect/>
          </a:stretch>
        </p:blipFill>
        <p:spPr bwMode="auto">
          <a:xfrm>
            <a:off x="4248148" y="790094"/>
            <a:ext cx="7140002" cy="5400000"/>
          </a:xfrm>
          <a:prstGeom prst="rect">
            <a:avLst/>
          </a:prstGeom>
          <a:ln>
            <a:noFill/>
          </a:ln>
          <a:effectLst>
            <a:outerShdw blurRad="292100" dist="139700" dir="2700000" algn="tl" rotWithShape="0">
              <a:srgbClr val="333333">
                <a:alpha val="65000"/>
              </a:srgbClr>
            </a:outerShdw>
          </a:effectLst>
        </p:spPr>
      </p:pic>
      <p:sp>
        <p:nvSpPr>
          <p:cNvPr id="8" name="Rectangle 7"/>
          <p:cNvSpPr/>
          <p:nvPr/>
        </p:nvSpPr>
        <p:spPr>
          <a:xfrm>
            <a:off x="228600" y="314325"/>
            <a:ext cx="1943100" cy="1323439"/>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ONLINE FURNITURE</a:t>
            </a:r>
          </a:p>
          <a:p>
            <a:pPr algn="just"/>
            <a:r>
              <a:rPr lang="en-US" altLang="en-US"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rPr>
              <a:t>ORDERING SYSTEM</a:t>
            </a:r>
            <a:endParaRPr lang="en-US" altLang="en-U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cs typeface="+mn-ea"/>
              <a:sym typeface="+mn-lt"/>
            </a:endParaRPr>
          </a:p>
        </p:txBody>
      </p:sp>
    </p:spTree>
    <p:custDataLst>
      <p:tags r:id="rId1"/>
    </p:custDataLst>
    <p:extLst>
      <p:ext uri="{BB962C8B-B14F-4D97-AF65-F5344CB8AC3E}">
        <p14:creationId xmlns:p14="http://schemas.microsoft.com/office/powerpoint/2010/main" xmlns="" val="3345495947"/>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70" name="文本框 10" descr="e7d195523061f1c0c30ee18c1b05f65d12b38e2533cb2ccdAE0CC34CB5CBEBFAEC353FED4DECE97C3E379FD1D933F5E4DC18EF8EA6B7A1130D5F6DE9DD2BE4B0A8C9126ACE5083D1F5A9E323B29CCFC723947F2A7770FFCFC0136AC2E9358C416F4A10C6952D33DA63038E460805E61AD394230B9BB5ED30CDD32E0864C96BD7869770F58DC06A0E">
            <a:extLst>
              <a:ext uri="{FF2B5EF4-FFF2-40B4-BE49-F238E27FC236}">
                <a16:creationId xmlns:a16="http://schemas.microsoft.com/office/drawing/2014/main" xmlns="" id="{4750551F-2196-C453-05C4-EC541688DEFF}"/>
              </a:ext>
            </a:extLst>
          </p:cNvPr>
          <p:cNvSpPr txBox="1"/>
          <p:nvPr/>
        </p:nvSpPr>
        <p:spPr>
          <a:xfrm>
            <a:off x="399904" y="220604"/>
            <a:ext cx="3977640" cy="707886"/>
          </a:xfrm>
          <a:prstGeom prst="rect">
            <a:avLst/>
          </a:prstGeom>
          <a:noFill/>
        </p:spPr>
        <p:txBody>
          <a:bodyPr wrap="none"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4000" b="1" u="sng"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ea typeface="Source Han Sans SC"/>
                <a:cs typeface="+mn-ea"/>
                <a:sym typeface="+mn-lt"/>
              </a:rPr>
              <a:t>CONCLUSION : </a:t>
            </a:r>
          </a:p>
        </p:txBody>
      </p:sp>
      <p:sp>
        <p:nvSpPr>
          <p:cNvPr id="71" name="iśḻíḑè">
            <a:extLst>
              <a:ext uri="{FF2B5EF4-FFF2-40B4-BE49-F238E27FC236}">
                <a16:creationId xmlns:a16="http://schemas.microsoft.com/office/drawing/2014/main" xmlns="" id="{269FE6A2-BDFF-28C3-98A5-A4CF604810A2}"/>
              </a:ext>
            </a:extLst>
          </p:cNvPr>
          <p:cNvSpPr txBox="1"/>
          <p:nvPr/>
        </p:nvSpPr>
        <p:spPr>
          <a:xfrm>
            <a:off x="181742" y="1057275"/>
            <a:ext cx="11581634" cy="5562600"/>
          </a:xfrm>
          <a:prstGeom prst="rect">
            <a:avLst/>
          </a:prstGeom>
          <a:noFill/>
        </p:spPr>
        <p:txBody>
          <a:bodyPr wrap="square" lIns="91440" tIns="45720" rIns="91440" bIns="45720">
            <a:noAutofit/>
          </a:bodyPr>
          <a:lstStyle/>
          <a:p>
            <a:r>
              <a:rPr lang="en-US" sz="2000" dirty="0" smtClean="0">
                <a:solidFill>
                  <a:schemeClr val="bg1">
                    <a:lumMod val="95000"/>
                  </a:schemeClr>
                </a:solidFill>
              </a:rPr>
              <a:t>The project entitled Online furniture ordering system was completed successfully. </a:t>
            </a:r>
          </a:p>
          <a:p>
            <a:r>
              <a:rPr lang="en-US" sz="2000" dirty="0" smtClean="0">
                <a:solidFill>
                  <a:schemeClr val="bg1">
                    <a:lumMod val="95000"/>
                  </a:schemeClr>
                </a:solidFill>
              </a:rPr>
              <a:t> </a:t>
            </a:r>
          </a:p>
          <a:p>
            <a:r>
              <a:rPr lang="en-US" sz="2000" dirty="0" smtClean="0">
                <a:solidFill>
                  <a:schemeClr val="bg1">
                    <a:lumMod val="95000"/>
                  </a:schemeClr>
                </a:solidFill>
              </a:rPr>
              <a:t>In conclusion, the development of this online furniture ordering system has been a comprehensive journey, integrating front-end technologies like HTML, CSS, and JavaScript with back-end PHP and MySQL databases to create a seamless and user-friendly platform.</a:t>
            </a:r>
          </a:p>
          <a:p>
            <a:r>
              <a:rPr lang="en-US" sz="2000" dirty="0" smtClean="0">
                <a:solidFill>
                  <a:schemeClr val="bg1">
                    <a:lumMod val="95000"/>
                  </a:schemeClr>
                </a:solidFill>
              </a:rPr>
              <a:t> </a:t>
            </a:r>
          </a:p>
          <a:p>
            <a:r>
              <a:rPr lang="en-US" sz="2000" dirty="0" smtClean="0">
                <a:solidFill>
                  <a:schemeClr val="bg1">
                    <a:lumMod val="95000"/>
                  </a:schemeClr>
                </a:solidFill>
              </a:rPr>
              <a:t>The system not only provides an intuitive interface for customers to browse, select, and purchase furniture but also ensures robust functionality for managing orders, inventory, and user data. By leveraging the power of PHP and MySQL, the platform delivers dynamic content, secure transactions, and efficient data management, making it a reliable solution for both customers and administrators.</a:t>
            </a:r>
          </a:p>
          <a:p>
            <a:r>
              <a:rPr lang="en-US" sz="2000" dirty="0" smtClean="0">
                <a:solidFill>
                  <a:schemeClr val="bg1">
                    <a:lumMod val="95000"/>
                  </a:schemeClr>
                </a:solidFill>
              </a:rPr>
              <a:t> </a:t>
            </a:r>
          </a:p>
          <a:p>
            <a:r>
              <a:rPr lang="en-US" sz="2000" dirty="0" smtClean="0">
                <a:solidFill>
                  <a:schemeClr val="bg1">
                    <a:lumMod val="95000"/>
                  </a:schemeClr>
                </a:solidFill>
              </a:rPr>
              <a:t>This project has reinforced the importance of combining aesthetic design with functional backend systems to create a cohesive user experience. Future enhancements could include integrating advanced features like AI-based recommendations, augmented reality (AR) for virtual furniture placement, and improved mobile responsiveness. </a:t>
            </a:r>
          </a:p>
          <a:p>
            <a:r>
              <a:rPr lang="en-US" sz="2000" dirty="0" smtClean="0">
                <a:solidFill>
                  <a:schemeClr val="bg1">
                    <a:lumMod val="95000"/>
                  </a:schemeClr>
                </a:solidFill>
              </a:rPr>
              <a:t> </a:t>
            </a:r>
          </a:p>
          <a:p>
            <a:r>
              <a:rPr lang="en-US" sz="2000" dirty="0" smtClean="0">
                <a:solidFill>
                  <a:schemeClr val="bg1">
                    <a:lumMod val="95000"/>
                  </a:schemeClr>
                </a:solidFill>
              </a:rPr>
              <a:t>Overall, this online furniture ordering system serves as a scalable and efficient solution, ready to adapt to the evolving needs of the e-commerce industry.</a:t>
            </a:r>
          </a:p>
          <a:p>
            <a:r>
              <a:rPr lang="en-US" sz="2000" dirty="0" smtClean="0"/>
              <a:t> </a:t>
            </a:r>
          </a:p>
          <a:p>
            <a:r>
              <a:rPr lang="en-US" sz="2000" dirty="0" smtClean="0"/>
              <a:t> </a:t>
            </a:r>
          </a:p>
          <a:p>
            <a:pPr marR="0" lvl="0">
              <a:lnSpc>
                <a:spcPct val="200000"/>
              </a:lnSpc>
              <a:spcBef>
                <a:spcPts val="600"/>
              </a:spcBef>
              <a:spcAft>
                <a:spcPts val="1200"/>
              </a:spcAft>
              <a:tabLst>
                <a:tab pos="457200" algn="l"/>
              </a:tabLst>
            </a:pPr>
            <a:endParaRPr lang="en-IN" sz="2000" dirty="0">
              <a:effectLst/>
              <a:ea typeface="Calibri" panose="020F0502020204030204" pitchFamily="34" charset="0"/>
              <a:cs typeface="Shruti" panose="020B0502040204020203" pitchFamily="34" charset="0"/>
            </a:endParaRPr>
          </a:p>
          <a:p>
            <a:pPr>
              <a:lnSpc>
                <a:spcPct val="150000"/>
              </a:lnSpc>
            </a:pPr>
            <a:endParaRPr lang="en-US" altLang="en-US" sz="2000" b="1" i="1" dirty="0">
              <a:solidFill>
                <a:schemeClr val="tx1">
                  <a:lumMod val="75000"/>
                  <a:lumOff val="25000"/>
                </a:schemeClr>
              </a:solidFill>
            </a:endParaRPr>
          </a:p>
        </p:txBody>
      </p:sp>
    </p:spTree>
    <p:custDataLst>
      <p:tags r:id="rId1"/>
    </p:custDataLst>
    <p:extLst>
      <p:ext uri="{BB962C8B-B14F-4D97-AF65-F5344CB8AC3E}">
        <p14:creationId xmlns:p14="http://schemas.microsoft.com/office/powerpoint/2010/main" xmlns="" val="1987651611"/>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iterate type="lt">
                                    <p:tmPct val="5000"/>
                                  </p:iterate>
                                  <p:childTnLst>
                                    <p:set>
                                      <p:cBhvr>
                                        <p:cTn id="6" dur="1" fill="hold">
                                          <p:stCondLst>
                                            <p:cond delay="0"/>
                                          </p:stCondLst>
                                        </p:cTn>
                                        <p:tgtEl>
                                          <p:spTgt spid="70"/>
                                        </p:tgtEl>
                                        <p:attrNameLst>
                                          <p:attrName>style.visibility</p:attrName>
                                        </p:attrNameLst>
                                      </p:cBhvr>
                                      <p:to>
                                        <p:strVal val="visible"/>
                                      </p:to>
                                    </p:set>
                                    <p:anim calcmode="lin" valueType="num">
                                      <p:cBhvr additive="base">
                                        <p:cTn id="7" dur="1500" fill="hold"/>
                                        <p:tgtEl>
                                          <p:spTgt spid="70"/>
                                        </p:tgtEl>
                                        <p:attrNameLst>
                                          <p:attrName>ppt_x</p:attrName>
                                        </p:attrNameLst>
                                      </p:cBhvr>
                                      <p:tavLst>
                                        <p:tav tm="0">
                                          <p:val>
                                            <p:strVal val="#ppt_x"/>
                                          </p:val>
                                        </p:tav>
                                        <p:tav tm="100000">
                                          <p:val>
                                            <p:strVal val="#ppt_x"/>
                                          </p:val>
                                        </p:tav>
                                      </p:tavLst>
                                    </p:anim>
                                    <p:anim calcmode="lin" valueType="num">
                                      <p:cBhvr additive="base">
                                        <p:cTn id="8" dur="1500" fill="hold"/>
                                        <p:tgtEl>
                                          <p:spTgt spid="7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xmlns="" id="{164E76B4-1B7D-D607-61FF-259ED67FC7CF}"/>
              </a:ext>
            </a:extLst>
          </p:cNvPr>
          <p:cNvSpPr txBox="1"/>
          <p:nvPr/>
        </p:nvSpPr>
        <p:spPr>
          <a:xfrm>
            <a:off x="3448050" y="2844165"/>
            <a:ext cx="5791200" cy="1026387"/>
          </a:xfrm>
          <a:prstGeom prst="rect">
            <a:avLst/>
          </a:prstGeom>
          <a:noFill/>
        </p:spPr>
        <p:txBody>
          <a:bodyPr wrap="none" rtlCol="0">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8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Source Han Sans SC"/>
                <a:ea typeface="字魂143号-正酷超级黑" pitchFamily="2" charset="-122"/>
              </a:rPr>
              <a:t>THANK YOU!</a:t>
            </a:r>
            <a:endParaRPr lang="zh-CN" altLang="en-US" sz="8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字魂143号-正酷超级黑" pitchFamily="2" charset="-122"/>
              <a:ea typeface="字魂143号-正酷超级黑" pitchFamily="2" charset="-122"/>
            </a:endParaRPr>
          </a:p>
        </p:txBody>
      </p:sp>
      <p:sp>
        <p:nvSpPr>
          <p:cNvPr id="7" name="矩形: 圆角 23">
            <a:extLst>
              <a:ext uri="{FF2B5EF4-FFF2-40B4-BE49-F238E27FC236}">
                <a16:creationId xmlns:a16="http://schemas.microsoft.com/office/drawing/2014/main" xmlns="" id="{9F4560D5-6EA6-1EE4-8279-6F85F2BD0B06}"/>
              </a:ext>
            </a:extLst>
          </p:cNvPr>
          <p:cNvSpPr/>
          <p:nvPr/>
        </p:nvSpPr>
        <p:spPr>
          <a:xfrm>
            <a:off x="2952750" y="2457450"/>
            <a:ext cx="6696075" cy="2114550"/>
          </a:xfrm>
          <a:prstGeom prst="roundRect">
            <a:avLst>
              <a:gd name="adj" fmla="val 0"/>
            </a:avLst>
          </a:prstGeom>
          <a:noFill/>
          <a:ln>
            <a:solidFill>
              <a:schemeClr val="bg1"/>
            </a:solidFill>
            <a:prstDash val="sysDot"/>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endParaRPr lang="en-US" altLang="en-US" sz="2000" dirty="0">
              <a:solidFill>
                <a:schemeClr val="bg1"/>
              </a:solidFill>
              <a:latin typeface="Source Han Sans SC"/>
              <a:cs typeface="+mn-ea"/>
              <a:sym typeface="+mn-lt"/>
            </a:endParaRPr>
          </a:p>
        </p:txBody>
      </p:sp>
    </p:spTree>
    <p:extLst>
      <p:ext uri="{BB962C8B-B14F-4D97-AF65-F5344CB8AC3E}">
        <p14:creationId xmlns:p14="http://schemas.microsoft.com/office/powerpoint/2010/main" xmlns="" val="3858032353"/>
      </p:ext>
    </p:extLst>
  </p:cSld>
  <p:clrMapOvr>
    <a:masterClrMapping/>
  </p:clrMapOvr>
  <mc:AlternateContent xmlns:mc="http://schemas.openxmlformats.org/markup-compatibility/2006">
    <mc:Choice xmlns:p14="http://schemas.microsoft.com/office/powerpoint/2010/main" xmlns=""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AS_OS" val="Unix 2.6 unknown"/>
  <p:tag name="AS_RELEASE_DATE" val="2021.11.30"/>
  <p:tag name="AS_TITLE" val="Aspose.Slides for Java"/>
  <p:tag name="AS_VERSION" val="21.11"/>
</p:tagLst>
</file>

<file path=ppt/tags/tag2.xml><?xml version="1.0" encoding="utf-8"?>
<p:tagLst xmlns:a="http://schemas.openxmlformats.org/drawingml/2006/main" xmlns:r="http://schemas.openxmlformats.org/officeDocument/2006/relationships" xmlns:p="http://schemas.openxmlformats.org/presentationml/2006/main">
  <p:tag name="ISLIDE.DIAGRAM" val="#419243;"/>
</p:tagLst>
</file>

<file path=ppt/tags/tag3.xml><?xml version="1.0" encoding="utf-8"?>
<p:tagLst xmlns:a="http://schemas.openxmlformats.org/drawingml/2006/main" xmlns:r="http://schemas.openxmlformats.org/officeDocument/2006/relationships" xmlns:p="http://schemas.openxmlformats.org/presentationml/2006/main">
  <p:tag name="ISLIDE.DIAGRAM" val="#419243;"/>
</p:tagLst>
</file>

<file path=ppt/tags/tag4.xml><?xml version="1.0" encoding="utf-8"?>
<p:tagLst xmlns:a="http://schemas.openxmlformats.org/drawingml/2006/main" xmlns:r="http://schemas.openxmlformats.org/officeDocument/2006/relationships" xmlns:p="http://schemas.openxmlformats.org/presentationml/2006/main">
  <p:tag name="ISLIDE.DIAGRAM" val="#607524;"/>
  <p:tag name="ISLIDE.ICON" val="#28514;"/>
</p:tagLst>
</file>

<file path=ppt/tags/tag5.xml><?xml version="1.0" encoding="utf-8"?>
<p:tagLst xmlns:a="http://schemas.openxmlformats.org/drawingml/2006/main" xmlns:r="http://schemas.openxmlformats.org/officeDocument/2006/relationships" xmlns:p="http://schemas.openxmlformats.org/presentationml/2006/main">
  <p:tag name="ISLIDE.DIAGRAM" val="#2342;"/>
</p:tagLst>
</file>

<file path=ppt/tags/tag6.xml><?xml version="1.0" encoding="utf-8"?>
<p:tagLst xmlns:a="http://schemas.openxmlformats.org/drawingml/2006/main" xmlns:r="http://schemas.openxmlformats.org/officeDocument/2006/relationships" xmlns:p="http://schemas.openxmlformats.org/presentationml/2006/main">
  <p:tag name="ISLIDE.DIAGRAM" val="#419243;"/>
</p:tagLst>
</file>

<file path=ppt/tags/tag7.xml><?xml version="1.0" encoding="utf-8"?>
<p:tagLst xmlns:a="http://schemas.openxmlformats.org/drawingml/2006/main" xmlns:r="http://schemas.openxmlformats.org/officeDocument/2006/relationships" xmlns:p="http://schemas.openxmlformats.org/presentationml/2006/main">
  <p:tag name="ISLIDE.DIAGRAM" val="#607524;"/>
  <p:tag name="ISLIDE.ICON" val="#28514;"/>
</p:tagLst>
</file>

<file path=ppt/tags/tag8.xml><?xml version="1.0" encoding="utf-8"?>
<p:tagLst xmlns:a="http://schemas.openxmlformats.org/drawingml/2006/main" xmlns:r="http://schemas.openxmlformats.org/officeDocument/2006/relationships" xmlns:p="http://schemas.openxmlformats.org/presentationml/2006/main">
  <p:tag name="ISLIDE.DIAGRAM" val="#607524;"/>
  <p:tag name="ISLIDE.ICON" val="#28514;"/>
</p:tagLst>
</file>

<file path=ppt/tags/tag9.xml><?xml version="1.0" encoding="utf-8"?>
<p:tagLst xmlns:a="http://schemas.openxmlformats.org/drawingml/2006/main" xmlns:r="http://schemas.openxmlformats.org/officeDocument/2006/relationships" xmlns:p="http://schemas.openxmlformats.org/presentationml/2006/main">
  <p:tag name="ISLIDE.DIAGRAM" val="#419243;"/>
</p:tagLst>
</file>

<file path=ppt/tags/tag10.xml><?xml version="1.0" encoding="utf-8"?>
<p:tagLst xmlns:a="http://schemas.openxmlformats.org/drawingml/2006/main" xmlns:r="http://schemas.openxmlformats.org/officeDocument/2006/relationships" xmlns:p="http://schemas.openxmlformats.org/presentationml/2006/main">
  <p:tag name="ISLIDE.DIAGRAM" val="#607524;"/>
  <p:tag name="ISLIDE.ICON" val="#28514;"/>
</p:tagLst>
</file>

<file path=ppt/tags/tag11.xml><?xml version="1.0" encoding="utf-8"?>
<p:tagLst xmlns:a="http://schemas.openxmlformats.org/drawingml/2006/main" xmlns:r="http://schemas.openxmlformats.org/officeDocument/2006/relationships" xmlns:p="http://schemas.openxmlformats.org/presentationml/2006/main">
  <p:tag name="ISLIDE.DIAGRAM" val="#607524;"/>
  <p:tag name="ISLIDE.ICON" val="#28514;"/>
</p:tagLst>
</file>

<file path=ppt/tags/tag12.xml><?xml version="1.0" encoding="utf-8"?>
<p:tagLst xmlns:a="http://schemas.openxmlformats.org/drawingml/2006/main" xmlns:r="http://schemas.openxmlformats.org/officeDocument/2006/relationships" xmlns:p="http://schemas.openxmlformats.org/presentationml/2006/main">
  <p:tag name="ISLIDE.DIAGRAM" val="#607524;"/>
  <p:tag name="ISLIDE.ICON" val="#28514;"/>
</p:tagLst>
</file>

<file path=ppt/tags/tag13.xml><?xml version="1.0" encoding="utf-8"?>
<p:tagLst xmlns:a="http://schemas.openxmlformats.org/drawingml/2006/main" xmlns:r="http://schemas.openxmlformats.org/officeDocument/2006/relationships" xmlns:p="http://schemas.openxmlformats.org/presentationml/2006/main">
  <p:tag name="ISLIDE.DIAGRAM" val="#607524;"/>
  <p:tag name="ISLIDE.ICON" val="#28514;"/>
</p:tagLst>
</file>

<file path=ppt/tags/tag14.xml><?xml version="1.0" encoding="utf-8"?>
<p:tagLst xmlns:a="http://schemas.openxmlformats.org/drawingml/2006/main" xmlns:r="http://schemas.openxmlformats.org/officeDocument/2006/relationships" xmlns:p="http://schemas.openxmlformats.org/presentationml/2006/main">
  <p:tag name="ISLIDE.DIAGRAM" val="#607524;"/>
  <p:tag name="ISLIDE.ICON" val="#28514;"/>
</p:tagLst>
</file>

<file path=ppt/tags/tag15.xml><?xml version="1.0" encoding="utf-8"?>
<p:tagLst xmlns:a="http://schemas.openxmlformats.org/drawingml/2006/main" xmlns:r="http://schemas.openxmlformats.org/officeDocument/2006/relationships" xmlns:p="http://schemas.openxmlformats.org/presentationml/2006/main">
  <p:tag name="ISLIDE.DIAGRAM" val="#607524;"/>
  <p:tag name="ISLIDE.ICON" val="#28514;"/>
</p:tagLst>
</file>

<file path=ppt/tags/tag16.xml><?xml version="1.0" encoding="utf-8"?>
<p:tagLst xmlns:a="http://schemas.openxmlformats.org/drawingml/2006/main" xmlns:r="http://schemas.openxmlformats.org/officeDocument/2006/relationships" xmlns:p="http://schemas.openxmlformats.org/presentationml/2006/main">
  <p:tag name="ISLIDE.DIAGRAM" val="#607524;"/>
  <p:tag name="ISLIDE.ICON" val="#28514;"/>
</p:tagLst>
</file>

<file path=ppt/tags/tag17.xml><?xml version="1.0" encoding="utf-8"?>
<p:tagLst xmlns:a="http://schemas.openxmlformats.org/drawingml/2006/main" xmlns:r="http://schemas.openxmlformats.org/officeDocument/2006/relationships" xmlns:p="http://schemas.openxmlformats.org/presentationml/2006/main">
  <p:tag name="ISLIDE.DIAGRAM" val="#607524;"/>
  <p:tag name="ISLIDE.ICON" val="#28514;"/>
</p:tagLst>
</file>

<file path=ppt/tags/tag18.xml><?xml version="1.0" encoding="utf-8"?>
<p:tagLst xmlns:a="http://schemas.openxmlformats.org/drawingml/2006/main" xmlns:r="http://schemas.openxmlformats.org/officeDocument/2006/relationships" xmlns:p="http://schemas.openxmlformats.org/presentationml/2006/main">
  <p:tag name="ISLIDE.DIAGRAM" val="#419243;"/>
</p:tagLst>
</file>

<file path=ppt/tags/tag19.xml><?xml version="1.0" encoding="utf-8"?>
<p:tagLst xmlns:a="http://schemas.openxmlformats.org/drawingml/2006/main" xmlns:r="http://schemas.openxmlformats.org/officeDocument/2006/relationships" xmlns:p="http://schemas.openxmlformats.org/presentationml/2006/main">
  <p:tag name="ISLIDE.DIAGRAM" val="#419243;"/>
</p:tagLst>
</file>

<file path=ppt/tags/tag20.xml><?xml version="1.0" encoding="utf-8"?>
<p:tagLst xmlns:a="http://schemas.openxmlformats.org/drawingml/2006/main" xmlns:r="http://schemas.openxmlformats.org/officeDocument/2006/relationships" xmlns:p="http://schemas.openxmlformats.org/presentationml/2006/main">
  <p:tag name="ISLIDE.DIAGRAM" val="#652330;"/>
</p:tagLst>
</file>

<file path=ppt/tags/tag21.xml><?xml version="1.0" encoding="utf-8"?>
<p:tagLst xmlns:a="http://schemas.openxmlformats.org/drawingml/2006/main" xmlns:r="http://schemas.openxmlformats.org/officeDocument/2006/relationships" xmlns:p="http://schemas.openxmlformats.org/presentationml/2006/main">
  <p:tag name="ISLIDE.DIAGRAM" val="#516211;"/>
</p:tagLst>
</file>

<file path=ppt/tags/tag22.xml><?xml version="1.0" encoding="utf-8"?>
<p:tagLst xmlns:a="http://schemas.openxmlformats.org/drawingml/2006/main" xmlns:r="http://schemas.openxmlformats.org/officeDocument/2006/relationships" xmlns:p="http://schemas.openxmlformats.org/presentationml/2006/main">
  <p:tag name="ISLIDE.DIAGRAM" val="#419243;"/>
</p:tagLst>
</file>

<file path=ppt/tags/tag23.xml><?xml version="1.0" encoding="utf-8"?>
<p:tagLst xmlns:a="http://schemas.openxmlformats.org/drawingml/2006/main" xmlns:r="http://schemas.openxmlformats.org/officeDocument/2006/relationships" xmlns:p="http://schemas.openxmlformats.org/presentationml/2006/main">
  <p:tag name="ISLIDE.DIAGRAM" val="#607524;"/>
  <p:tag name="ISLIDE.ICON" val="#28514;"/>
</p:tagLst>
</file>

<file path=ppt/tags/tag24.xml><?xml version="1.0" encoding="utf-8"?>
<p:tagLst xmlns:a="http://schemas.openxmlformats.org/drawingml/2006/main" xmlns:r="http://schemas.openxmlformats.org/officeDocument/2006/relationships" xmlns:p="http://schemas.openxmlformats.org/presentationml/2006/main">
  <p:tag name="ISLIDE.DIAGRAM" val="#419243;"/>
</p:tagLst>
</file>

<file path=ppt/tags/tag25.xml><?xml version="1.0" encoding="utf-8"?>
<p:tagLst xmlns:a="http://schemas.openxmlformats.org/drawingml/2006/main" xmlns:r="http://schemas.openxmlformats.org/officeDocument/2006/relationships" xmlns:p="http://schemas.openxmlformats.org/presentationml/2006/main">
  <p:tag name="ISLIDE.DIAGRAM" val="#607524;"/>
  <p:tag name="ISLIDE.ICON" val="#285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1354</TotalTime>
  <Words>1484</Words>
  <Application>Microsoft Office PowerPoint</Application>
  <PresentationFormat>Custom</PresentationFormat>
  <Paragraphs>480</Paragraphs>
  <Slides>50</Slides>
  <Notes>1</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肖 燚</dc:creator>
  <cp:lastModifiedBy>chirag_jani</cp:lastModifiedBy>
  <cp:revision>189</cp:revision>
  <dcterms:created xsi:type="dcterms:W3CDTF">2022-05-12T02:43:34Z</dcterms:created>
  <dcterms:modified xsi:type="dcterms:W3CDTF">2025-04-12T02:38:52Z</dcterms:modified>
</cp:coreProperties>
</file>